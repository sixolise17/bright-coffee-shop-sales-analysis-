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Nunito"/>
      <p:regular r:id="rId17"/>
      <p:bold r:id="rId18"/>
      <p:italic r:id="rId19"/>
      <p:boldItalic r:id="rId20"/>
    </p:embeddedFont>
    <p:embeddedFont>
      <p:font typeface="Playfair Display"/>
      <p:bold r:id="rId21"/>
      <p:boldItalic r:id="rId22"/>
    </p:embeddedFont>
    <p:embeddedFont>
      <p:font typeface="Lato"/>
      <p:bold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boldItalic.fntdata"/><Relationship Id="rId11" Type="http://schemas.openxmlformats.org/officeDocument/2006/relationships/slide" Target="slides/slide6.xml"/><Relationship Id="rId22" Type="http://schemas.openxmlformats.org/officeDocument/2006/relationships/font" Target="fonts/PlayfairDisplay-boldItalic.fntdata"/><Relationship Id="rId10" Type="http://schemas.openxmlformats.org/officeDocument/2006/relationships/slide" Target="slides/slide5.xml"/><Relationship Id="rId21" Type="http://schemas.openxmlformats.org/officeDocument/2006/relationships/font" Target="fonts/PlayfairDisplay-bold.fntdata"/><Relationship Id="rId13" Type="http://schemas.openxmlformats.org/officeDocument/2006/relationships/slide" Target="slides/slide8.xml"/><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italic.fntdata"/><Relationship Id="rId6" Type="http://schemas.openxmlformats.org/officeDocument/2006/relationships/slide" Target="slides/slide1.xml"/><Relationship Id="rId18" Type="http://schemas.openxmlformats.org/officeDocument/2006/relationships/font" Target="fonts/Nuni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17474d670a11a_0_1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h17474d670a11a_0_1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17474d670a11a_2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h17474d670a11a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h17474d670a11a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h17474d670a11a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h17474d670a11a_2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h17474d670a11a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h17474d670a11a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h17474d670a11a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h17474d670a11a_1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h17474d670a11a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h17474d670a11a_1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h17474d670a11a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h17474d670a11a_1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h17474d670a11a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h17474d670a11a_0_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h17474d670a11a_0_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h17474d670a11a_0_1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h17474d670a11a_0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h17474d670a11a_0_1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h17474d670a11a_0_1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17474d670a11a_14_0)">
  <p:cSld name="Generated (h17474d670a11a_14_0)">
    <p:spTree>
      <p:nvGrpSpPr>
        <p:cNvPr id="124" name="Shape 12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mc:Choice Requires="p14">
      <p:transition spd="med">
        <p14:gallery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0"/>
        </a:solidFill>
      </p:bgPr>
    </p:bg>
    <p:spTree>
      <p:nvGrpSpPr>
        <p:cNvPr id="128" name="Shape 128"/>
        <p:cNvGrpSpPr/>
        <p:nvPr/>
      </p:nvGrpSpPr>
      <p:grpSpPr>
        <a:xfrm>
          <a:off x="0" y="0"/>
          <a:ext cx="0" cy="0"/>
          <a:chOff x="0" y="0"/>
          <a:chExt cx="0" cy="0"/>
        </a:xfrm>
      </p:grpSpPr>
      <p:grpSp>
        <p:nvGrpSpPr>
          <p:cNvPr id="129" name="Google Shape;129;p14"/>
          <p:cNvGrpSpPr/>
          <p:nvPr/>
        </p:nvGrpSpPr>
        <p:grpSpPr>
          <a:xfrm>
            <a:off x="7905750" y="428625"/>
            <a:ext cx="666900" cy="666900"/>
            <a:chOff x="0" y="0"/>
            <a:chExt cx="666900" cy="666900"/>
          </a:xfrm>
        </p:grpSpPr>
        <p:sp>
          <p:nvSpPr>
            <p:cNvPr id="130" name="Google Shape;130;p14"/>
            <p:cNvSpPr/>
            <p:nvPr/>
          </p:nvSpPr>
          <p:spPr>
            <a:xfrm>
              <a:off x="0" y="0"/>
              <a:ext cx="666900" cy="666900"/>
            </a:xfrm>
            <a:prstGeom prst="roundRect">
              <a:avLst>
                <a:gd fmla="val 50000" name="adj"/>
              </a:avLst>
            </a:pr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1" name="Google Shape;131;p14"/>
            <p:cNvGrpSpPr/>
            <p:nvPr/>
          </p:nvGrpSpPr>
          <p:grpSpPr>
            <a:xfrm>
              <a:off x="123825" y="130493"/>
              <a:ext cx="514485" cy="274388"/>
              <a:chOff x="0" y="-66675"/>
              <a:chExt cx="571650" cy="304875"/>
            </a:xfrm>
          </p:grpSpPr>
          <p:sp>
            <p:nvSpPr>
              <p:cNvPr id="132" name="Google Shape;132;p14"/>
              <p:cNvSpPr/>
              <p:nvPr/>
            </p:nvSpPr>
            <p:spPr>
              <a:xfrm>
                <a:off x="0" y="0"/>
                <a:ext cx="476400" cy="238200"/>
              </a:xfrm>
              <a:custGeom>
                <a:rect b="b" l="l" r="r" t="t"/>
                <a:pathLst>
                  <a:path extrusionOk="0" h="120000" w="120000">
                    <a:moveTo>
                      <a:pt x="0" y="0"/>
                    </a:moveTo>
                    <a:cubicBezTo>
                      <a:pt x="0" y="72000"/>
                      <a:pt x="24000" y="120000"/>
                      <a:pt x="60000" y="120000"/>
                    </a:cubicBezTo>
                    <a:cubicBezTo>
                      <a:pt x="96000" y="120000"/>
                      <a:pt x="120000" y="72000"/>
                      <a:pt x="120000" y="0"/>
                    </a:cubicBezTo>
                    <a:close/>
                  </a:path>
                </a:pathLst>
              </a:custGeom>
              <a:solidFill>
                <a:srgbClr val="F9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4"/>
              <p:cNvSpPr/>
              <p:nvPr/>
            </p:nvSpPr>
            <p:spPr>
              <a:xfrm>
                <a:off x="476250" y="47625"/>
                <a:ext cx="95400" cy="162000"/>
              </a:xfrm>
              <a:custGeom>
                <a:rect b="b" l="l" r="r" t="t"/>
                <a:pathLst>
                  <a:path extrusionOk="0" h="120000" w="120000">
                    <a:moveTo>
                      <a:pt x="0" y="0"/>
                    </a:moveTo>
                    <a:cubicBezTo>
                      <a:pt x="96000" y="0"/>
                      <a:pt x="120000" y="35294"/>
                      <a:pt x="120000" y="70588"/>
                    </a:cubicBezTo>
                    <a:cubicBezTo>
                      <a:pt x="120000" y="105882"/>
                      <a:pt x="60000" y="120000"/>
                      <a:pt x="0" y="120000"/>
                    </a:cubicBezTo>
                  </a:path>
                </a:pathLst>
              </a:custGeom>
              <a:solidFill>
                <a:srgbClr val="000000">
                  <a:alpha val="0"/>
                </a:srgbClr>
              </a:solidFill>
              <a:ln cap="rnd" cmpd="sng" w="38100">
                <a:solidFill>
                  <a:srgbClr val="F9F6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4"/>
              <p:cNvSpPr/>
              <p:nvPr/>
            </p:nvSpPr>
            <p:spPr>
              <a:xfrm>
                <a:off x="200025" y="38100"/>
                <a:ext cx="76200" cy="76200"/>
              </a:xfrm>
              <a:prstGeom prst="ellipse">
                <a:avLst/>
              </a:pr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4"/>
              <p:cNvSpPr/>
              <p:nvPr/>
            </p:nvSpPr>
            <p:spPr>
              <a:xfrm>
                <a:off x="142875" y="-66675"/>
                <a:ext cx="190500" cy="66600"/>
              </a:xfrm>
              <a:custGeom>
                <a:rect b="b" l="l" r="r" t="t"/>
                <a:pathLst>
                  <a:path extrusionOk="0" h="120000" w="120000">
                    <a:moveTo>
                      <a:pt x="0" y="120000"/>
                    </a:moveTo>
                    <a:cubicBezTo>
                      <a:pt x="19800" y="0"/>
                      <a:pt x="40200" y="0"/>
                      <a:pt x="60000" y="120000"/>
                    </a:cubicBezTo>
                    <a:lnTo>
                      <a:pt x="120000" y="120000"/>
                    </a:lnTo>
                  </a:path>
                </a:pathLst>
              </a:custGeom>
              <a:solidFill>
                <a:srgbClr val="000000">
                  <a:alpha val="0"/>
                </a:srgbClr>
              </a:solidFill>
              <a:ln cap="rnd" cmpd="sng" w="28575">
                <a:solidFill>
                  <a:srgbClr val="D4A37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136" name="Google Shape;136;p14"/>
          <p:cNvGrpSpPr/>
          <p:nvPr/>
        </p:nvGrpSpPr>
        <p:grpSpPr>
          <a:xfrm>
            <a:off x="571500" y="428625"/>
            <a:ext cx="7048500" cy="2809800"/>
            <a:chOff x="0" y="0"/>
            <a:chExt cx="7048500" cy="2809800"/>
          </a:xfrm>
        </p:grpSpPr>
        <p:sp>
          <p:nvSpPr>
            <p:cNvPr id="137" name="Google Shape;137;p14"/>
            <p:cNvSpPr/>
            <p:nvPr/>
          </p:nvSpPr>
          <p:spPr>
            <a:xfrm>
              <a:off x="0" y="0"/>
              <a:ext cx="7048500" cy="2809800"/>
            </a:xfrm>
            <a:prstGeom prst="roundRect">
              <a:avLst>
                <a:gd fmla="val 5423" name="adj"/>
              </a:avLst>
            </a:prstGeom>
            <a:solidFill>
              <a:srgbClr val="FFFFFF"/>
            </a:solidFill>
            <a:ln cap="flat" cmpd="sng" w="14300">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4"/>
            <p:cNvSpPr/>
            <p:nvPr/>
          </p:nvSpPr>
          <p:spPr>
            <a:xfrm>
              <a:off x="0" y="0"/>
              <a:ext cx="76200" cy="2809800"/>
            </a:xfrm>
            <a:prstGeom prst="roundRect">
              <a:avLst>
                <a:gd fmla="val 50000" name="adj"/>
              </a:avLst>
            </a:prstGeom>
            <a:solidFill>
              <a:srgbClr val="C05A3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39" name="Google Shape;139;p14"/>
          <p:cNvSpPr txBox="1"/>
          <p:nvPr/>
        </p:nvSpPr>
        <p:spPr>
          <a:xfrm>
            <a:off x="904875" y="619125"/>
            <a:ext cx="6477000" cy="2428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FFFFFF"/>
                </a:solidFill>
                <a:latin typeface="Lato"/>
                <a:ea typeface="Lato"/>
                <a:cs typeface="Lato"/>
                <a:sym typeface="Lato"/>
              </a:rPr>
              <a:t>EXECUTIVE PRESENTATION</a:t>
            </a:r>
            <a:endParaRPr>
              <a:latin typeface="Lato"/>
              <a:ea typeface="Lato"/>
              <a:cs typeface="Lato"/>
              <a:sym typeface="Lato"/>
            </a:endParaRPr>
          </a:p>
          <a:p>
            <a:pPr indent="0" lvl="0" marL="0" rtl="0" algn="l">
              <a:spcBef>
                <a:spcPts val="900"/>
              </a:spcBef>
              <a:spcAft>
                <a:spcPts val="0"/>
              </a:spcAft>
              <a:buNone/>
            </a:pPr>
            <a:r>
              <a:rPr b="1" lang="en" sz="4600">
                <a:solidFill>
                  <a:srgbClr val="2C1E16"/>
                </a:solidFill>
                <a:latin typeface="Playfair Display"/>
                <a:ea typeface="Playfair Display"/>
                <a:cs typeface="Playfair Display"/>
                <a:sym typeface="Playfair Display"/>
              </a:rPr>
              <a:t>Bright Coffee Shop</a:t>
            </a:r>
            <a:endParaRPr b="1" sz="4600">
              <a:solidFill>
                <a:srgbClr val="2C1E16"/>
              </a:solidFill>
              <a:latin typeface="Playfair Display"/>
              <a:ea typeface="Playfair Display"/>
              <a:cs typeface="Playfair Display"/>
              <a:sym typeface="Playfair Display"/>
            </a:endParaRPr>
          </a:p>
          <a:p>
            <a:pPr indent="0" lvl="0" marL="0" rtl="0" algn="l">
              <a:spcBef>
                <a:spcPts val="450"/>
              </a:spcBef>
              <a:spcAft>
                <a:spcPts val="0"/>
              </a:spcAft>
              <a:buNone/>
            </a:pPr>
            <a:r>
              <a:rPr b="0" lang="en" sz="2200">
                <a:solidFill>
                  <a:srgbClr val="C05A3E"/>
                </a:solidFill>
                <a:latin typeface="Playfair Display"/>
                <a:ea typeface="Playfair Display"/>
                <a:cs typeface="Playfair Display"/>
                <a:sym typeface="Playfair Display"/>
              </a:rPr>
              <a:t>Executive Performance Overview</a:t>
            </a:r>
            <a:endParaRPr b="0" sz="2200">
              <a:solidFill>
                <a:srgbClr val="C05A3E"/>
              </a:solidFill>
              <a:latin typeface="Playfair Display"/>
              <a:ea typeface="Playfair Display"/>
              <a:cs typeface="Playfair Display"/>
              <a:sym typeface="Playfair Display"/>
            </a:endParaRPr>
          </a:p>
          <a:p>
            <a:pPr indent="0" lvl="0" marL="0" rtl="0" algn="l">
              <a:spcBef>
                <a:spcPts val="1200"/>
              </a:spcBef>
              <a:spcAft>
                <a:spcPts val="0"/>
              </a:spcAft>
              <a:buNone/>
            </a:pPr>
            <a:r>
              <a:rPr b="0" lang="en" sz="1100">
                <a:solidFill>
                  <a:srgbClr val="5A4634"/>
                </a:solidFill>
                <a:latin typeface="Lato"/>
                <a:ea typeface="Lato"/>
                <a:cs typeface="Lato"/>
                <a:sym typeface="Lato"/>
              </a:rPr>
              <a:t>A comprehensive financial and operational analysis covering store performance, product breakdown, and strategic growth trajectories from January through June.</a:t>
            </a:r>
            <a:endParaRPr b="0" sz="1100">
              <a:solidFill>
                <a:srgbClr val="5A4634"/>
              </a:solidFill>
              <a:latin typeface="Lato"/>
              <a:ea typeface="Lato"/>
              <a:cs typeface="Lato"/>
              <a:sym typeface="Lato"/>
            </a:endParaRPr>
          </a:p>
        </p:txBody>
      </p:sp>
      <p:grpSp>
        <p:nvGrpSpPr>
          <p:cNvPr id="140" name="Google Shape;140;p14"/>
          <p:cNvGrpSpPr/>
          <p:nvPr/>
        </p:nvGrpSpPr>
        <p:grpSpPr>
          <a:xfrm>
            <a:off x="571500" y="3476625"/>
            <a:ext cx="2514600" cy="1047900"/>
            <a:chOff x="0" y="0"/>
            <a:chExt cx="2514600" cy="1047900"/>
          </a:xfrm>
        </p:grpSpPr>
        <p:sp>
          <p:nvSpPr>
            <p:cNvPr id="141" name="Google Shape;141;p14"/>
            <p:cNvSpPr/>
            <p:nvPr/>
          </p:nvSpPr>
          <p:spPr>
            <a:xfrm>
              <a:off x="0" y="0"/>
              <a:ext cx="2514600" cy="1047900"/>
            </a:xfrm>
            <a:prstGeom prst="roundRect">
              <a:avLst>
                <a:gd fmla="val 10909" name="adj"/>
              </a:avLst>
            </a:pr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4"/>
            <p:cNvSpPr txBox="1"/>
            <p:nvPr/>
          </p:nvSpPr>
          <p:spPr>
            <a:xfrm>
              <a:off x="190500" y="142875"/>
              <a:ext cx="21336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D4A373"/>
                  </a:solidFill>
                  <a:latin typeface="Lato"/>
                  <a:ea typeface="Lato"/>
                  <a:cs typeface="Lato"/>
                  <a:sym typeface="Lato"/>
                </a:rPr>
                <a:t>Prepared For</a:t>
              </a:r>
              <a:endParaRPr b="1" sz="900">
                <a:solidFill>
                  <a:srgbClr val="D4A373"/>
                </a:solidFill>
                <a:latin typeface="Lato"/>
                <a:ea typeface="Lato"/>
                <a:cs typeface="Lato"/>
                <a:sym typeface="Lato"/>
              </a:endParaRPr>
            </a:p>
            <a:p>
              <a:pPr indent="0" lvl="0" marL="0" rtl="0" algn="l">
                <a:spcBef>
                  <a:spcPts val="300"/>
                </a:spcBef>
                <a:spcAft>
                  <a:spcPts val="0"/>
                </a:spcAft>
                <a:buNone/>
              </a:pPr>
              <a:r>
                <a:rPr b="1" lang="en" sz="1300">
                  <a:solidFill>
                    <a:srgbClr val="F9F6F0"/>
                  </a:solidFill>
                  <a:latin typeface="Playfair Display"/>
                  <a:ea typeface="Playfair Display"/>
                  <a:cs typeface="Playfair Display"/>
                  <a:sym typeface="Playfair Display"/>
                </a:rPr>
                <a:t>Executive Leadership Team</a:t>
              </a:r>
              <a:endParaRPr b="1" sz="1300">
                <a:solidFill>
                  <a:srgbClr val="F9F6F0"/>
                </a:solidFill>
                <a:latin typeface="Playfair Display"/>
                <a:ea typeface="Playfair Display"/>
                <a:cs typeface="Playfair Display"/>
                <a:sym typeface="Playfair Display"/>
              </a:endParaRPr>
            </a:p>
          </p:txBody>
        </p:sp>
      </p:grpSp>
      <p:grpSp>
        <p:nvGrpSpPr>
          <p:cNvPr id="143" name="Google Shape;143;p14"/>
          <p:cNvGrpSpPr/>
          <p:nvPr/>
        </p:nvGrpSpPr>
        <p:grpSpPr>
          <a:xfrm>
            <a:off x="3314700" y="3476625"/>
            <a:ext cx="2514600" cy="1047900"/>
            <a:chOff x="0" y="0"/>
            <a:chExt cx="2514600" cy="1047900"/>
          </a:xfrm>
        </p:grpSpPr>
        <p:sp>
          <p:nvSpPr>
            <p:cNvPr id="144" name="Google Shape;144;p14"/>
            <p:cNvSpPr/>
            <p:nvPr/>
          </p:nvSpPr>
          <p:spPr>
            <a:xfrm>
              <a:off x="0" y="0"/>
              <a:ext cx="2514600" cy="1047900"/>
            </a:xfrm>
            <a:prstGeom prst="roundRect">
              <a:avLst>
                <a:gd fmla="val 10909" name="adj"/>
              </a:avLst>
            </a:prstGeom>
            <a:solidFill>
              <a:srgbClr val="FFFFFF"/>
            </a:solidFill>
            <a:ln cap="flat" cmpd="sng" w="14300">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4"/>
            <p:cNvSpPr/>
            <p:nvPr/>
          </p:nvSpPr>
          <p:spPr>
            <a:xfrm>
              <a:off x="0" y="0"/>
              <a:ext cx="2514600" cy="47700"/>
            </a:xfrm>
            <a:prstGeom prst="roundRect">
              <a:avLst>
                <a:gd fmla="val 40000" name="adj"/>
              </a:avLst>
            </a:prstGeom>
            <a:solidFill>
              <a:srgbClr val="D4A37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4"/>
            <p:cNvSpPr txBox="1"/>
            <p:nvPr/>
          </p:nvSpPr>
          <p:spPr>
            <a:xfrm>
              <a:off x="190500" y="142875"/>
              <a:ext cx="21336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C05A3E"/>
                  </a:solidFill>
                  <a:latin typeface="Lato"/>
                  <a:ea typeface="Lato"/>
                  <a:cs typeface="Lato"/>
                  <a:sym typeface="Lato"/>
                </a:rPr>
                <a:t>Reporting Period</a:t>
              </a:r>
              <a:endParaRPr b="1" sz="900">
                <a:solidFill>
                  <a:srgbClr val="C05A3E"/>
                </a:solidFill>
                <a:latin typeface="Lato"/>
                <a:ea typeface="Lato"/>
                <a:cs typeface="Lato"/>
                <a:sym typeface="Lato"/>
              </a:endParaRPr>
            </a:p>
            <a:p>
              <a:pPr indent="0" lvl="0" marL="0" rtl="0" algn="l">
                <a:spcBef>
                  <a:spcPts val="300"/>
                </a:spcBef>
                <a:spcAft>
                  <a:spcPts val="0"/>
                </a:spcAft>
                <a:buNone/>
              </a:pPr>
              <a:r>
                <a:rPr b="1" lang="en" sz="1300">
                  <a:solidFill>
                    <a:srgbClr val="2C1E16"/>
                  </a:solidFill>
                  <a:latin typeface="Playfair Display"/>
                  <a:ea typeface="Playfair Display"/>
                  <a:cs typeface="Playfair Display"/>
                  <a:sym typeface="Playfair Display"/>
                </a:rPr>
                <a:t>January – June Overview</a:t>
              </a:r>
              <a:endParaRPr b="1" sz="1300">
                <a:solidFill>
                  <a:srgbClr val="2C1E16"/>
                </a:solidFill>
                <a:latin typeface="Playfair Display"/>
                <a:ea typeface="Playfair Display"/>
                <a:cs typeface="Playfair Display"/>
                <a:sym typeface="Playfair Display"/>
              </a:endParaRPr>
            </a:p>
          </p:txBody>
        </p:sp>
      </p:grpSp>
      <p:grpSp>
        <p:nvGrpSpPr>
          <p:cNvPr id="147" name="Google Shape;147;p14"/>
          <p:cNvGrpSpPr/>
          <p:nvPr/>
        </p:nvGrpSpPr>
        <p:grpSpPr>
          <a:xfrm>
            <a:off x="6057900" y="3476625"/>
            <a:ext cx="2514600" cy="1047900"/>
            <a:chOff x="0" y="0"/>
            <a:chExt cx="2514600" cy="1047900"/>
          </a:xfrm>
        </p:grpSpPr>
        <p:sp>
          <p:nvSpPr>
            <p:cNvPr id="148" name="Google Shape;148;p14"/>
            <p:cNvSpPr/>
            <p:nvPr/>
          </p:nvSpPr>
          <p:spPr>
            <a:xfrm>
              <a:off x="0" y="0"/>
              <a:ext cx="2514600" cy="1047900"/>
            </a:xfrm>
            <a:prstGeom prst="roundRect">
              <a:avLst>
                <a:gd fmla="val 10909" name="adj"/>
              </a:avLst>
            </a:prstGeom>
            <a:solidFill>
              <a:srgbClr val="FFFFFF"/>
            </a:solidFill>
            <a:ln cap="flat" cmpd="sng" w="14300">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14"/>
            <p:cNvSpPr/>
            <p:nvPr/>
          </p:nvSpPr>
          <p:spPr>
            <a:xfrm>
              <a:off x="0" y="0"/>
              <a:ext cx="2514600" cy="47700"/>
            </a:xfrm>
            <a:prstGeom prst="roundRect">
              <a:avLst>
                <a:gd fmla="val 40000" name="adj"/>
              </a:avLst>
            </a:prstGeom>
            <a:solidFill>
              <a:srgbClr val="7A8B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4"/>
            <p:cNvSpPr txBox="1"/>
            <p:nvPr/>
          </p:nvSpPr>
          <p:spPr>
            <a:xfrm>
              <a:off x="190500" y="142875"/>
              <a:ext cx="21336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7A8B76"/>
                  </a:solidFill>
                  <a:latin typeface="Lato"/>
                  <a:ea typeface="Lato"/>
                  <a:cs typeface="Lato"/>
                  <a:sym typeface="Lato"/>
                </a:rPr>
                <a:t>Scope</a:t>
              </a:r>
              <a:endParaRPr b="1" sz="900">
                <a:solidFill>
                  <a:srgbClr val="7A8B76"/>
                </a:solidFill>
                <a:latin typeface="Lato"/>
                <a:ea typeface="Lato"/>
                <a:cs typeface="Lato"/>
                <a:sym typeface="Lato"/>
              </a:endParaRPr>
            </a:p>
            <a:p>
              <a:pPr indent="0" lvl="0" marL="0" rtl="0" algn="l">
                <a:spcBef>
                  <a:spcPts val="300"/>
                </a:spcBef>
                <a:spcAft>
                  <a:spcPts val="0"/>
                </a:spcAft>
                <a:buNone/>
              </a:pPr>
              <a:r>
                <a:rPr b="1" lang="en" sz="1300">
                  <a:solidFill>
                    <a:srgbClr val="2C1E16"/>
                  </a:solidFill>
                  <a:latin typeface="Playfair Display"/>
                  <a:ea typeface="Playfair Display"/>
                  <a:cs typeface="Playfair Display"/>
                  <a:sym typeface="Playfair Display"/>
                </a:rPr>
                <a:t>All 3 Store Locations</a:t>
              </a:r>
              <a:endParaRPr b="1" sz="1300">
                <a:solidFill>
                  <a:srgbClr val="2C1E16"/>
                </a:solidFill>
                <a:latin typeface="Playfair Display"/>
                <a:ea typeface="Playfair Display"/>
                <a:cs typeface="Playfair Display"/>
                <a:sym typeface="Playfair Display"/>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4" name="Shape 154"/>
        <p:cNvGrpSpPr/>
        <p:nvPr/>
      </p:nvGrpSpPr>
      <p:grpSpPr>
        <a:xfrm>
          <a:off x="0" y="0"/>
          <a:ext cx="0" cy="0"/>
          <a:chOff x="0" y="0"/>
          <a:chExt cx="0" cy="0"/>
        </a:xfrm>
      </p:grpSpPr>
      <p:cxnSp>
        <p:nvCxnSpPr>
          <p:cNvPr id="155" name="Google Shape;155;p15"/>
          <p:cNvCxnSpPr/>
          <p:nvPr/>
        </p:nvCxnSpPr>
        <p:spPr>
          <a:xfrm>
            <a:off x="476250" y="809625"/>
            <a:ext cx="8191500" cy="0"/>
          </a:xfrm>
          <a:prstGeom prst="straightConnector1">
            <a:avLst/>
          </a:prstGeom>
          <a:solidFill>
            <a:srgbClr val="FFFFFF"/>
          </a:solidFill>
          <a:ln cap="flat" cmpd="sng" w="19050">
            <a:solidFill>
              <a:srgbClr val="D4A373"/>
            </a:solidFill>
            <a:prstDash val="solid"/>
            <a:round/>
            <a:headEnd len="sm" w="sm" type="none"/>
            <a:tailEnd len="sm" w="sm" type="none"/>
          </a:ln>
        </p:spPr>
      </p:cxnSp>
      <p:grpSp>
        <p:nvGrpSpPr>
          <p:cNvPr id="156" name="Google Shape;156;p15"/>
          <p:cNvGrpSpPr/>
          <p:nvPr/>
        </p:nvGrpSpPr>
        <p:grpSpPr>
          <a:xfrm>
            <a:off x="8248650" y="200055"/>
            <a:ext cx="342990" cy="238140"/>
            <a:chOff x="95250" y="-63450"/>
            <a:chExt cx="571650" cy="396900"/>
          </a:xfrm>
        </p:grpSpPr>
        <p:sp>
          <p:nvSpPr>
            <p:cNvPr id="157" name="Google Shape;157;p15"/>
            <p:cNvSpPr/>
            <p:nvPr/>
          </p:nvSpPr>
          <p:spPr>
            <a:xfrm>
              <a:off x="95250" y="95250"/>
              <a:ext cx="476400" cy="238200"/>
            </a:xfrm>
            <a:custGeom>
              <a:rect b="b" l="l" r="r" t="t"/>
              <a:pathLst>
                <a:path extrusionOk="0" h="120000" w="120000">
                  <a:moveTo>
                    <a:pt x="0" y="0"/>
                  </a:moveTo>
                  <a:cubicBezTo>
                    <a:pt x="0" y="72002"/>
                    <a:pt x="23999" y="120000"/>
                    <a:pt x="60000" y="120000"/>
                  </a:cubicBezTo>
                  <a:cubicBezTo>
                    <a:pt x="96001" y="120000"/>
                    <a:pt x="120000" y="72002"/>
                    <a:pt x="120000" y="0"/>
                  </a:cubicBezTo>
                  <a:lnTo>
                    <a:pt x="0" y="0"/>
                  </a:lnTo>
                  <a:close/>
                </a:path>
              </a:pathLst>
            </a:cu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5"/>
            <p:cNvSpPr/>
            <p:nvPr/>
          </p:nvSpPr>
          <p:spPr>
            <a:xfrm>
              <a:off x="571500" y="142875"/>
              <a:ext cx="95400" cy="162000"/>
            </a:xfrm>
            <a:custGeom>
              <a:rect b="b" l="l" r="r" t="t"/>
              <a:pathLst>
                <a:path extrusionOk="0" h="120000" w="120000">
                  <a:moveTo>
                    <a:pt x="0" y="0"/>
                  </a:moveTo>
                  <a:cubicBezTo>
                    <a:pt x="96007" y="0"/>
                    <a:pt x="120000" y="35296"/>
                    <a:pt x="120000" y="70592"/>
                  </a:cubicBezTo>
                  <a:cubicBezTo>
                    <a:pt x="120000" y="105889"/>
                    <a:pt x="60000" y="120000"/>
                    <a:pt x="0" y="120000"/>
                  </a:cubicBezTo>
                </a:path>
              </a:pathLst>
            </a:custGeom>
            <a:solidFill>
              <a:srgbClr val="000000"/>
            </a:solidFill>
            <a:ln cap="flat" cmpd="sng" w="38100">
              <a:solidFill>
                <a:srgbClr val="2C1E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5"/>
            <p:cNvSpPr/>
            <p:nvPr/>
          </p:nvSpPr>
          <p:spPr>
            <a:xfrm>
              <a:off x="295275" y="152400"/>
              <a:ext cx="76200" cy="76200"/>
            </a:xfrm>
            <a:prstGeom prst="ellipse">
              <a:avLst/>
            </a:prstGeom>
            <a:solidFill>
              <a:srgbClr val="F9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5"/>
            <p:cNvSpPr/>
            <p:nvPr/>
          </p:nvSpPr>
          <p:spPr>
            <a:xfrm>
              <a:off x="238125" y="-63450"/>
              <a:ext cx="190500" cy="63600"/>
            </a:xfrm>
            <a:custGeom>
              <a:rect b="b" l="l" r="r" t="t"/>
              <a:pathLst>
                <a:path extrusionOk="0" h="120000" w="120000">
                  <a:moveTo>
                    <a:pt x="0" y="120000"/>
                  </a:moveTo>
                  <a:cubicBezTo>
                    <a:pt x="20000" y="0"/>
                    <a:pt x="40000" y="0"/>
                    <a:pt x="60000" y="120000"/>
                  </a:cubicBezTo>
                  <a:lnTo>
                    <a:pt x="120000" y="120000"/>
                  </a:lnTo>
                </a:path>
              </a:pathLst>
            </a:custGeom>
            <a:solidFill>
              <a:srgbClr val="000000"/>
            </a:solidFill>
            <a:ln cap="flat" cmpd="sng" w="28575">
              <a:solidFill>
                <a:srgbClr val="D4A37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61" name="Google Shape;161;p15"/>
          <p:cNvSpPr txBox="1"/>
          <p:nvPr/>
        </p:nvSpPr>
        <p:spPr>
          <a:xfrm>
            <a:off x="476250" y="238125"/>
            <a:ext cx="7524900" cy="523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i="0" lang="en" sz="2000">
                <a:solidFill>
                  <a:srgbClr val="2C1E16"/>
                </a:solidFill>
                <a:latin typeface="Playfair Display"/>
                <a:ea typeface="Playfair Display"/>
                <a:cs typeface="Playfair Display"/>
                <a:sym typeface="Playfair Display"/>
              </a:rPr>
              <a:t>Bright Coffee Shop </a:t>
            </a:r>
            <a:endParaRPr b="1" i="0" sz="2000">
              <a:solidFill>
                <a:srgbClr val="2C1E16"/>
              </a:solidFill>
              <a:latin typeface="Playfair Display"/>
              <a:ea typeface="Playfair Display"/>
              <a:cs typeface="Playfair Display"/>
              <a:sym typeface="Playfair Display"/>
            </a:endParaRPr>
          </a:p>
          <a:p>
            <a:pPr indent="0" lvl="0" marL="0" rtl="0" algn="ctr">
              <a:spcBef>
                <a:spcPts val="0"/>
              </a:spcBef>
              <a:spcAft>
                <a:spcPts val="0"/>
              </a:spcAft>
              <a:buClr>
                <a:schemeClr val="dk1"/>
              </a:buClr>
              <a:buSzPts val="1100"/>
              <a:buFont typeface="Arial"/>
              <a:buNone/>
            </a:pPr>
            <a:r>
              <a:rPr b="1" lang="en" sz="1000">
                <a:solidFill>
                  <a:srgbClr val="C05A3E"/>
                </a:solidFill>
                <a:latin typeface="Lato"/>
                <a:ea typeface="Lato"/>
                <a:cs typeface="Lato"/>
                <a:sym typeface="Lato"/>
              </a:rPr>
              <a:t>JAN – JUN EXECUTIVE PERFORMANCE OVERVIEW</a:t>
            </a:r>
            <a:endParaRPr b="1" sz="1000">
              <a:solidFill>
                <a:srgbClr val="C05A3E"/>
              </a:solidFill>
              <a:latin typeface="Lato"/>
              <a:ea typeface="Lato"/>
              <a:cs typeface="Lato"/>
              <a:sym typeface="Lato"/>
            </a:endParaRPr>
          </a:p>
          <a:p>
            <a:pPr indent="0" lvl="0" marL="0" rtl="0" algn="ctr">
              <a:spcBef>
                <a:spcPts val="300"/>
              </a:spcBef>
              <a:spcAft>
                <a:spcPts val="0"/>
              </a:spcAft>
              <a:buNone/>
            </a:pPr>
            <a:r>
              <a:t/>
            </a:r>
            <a:endParaRPr b="1" sz="2000">
              <a:solidFill>
                <a:srgbClr val="2C1E16"/>
              </a:solidFill>
              <a:latin typeface="Playfair Display"/>
              <a:ea typeface="Playfair Display"/>
              <a:cs typeface="Playfair Display"/>
              <a:sym typeface="Playfair Display"/>
            </a:endParaRPr>
          </a:p>
        </p:txBody>
      </p:sp>
      <p:grpSp>
        <p:nvGrpSpPr>
          <p:cNvPr id="162" name="Google Shape;162;p15"/>
          <p:cNvGrpSpPr/>
          <p:nvPr/>
        </p:nvGrpSpPr>
        <p:grpSpPr>
          <a:xfrm>
            <a:off x="476250" y="1000125"/>
            <a:ext cx="3048000" cy="1428900"/>
            <a:chOff x="0" y="0"/>
            <a:chExt cx="3048000" cy="1428900"/>
          </a:xfrm>
        </p:grpSpPr>
        <p:sp>
          <p:nvSpPr>
            <p:cNvPr id="163" name="Google Shape;163;p15"/>
            <p:cNvSpPr/>
            <p:nvPr/>
          </p:nvSpPr>
          <p:spPr>
            <a:xfrm>
              <a:off x="0" y="0"/>
              <a:ext cx="3048000" cy="1428900"/>
            </a:xfrm>
            <a:prstGeom prst="roundRect">
              <a:avLst>
                <a:gd fmla="val 5333" name="adj"/>
              </a:avLst>
            </a:pr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5"/>
            <p:cNvSpPr txBox="1"/>
            <p:nvPr/>
          </p:nvSpPr>
          <p:spPr>
            <a:xfrm>
              <a:off x="190500" y="152400"/>
              <a:ext cx="2667000" cy="1124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 sz="900">
                  <a:solidFill>
                    <a:srgbClr val="D4A373"/>
                  </a:solidFill>
                  <a:latin typeface="Lato"/>
                  <a:ea typeface="Lato"/>
                  <a:cs typeface="Lato"/>
                  <a:sym typeface="Lato"/>
                </a:rPr>
                <a:t>TOTAL REVENUE</a:t>
              </a:r>
              <a:endParaRPr b="1" i="0" sz="900">
                <a:solidFill>
                  <a:srgbClr val="D4A373"/>
                </a:solidFill>
                <a:latin typeface="Lato"/>
                <a:ea typeface="Lato"/>
                <a:cs typeface="Lato"/>
                <a:sym typeface="Lato"/>
              </a:endParaRPr>
            </a:p>
            <a:p>
              <a:pPr indent="0" lvl="0" marL="0" rtl="0" algn="l">
                <a:spcBef>
                  <a:spcPts val="400"/>
                </a:spcBef>
                <a:spcAft>
                  <a:spcPts val="0"/>
                </a:spcAft>
                <a:buNone/>
              </a:pPr>
              <a:r>
                <a:rPr b="1" i="0" lang="en" sz="3400">
                  <a:solidFill>
                    <a:srgbClr val="F9F6F0"/>
                  </a:solidFill>
                  <a:latin typeface="Playfair Display"/>
                  <a:ea typeface="Playfair Display"/>
                  <a:cs typeface="Playfair Display"/>
                  <a:sym typeface="Playfair Display"/>
                </a:rPr>
                <a:t>$698,812</a:t>
              </a:r>
              <a:endParaRPr b="1" i="0" sz="3400">
                <a:solidFill>
                  <a:srgbClr val="F9F6F0"/>
                </a:solidFill>
                <a:latin typeface="Playfair Display"/>
                <a:ea typeface="Playfair Display"/>
                <a:cs typeface="Playfair Display"/>
                <a:sym typeface="Playfair Display"/>
              </a:endParaRPr>
            </a:p>
            <a:p>
              <a:pPr indent="0" lvl="0" marL="0" rtl="0" algn="l">
                <a:spcBef>
                  <a:spcPts val="400"/>
                </a:spcBef>
                <a:spcAft>
                  <a:spcPts val="0"/>
                </a:spcAft>
                <a:buNone/>
              </a:pPr>
              <a:r>
                <a:rPr lang="en" sz="1000">
                  <a:solidFill>
                    <a:srgbClr val="EADDCD"/>
                  </a:solidFill>
                  <a:latin typeface="Lato"/>
                  <a:ea typeface="Lato"/>
                  <a:cs typeface="Lato"/>
                  <a:sym typeface="Lato"/>
                </a:rPr>
                <a:t>Sale from all the </a:t>
              </a:r>
              <a:r>
                <a:rPr lang="en" sz="1000">
                  <a:solidFill>
                    <a:srgbClr val="EADDCD"/>
                  </a:solidFill>
                  <a:latin typeface="Lato"/>
                  <a:ea typeface="Lato"/>
                  <a:cs typeface="Lato"/>
                  <a:sym typeface="Lato"/>
                </a:rPr>
                <a:t>stores</a:t>
              </a:r>
              <a:endParaRPr sz="1000">
                <a:solidFill>
                  <a:srgbClr val="EADDCD"/>
                </a:solidFill>
                <a:latin typeface="Lato"/>
                <a:ea typeface="Lato"/>
                <a:cs typeface="Lato"/>
                <a:sym typeface="Lato"/>
              </a:endParaRPr>
            </a:p>
          </p:txBody>
        </p:sp>
      </p:grpSp>
      <p:grpSp>
        <p:nvGrpSpPr>
          <p:cNvPr id="165" name="Google Shape;165;p15"/>
          <p:cNvGrpSpPr/>
          <p:nvPr/>
        </p:nvGrpSpPr>
        <p:grpSpPr>
          <a:xfrm>
            <a:off x="476250" y="2571750"/>
            <a:ext cx="3048000" cy="619200"/>
            <a:chOff x="0" y="0"/>
            <a:chExt cx="3048000" cy="619200"/>
          </a:xfrm>
        </p:grpSpPr>
        <p:sp>
          <p:nvSpPr>
            <p:cNvPr id="166" name="Google Shape;166;p15"/>
            <p:cNvSpPr/>
            <p:nvPr/>
          </p:nvSpPr>
          <p:spPr>
            <a:xfrm>
              <a:off x="0" y="0"/>
              <a:ext cx="3048000" cy="619200"/>
            </a:xfrm>
            <a:prstGeom prst="roundRect">
              <a:avLst>
                <a:gd fmla="val 12307" name="adj"/>
              </a:avLst>
            </a:prstGeom>
            <a:solidFill>
              <a:srgbClr val="EADDC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5"/>
            <p:cNvSpPr txBox="1"/>
            <p:nvPr/>
          </p:nvSpPr>
          <p:spPr>
            <a:xfrm>
              <a:off x="171450" y="95250"/>
              <a:ext cx="27051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 sz="1850">
                  <a:solidFill>
                    <a:srgbClr val="C05A3E"/>
                  </a:solidFill>
                  <a:latin typeface="Playfair Display"/>
                  <a:ea typeface="Playfair Display"/>
                  <a:cs typeface="Playfair Display"/>
                  <a:sym typeface="Playfair Display"/>
                </a:rPr>
                <a:t>214,470</a:t>
              </a:r>
              <a:endParaRPr b="1" i="0" sz="1850">
                <a:solidFill>
                  <a:srgbClr val="C05A3E"/>
                </a:solidFill>
                <a:latin typeface="Playfair Display"/>
                <a:ea typeface="Playfair Display"/>
                <a:cs typeface="Playfair Display"/>
                <a:sym typeface="Playfair Display"/>
              </a:endParaRPr>
            </a:p>
            <a:p>
              <a:pPr indent="0" lvl="0" marL="0" rtl="0" algn="l">
                <a:spcBef>
                  <a:spcPts val="0"/>
                </a:spcBef>
                <a:spcAft>
                  <a:spcPts val="0"/>
                </a:spcAft>
                <a:buNone/>
              </a:pPr>
              <a:r>
                <a:rPr b="1" i="0" lang="en" sz="925">
                  <a:solidFill>
                    <a:srgbClr val="5A4634"/>
                  </a:solidFill>
                  <a:latin typeface="Lato"/>
                  <a:ea typeface="Lato"/>
                  <a:cs typeface="Lato"/>
                  <a:sym typeface="Lato"/>
                </a:rPr>
                <a:t>Total Items Sold</a:t>
              </a:r>
              <a:endParaRPr b="1" i="0" sz="925">
                <a:solidFill>
                  <a:srgbClr val="5A4634"/>
                </a:solidFill>
                <a:latin typeface="Lato"/>
                <a:ea typeface="Lato"/>
                <a:cs typeface="Lato"/>
                <a:sym typeface="Lato"/>
              </a:endParaRPr>
            </a:p>
          </p:txBody>
        </p:sp>
      </p:grpSp>
      <p:grpSp>
        <p:nvGrpSpPr>
          <p:cNvPr id="168" name="Google Shape;168;p15"/>
          <p:cNvGrpSpPr/>
          <p:nvPr/>
        </p:nvGrpSpPr>
        <p:grpSpPr>
          <a:xfrm>
            <a:off x="476250" y="3286125"/>
            <a:ext cx="1476300" cy="619200"/>
            <a:chOff x="0" y="0"/>
            <a:chExt cx="1476300" cy="619200"/>
          </a:xfrm>
        </p:grpSpPr>
        <p:sp>
          <p:nvSpPr>
            <p:cNvPr id="169" name="Google Shape;169;p15"/>
            <p:cNvSpPr/>
            <p:nvPr/>
          </p:nvSpPr>
          <p:spPr>
            <a:xfrm>
              <a:off x="0" y="0"/>
              <a:ext cx="1476300" cy="619200"/>
            </a:xfrm>
            <a:prstGeom prst="roundRect">
              <a:avLst>
                <a:gd fmla="val 12307" name="adj"/>
              </a:avLst>
            </a:prstGeom>
            <a:solidFill>
              <a:srgbClr val="EADDC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5"/>
            <p:cNvSpPr txBox="1"/>
            <p:nvPr/>
          </p:nvSpPr>
          <p:spPr>
            <a:xfrm>
              <a:off x="133350" y="95250"/>
              <a:ext cx="12096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 sz="1850">
                  <a:solidFill>
                    <a:srgbClr val="C05A3E"/>
                  </a:solidFill>
                  <a:latin typeface="Playfair Display"/>
                  <a:ea typeface="Playfair Display"/>
                  <a:cs typeface="Playfair Display"/>
                  <a:sym typeface="Playfair Display"/>
                </a:rPr>
                <a:t>3</a:t>
              </a:r>
              <a:endParaRPr b="1" i="0" sz="1850">
                <a:solidFill>
                  <a:srgbClr val="C05A3E"/>
                </a:solidFill>
                <a:latin typeface="Playfair Display"/>
                <a:ea typeface="Playfair Display"/>
                <a:cs typeface="Playfair Display"/>
                <a:sym typeface="Playfair Display"/>
              </a:endParaRPr>
            </a:p>
            <a:p>
              <a:pPr indent="0" lvl="0" marL="0" rtl="0" algn="l">
                <a:spcBef>
                  <a:spcPts val="0"/>
                </a:spcBef>
                <a:spcAft>
                  <a:spcPts val="0"/>
                </a:spcAft>
                <a:buNone/>
              </a:pPr>
              <a:r>
                <a:rPr b="1" i="0" lang="en" sz="879">
                  <a:solidFill>
                    <a:srgbClr val="5A4634"/>
                  </a:solidFill>
                  <a:latin typeface="Lato"/>
                  <a:ea typeface="Lato"/>
                  <a:cs typeface="Lato"/>
                  <a:sym typeface="Lato"/>
                </a:rPr>
                <a:t>Active Locations</a:t>
              </a:r>
              <a:endParaRPr b="1" i="0" sz="879">
                <a:solidFill>
                  <a:srgbClr val="5A4634"/>
                </a:solidFill>
                <a:latin typeface="Lato"/>
                <a:ea typeface="Lato"/>
                <a:cs typeface="Lato"/>
                <a:sym typeface="Lato"/>
              </a:endParaRPr>
            </a:p>
          </p:txBody>
        </p:sp>
      </p:grpSp>
      <p:grpSp>
        <p:nvGrpSpPr>
          <p:cNvPr id="171" name="Google Shape;171;p15"/>
          <p:cNvGrpSpPr/>
          <p:nvPr/>
        </p:nvGrpSpPr>
        <p:grpSpPr>
          <a:xfrm>
            <a:off x="2047875" y="3286125"/>
            <a:ext cx="1476300" cy="619200"/>
            <a:chOff x="0" y="0"/>
            <a:chExt cx="1476300" cy="619200"/>
          </a:xfrm>
        </p:grpSpPr>
        <p:sp>
          <p:nvSpPr>
            <p:cNvPr id="172" name="Google Shape;172;p15"/>
            <p:cNvSpPr/>
            <p:nvPr/>
          </p:nvSpPr>
          <p:spPr>
            <a:xfrm>
              <a:off x="0" y="0"/>
              <a:ext cx="1476300" cy="619200"/>
            </a:xfrm>
            <a:prstGeom prst="roundRect">
              <a:avLst>
                <a:gd fmla="val 12307" name="adj"/>
              </a:avLst>
            </a:prstGeom>
            <a:solidFill>
              <a:srgbClr val="EADDC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5"/>
            <p:cNvSpPr txBox="1"/>
            <p:nvPr/>
          </p:nvSpPr>
          <p:spPr>
            <a:xfrm>
              <a:off x="133350" y="95250"/>
              <a:ext cx="12096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 sz="1850">
                  <a:solidFill>
                    <a:srgbClr val="C05A3E"/>
                  </a:solidFill>
                  <a:latin typeface="Playfair Display"/>
                  <a:ea typeface="Playfair Display"/>
                  <a:cs typeface="Playfair Display"/>
                  <a:sym typeface="Playfair Display"/>
                </a:rPr>
                <a:t>29</a:t>
              </a:r>
              <a:endParaRPr b="1" i="0" sz="1850">
                <a:solidFill>
                  <a:srgbClr val="C05A3E"/>
                </a:solidFill>
                <a:latin typeface="Playfair Display"/>
                <a:ea typeface="Playfair Display"/>
                <a:cs typeface="Playfair Display"/>
                <a:sym typeface="Playfair Display"/>
              </a:endParaRPr>
            </a:p>
            <a:p>
              <a:pPr indent="0" lvl="0" marL="0" rtl="0" algn="l">
                <a:spcBef>
                  <a:spcPts val="0"/>
                </a:spcBef>
                <a:spcAft>
                  <a:spcPts val="0"/>
                </a:spcAft>
                <a:buNone/>
              </a:pPr>
              <a:r>
                <a:rPr b="1" i="0" lang="en" sz="879">
                  <a:solidFill>
                    <a:srgbClr val="5A4634"/>
                  </a:solidFill>
                  <a:latin typeface="Lato"/>
                  <a:ea typeface="Lato"/>
                  <a:cs typeface="Lato"/>
                  <a:sym typeface="Lato"/>
                </a:rPr>
                <a:t>Menu Categories</a:t>
              </a:r>
              <a:endParaRPr b="1" i="0" sz="879">
                <a:solidFill>
                  <a:srgbClr val="5A4634"/>
                </a:solidFill>
                <a:latin typeface="Lato"/>
                <a:ea typeface="Lato"/>
                <a:cs typeface="Lato"/>
                <a:sym typeface="Lato"/>
              </a:endParaRPr>
            </a:p>
          </p:txBody>
        </p:sp>
      </p:grpSp>
      <p:grpSp>
        <p:nvGrpSpPr>
          <p:cNvPr id="174" name="Google Shape;174;p15"/>
          <p:cNvGrpSpPr/>
          <p:nvPr/>
        </p:nvGrpSpPr>
        <p:grpSpPr>
          <a:xfrm>
            <a:off x="3714750" y="1000125"/>
            <a:ext cx="4953000" cy="2905200"/>
            <a:chOff x="0" y="0"/>
            <a:chExt cx="4953000" cy="2905200"/>
          </a:xfrm>
        </p:grpSpPr>
        <p:sp>
          <p:nvSpPr>
            <p:cNvPr id="175" name="Google Shape;175;p15"/>
            <p:cNvSpPr/>
            <p:nvPr/>
          </p:nvSpPr>
          <p:spPr>
            <a:xfrm>
              <a:off x="0" y="0"/>
              <a:ext cx="4953000" cy="2905200"/>
            </a:xfrm>
            <a:prstGeom prst="roundRect">
              <a:avLst>
                <a:gd fmla="val 2622" name="adj"/>
              </a:avLst>
            </a:prstGeom>
            <a:solidFill>
              <a:srgbClr val="FFFFFF"/>
            </a:solidFill>
            <a:ln cap="flat" cmpd="sng" w="14300">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5"/>
            <p:cNvSpPr txBox="1"/>
            <p:nvPr/>
          </p:nvSpPr>
          <p:spPr>
            <a:xfrm>
              <a:off x="238125" y="190500"/>
              <a:ext cx="4476900" cy="252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0" lang="en" sz="1050">
                  <a:solidFill>
                    <a:srgbClr val="C05A3E"/>
                  </a:solidFill>
                  <a:latin typeface="Lato"/>
                  <a:ea typeface="Lato"/>
                  <a:cs typeface="Lato"/>
                  <a:sym typeface="Lato"/>
                </a:rPr>
                <a:t>SUMMARY</a:t>
              </a:r>
              <a:endParaRPr b="1" i="0" sz="1050">
                <a:solidFill>
                  <a:srgbClr val="C05A3E"/>
                </a:solidFill>
                <a:latin typeface="Lato"/>
                <a:ea typeface="Lato"/>
                <a:cs typeface="Lato"/>
                <a:sym typeface="Lato"/>
              </a:endParaRPr>
            </a:p>
            <a:p>
              <a:pPr indent="0" lvl="0" marL="0" rtl="0" algn="l">
                <a:spcBef>
                  <a:spcPts val="400"/>
                </a:spcBef>
                <a:spcAft>
                  <a:spcPts val="0"/>
                </a:spcAft>
                <a:buNone/>
              </a:pPr>
              <a:r>
                <a:rPr b="1" i="0" lang="en" sz="1600">
                  <a:solidFill>
                    <a:srgbClr val="2C1E16"/>
                  </a:solidFill>
                  <a:latin typeface="Playfair Display"/>
                  <a:ea typeface="Playfair Display"/>
                  <a:cs typeface="Playfair Display"/>
                  <a:sym typeface="Playfair Display"/>
                </a:rPr>
                <a:t>Solid Foundation Built for Strategic Growth</a:t>
              </a:r>
              <a:endParaRPr b="1" i="0" sz="1600">
                <a:solidFill>
                  <a:srgbClr val="2C1E16"/>
                </a:solidFill>
                <a:latin typeface="Playfair Display"/>
                <a:ea typeface="Playfair Display"/>
                <a:cs typeface="Playfair Display"/>
                <a:sym typeface="Playfair Display"/>
              </a:endParaRPr>
            </a:p>
            <a:p>
              <a:pPr indent="0" lvl="0" marL="0" rtl="0" algn="l">
                <a:spcBef>
                  <a:spcPts val="1000"/>
                </a:spcBef>
                <a:spcAft>
                  <a:spcPts val="0"/>
                </a:spcAft>
                <a:buNone/>
              </a:pPr>
              <a:r>
                <a:rPr b="0" i="0" lang="en" sz="1050">
                  <a:solidFill>
                    <a:srgbClr val="5A4634"/>
                  </a:solidFill>
                  <a:latin typeface="Lato"/>
                  <a:ea typeface="Lato"/>
                  <a:cs typeface="Lato"/>
                  <a:sym typeface="Lato"/>
                </a:rPr>
                <a:t>Our Jan – Jun analysis reveals a highly productive six-month period across all active locations. The business generated $698,812.33 in total revenue, driven by a strong volume of 214,470 total items sold.</a:t>
              </a:r>
              <a:endParaRPr b="0" i="0" sz="1050">
                <a:solidFill>
                  <a:srgbClr val="5A4634"/>
                </a:solidFill>
                <a:latin typeface="Lato"/>
                <a:ea typeface="Lato"/>
                <a:cs typeface="Lato"/>
                <a:sym typeface="Lato"/>
              </a:endParaRPr>
            </a:p>
            <a:p>
              <a:pPr indent="0" lvl="0" marL="0" rtl="0" algn="l">
                <a:spcBef>
                  <a:spcPts val="1400"/>
                </a:spcBef>
                <a:spcAft>
                  <a:spcPts val="0"/>
                </a:spcAft>
                <a:buNone/>
              </a:pPr>
              <a:r>
                <a:rPr b="1" i="0" lang="en" sz="1000">
                  <a:solidFill>
                    <a:srgbClr val="2C1E16"/>
                  </a:solidFill>
                  <a:highlight>
                    <a:srgbClr val="F9F6F0"/>
                  </a:highlight>
                  <a:latin typeface="Lato"/>
                  <a:ea typeface="Lato"/>
                  <a:cs typeface="Lato"/>
                  <a:sym typeface="Lato"/>
                </a:rPr>
                <a:t>Multi-Store Sustainability</a:t>
              </a:r>
              <a:endParaRPr b="1" i="0" sz="1000">
                <a:solidFill>
                  <a:srgbClr val="2C1E16"/>
                </a:solidFill>
                <a:highlight>
                  <a:srgbClr val="F9F6F0"/>
                </a:highlight>
                <a:latin typeface="Lato"/>
                <a:ea typeface="Lato"/>
                <a:cs typeface="Lato"/>
                <a:sym typeface="Lato"/>
              </a:endParaRPr>
            </a:p>
            <a:p>
              <a:pPr indent="0" lvl="0" marL="0" rtl="0" algn="l">
                <a:spcBef>
                  <a:spcPts val="0"/>
                </a:spcBef>
                <a:spcAft>
                  <a:spcPts val="0"/>
                </a:spcAft>
                <a:buNone/>
              </a:pPr>
              <a:r>
                <a:rPr b="0" i="0" lang="en" sz="950">
                  <a:solidFill>
                    <a:srgbClr val="5A4634"/>
                  </a:solidFill>
                  <a:highlight>
                    <a:srgbClr val="F9F6F0"/>
                  </a:highlight>
                  <a:latin typeface="Lato"/>
                  <a:ea typeface="Lato"/>
                  <a:cs typeface="Lato"/>
                  <a:sym typeface="Lato"/>
                </a:rPr>
                <a:t>Operations are currently sustained by 3 active locations offering 29 distinct menu categories.</a:t>
              </a:r>
              <a:endParaRPr b="0" i="0" sz="950">
                <a:solidFill>
                  <a:srgbClr val="5A4634"/>
                </a:solidFill>
                <a:highlight>
                  <a:srgbClr val="F9F6F0"/>
                </a:highlight>
                <a:latin typeface="Lato"/>
                <a:ea typeface="Lato"/>
                <a:cs typeface="Lato"/>
                <a:sym typeface="Lato"/>
              </a:endParaRPr>
            </a:p>
            <a:p>
              <a:pPr indent="0" lvl="0" marL="0" rtl="0" algn="l">
                <a:spcBef>
                  <a:spcPts val="800"/>
                </a:spcBef>
                <a:spcAft>
                  <a:spcPts val="0"/>
                </a:spcAft>
                <a:buNone/>
              </a:pPr>
              <a:r>
                <a:rPr b="1" i="0" lang="en" sz="1000">
                  <a:solidFill>
                    <a:srgbClr val="2C1E16"/>
                  </a:solidFill>
                  <a:highlight>
                    <a:srgbClr val="F9F6F0"/>
                  </a:highlight>
                  <a:latin typeface="Lato"/>
                  <a:ea typeface="Lato"/>
                  <a:cs typeface="Lato"/>
                  <a:sym typeface="Lato"/>
                </a:rPr>
                <a:t>Incoming Leadership Readiness</a:t>
              </a:r>
              <a:endParaRPr b="1" i="0" sz="1000">
                <a:solidFill>
                  <a:srgbClr val="2C1E16"/>
                </a:solidFill>
                <a:highlight>
                  <a:srgbClr val="F9F6F0"/>
                </a:highlight>
                <a:latin typeface="Lato"/>
                <a:ea typeface="Lato"/>
                <a:cs typeface="Lato"/>
                <a:sym typeface="Lato"/>
              </a:endParaRPr>
            </a:p>
            <a:p>
              <a:pPr indent="0" lvl="0" marL="0" rtl="0" algn="l">
                <a:spcBef>
                  <a:spcPts val="0"/>
                </a:spcBef>
                <a:spcAft>
                  <a:spcPts val="0"/>
                </a:spcAft>
                <a:buNone/>
              </a:pPr>
              <a:r>
                <a:rPr b="0" i="0" lang="en" sz="950">
                  <a:solidFill>
                    <a:srgbClr val="5A4634"/>
                  </a:solidFill>
                  <a:highlight>
                    <a:srgbClr val="F9F6F0"/>
                  </a:highlight>
                  <a:latin typeface="Lato"/>
                  <a:ea typeface="Lato"/>
                  <a:cs typeface="Lato"/>
                  <a:sym typeface="Lato"/>
                </a:rPr>
                <a:t>The data indicates a solid foundation for the incoming executive team to build upon, with clear top-performing categories.</a:t>
              </a:r>
              <a:endParaRPr b="0" i="0" sz="950">
                <a:solidFill>
                  <a:srgbClr val="5A4634"/>
                </a:solidFill>
                <a:highlight>
                  <a:srgbClr val="F9F6F0"/>
                </a:highlight>
                <a:latin typeface="Lato"/>
                <a:ea typeface="Lato"/>
                <a:cs typeface="Lato"/>
                <a:sym typeface="La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6"/>
          <p:cNvSpPr/>
          <p:nvPr/>
        </p:nvSpPr>
        <p:spPr>
          <a:xfrm>
            <a:off x="0" y="0"/>
            <a:ext cx="9144000" cy="5143500"/>
          </a:xfrm>
          <a:prstGeom prst="rect">
            <a:avLst/>
          </a:prstGeom>
          <a:solidFill>
            <a:srgbClr val="F9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82" name="Google Shape;182;p16"/>
          <p:cNvCxnSpPr/>
          <p:nvPr/>
        </p:nvCxnSpPr>
        <p:spPr>
          <a:xfrm>
            <a:off x="476250" y="809625"/>
            <a:ext cx="8191500" cy="0"/>
          </a:xfrm>
          <a:prstGeom prst="straightConnector1">
            <a:avLst/>
          </a:prstGeom>
          <a:solidFill>
            <a:srgbClr val="FFFFFF"/>
          </a:solidFill>
          <a:ln cap="flat" cmpd="sng" w="19050">
            <a:solidFill>
              <a:srgbClr val="D4A373"/>
            </a:solidFill>
            <a:prstDash val="solid"/>
            <a:round/>
            <a:headEnd len="sm" w="sm" type="none"/>
            <a:tailEnd len="sm" w="sm" type="none"/>
          </a:ln>
        </p:spPr>
      </p:cxnSp>
      <p:grpSp>
        <p:nvGrpSpPr>
          <p:cNvPr id="183" name="Google Shape;183;p16"/>
          <p:cNvGrpSpPr/>
          <p:nvPr/>
        </p:nvGrpSpPr>
        <p:grpSpPr>
          <a:xfrm>
            <a:off x="8248650" y="4467225"/>
            <a:ext cx="342990" cy="257220"/>
            <a:chOff x="95250" y="-95250"/>
            <a:chExt cx="571650" cy="428700"/>
          </a:xfrm>
        </p:grpSpPr>
        <p:sp>
          <p:nvSpPr>
            <p:cNvPr id="184" name="Google Shape;184;p16"/>
            <p:cNvSpPr/>
            <p:nvPr/>
          </p:nvSpPr>
          <p:spPr>
            <a:xfrm>
              <a:off x="95250" y="95250"/>
              <a:ext cx="476400" cy="238200"/>
            </a:xfrm>
            <a:custGeom>
              <a:rect b="b" l="l" r="r" t="t"/>
              <a:pathLst>
                <a:path extrusionOk="0" h="120000" w="120000">
                  <a:moveTo>
                    <a:pt x="0" y="0"/>
                  </a:moveTo>
                  <a:cubicBezTo>
                    <a:pt x="0" y="72000"/>
                    <a:pt x="24000" y="120000"/>
                    <a:pt x="60000" y="120000"/>
                  </a:cubicBezTo>
                  <a:cubicBezTo>
                    <a:pt x="96000" y="120000"/>
                    <a:pt x="120000" y="72000"/>
                    <a:pt x="120000" y="0"/>
                  </a:cubicBezTo>
                  <a:lnTo>
                    <a:pt x="0" y="0"/>
                  </a:lnTo>
                  <a:close/>
                </a:path>
              </a:pathLst>
            </a:cu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16"/>
            <p:cNvSpPr/>
            <p:nvPr/>
          </p:nvSpPr>
          <p:spPr>
            <a:xfrm>
              <a:off x="571500" y="142875"/>
              <a:ext cx="95400" cy="162000"/>
            </a:xfrm>
            <a:custGeom>
              <a:rect b="b" l="l" r="r" t="t"/>
              <a:pathLst>
                <a:path extrusionOk="0" h="120000" w="120000">
                  <a:moveTo>
                    <a:pt x="0" y="0"/>
                  </a:moveTo>
                  <a:cubicBezTo>
                    <a:pt x="96000" y="0"/>
                    <a:pt x="120000" y="35294"/>
                    <a:pt x="120000" y="70588"/>
                  </a:cubicBezTo>
                  <a:cubicBezTo>
                    <a:pt x="120000" y="105882"/>
                    <a:pt x="60000" y="120000"/>
                    <a:pt x="0" y="120000"/>
                  </a:cubicBezTo>
                </a:path>
              </a:pathLst>
            </a:custGeom>
            <a:solidFill>
              <a:srgbClr val="000000">
                <a:alpha val="0"/>
              </a:srgbClr>
            </a:solidFill>
            <a:ln cap="flat" cmpd="sng" w="38100">
              <a:solidFill>
                <a:srgbClr val="2C1E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16"/>
            <p:cNvSpPr/>
            <p:nvPr/>
          </p:nvSpPr>
          <p:spPr>
            <a:xfrm>
              <a:off x="295275" y="152400"/>
              <a:ext cx="76200" cy="76200"/>
            </a:xfrm>
            <a:prstGeom prst="ellipse">
              <a:avLst/>
            </a:prstGeom>
            <a:solidFill>
              <a:srgbClr val="F9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6"/>
            <p:cNvSpPr/>
            <p:nvPr/>
          </p:nvSpPr>
          <p:spPr>
            <a:xfrm>
              <a:off x="238125" y="-95250"/>
              <a:ext cx="190500" cy="95400"/>
            </a:xfrm>
            <a:custGeom>
              <a:rect b="b" l="l" r="r" t="t"/>
              <a:pathLst>
                <a:path extrusionOk="0" h="120000" w="120000">
                  <a:moveTo>
                    <a:pt x="0" y="120000"/>
                  </a:moveTo>
                  <a:quadBezTo>
                    <a:pt x="30000" y="0"/>
                    <a:pt x="60000" y="120000"/>
                  </a:quadBezTo>
                  <a:lnTo>
                    <a:pt x="120000" y="120000"/>
                  </a:lnTo>
                </a:path>
              </a:pathLst>
            </a:custGeom>
            <a:solidFill>
              <a:srgbClr val="000000">
                <a:alpha val="0"/>
              </a:srgbClr>
            </a:solidFill>
            <a:ln cap="flat" cmpd="sng" w="28575">
              <a:solidFill>
                <a:srgbClr val="D4A37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8" name="Google Shape;188;p16"/>
          <p:cNvSpPr txBox="1"/>
          <p:nvPr/>
        </p:nvSpPr>
        <p:spPr>
          <a:xfrm>
            <a:off x="476250" y="238125"/>
            <a:ext cx="81915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50">
                <a:solidFill>
                  <a:srgbClr val="2C1E16"/>
                </a:solidFill>
                <a:latin typeface="Playfair Display"/>
                <a:ea typeface="Playfair Display"/>
                <a:cs typeface="Playfair Display"/>
                <a:sym typeface="Playfair Display"/>
              </a:rPr>
              <a:t>Consistent Growth (Jan – Jun)</a:t>
            </a:r>
            <a:endParaRPr b="1" sz="1850">
              <a:solidFill>
                <a:srgbClr val="2C1E16"/>
              </a:solidFill>
              <a:latin typeface="Playfair Display"/>
              <a:ea typeface="Playfair Display"/>
              <a:cs typeface="Playfair Display"/>
              <a:sym typeface="Playfair Display"/>
            </a:endParaRPr>
          </a:p>
          <a:p>
            <a:pPr indent="0" lvl="0" marL="0" rtl="0" algn="l">
              <a:spcBef>
                <a:spcPts val="375"/>
              </a:spcBef>
              <a:spcAft>
                <a:spcPts val="0"/>
              </a:spcAft>
              <a:buNone/>
            </a:pPr>
            <a:r>
              <a:rPr b="1" lang="en" sz="1203">
                <a:solidFill>
                  <a:srgbClr val="C05A3E"/>
                </a:solidFill>
                <a:latin typeface="Lato"/>
                <a:ea typeface="Lato"/>
                <a:cs typeface="Lato"/>
                <a:sym typeface="Lato"/>
              </a:rPr>
              <a:t>Revenue demonstrates consistent month-over-month growth from February through June.</a:t>
            </a:r>
            <a:endParaRPr b="1" sz="1203">
              <a:solidFill>
                <a:srgbClr val="C05A3E"/>
              </a:solidFill>
              <a:latin typeface="Lato"/>
              <a:ea typeface="Lato"/>
              <a:cs typeface="Lato"/>
              <a:sym typeface="Lato"/>
            </a:endParaRPr>
          </a:p>
        </p:txBody>
      </p:sp>
      <p:grpSp>
        <p:nvGrpSpPr>
          <p:cNvPr id="189" name="Google Shape;189;p16"/>
          <p:cNvGrpSpPr/>
          <p:nvPr/>
        </p:nvGrpSpPr>
        <p:grpSpPr>
          <a:xfrm>
            <a:off x="476250" y="1000125"/>
            <a:ext cx="3048000" cy="3619650"/>
            <a:chOff x="0" y="0"/>
            <a:chExt cx="3048000" cy="3619650"/>
          </a:xfrm>
        </p:grpSpPr>
        <p:sp>
          <p:nvSpPr>
            <p:cNvPr id="190" name="Google Shape;190;p16"/>
            <p:cNvSpPr/>
            <p:nvPr/>
          </p:nvSpPr>
          <p:spPr>
            <a:xfrm>
              <a:off x="0" y="0"/>
              <a:ext cx="3048000" cy="2428800"/>
            </a:xfrm>
            <a:prstGeom prst="roundRect">
              <a:avLst>
                <a:gd fmla="val 3137" name="adj"/>
              </a:avLst>
            </a:prstGeom>
            <a:solidFill>
              <a:srgbClr val="FFFFFF"/>
            </a:solidFill>
            <a:ln cap="flat" cmpd="sng" w="9525">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16"/>
            <p:cNvSpPr txBox="1"/>
            <p:nvPr/>
          </p:nvSpPr>
          <p:spPr>
            <a:xfrm>
              <a:off x="190500" y="190500"/>
              <a:ext cx="2667000" cy="20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95">
                  <a:solidFill>
                    <a:srgbClr val="2C1E16"/>
                  </a:solidFill>
                  <a:latin typeface="Playfair Display"/>
                  <a:ea typeface="Playfair Display"/>
                  <a:cs typeface="Playfair Display"/>
                  <a:sym typeface="Playfair Display"/>
                </a:rPr>
                <a:t>Growth Momentum:</a:t>
              </a:r>
              <a:endParaRPr b="1" sz="1295">
                <a:solidFill>
                  <a:srgbClr val="2C1E16"/>
                </a:solidFill>
                <a:latin typeface="Playfair Display"/>
                <a:ea typeface="Playfair Display"/>
                <a:cs typeface="Playfair Display"/>
                <a:sym typeface="Playfair Display"/>
              </a:endParaRPr>
            </a:p>
            <a:p>
              <a:pPr indent="-291783" lvl="0" marL="457200" rtl="0" algn="l">
                <a:lnSpc>
                  <a:spcPct val="150000"/>
                </a:lnSpc>
                <a:spcBef>
                  <a:spcPts val="450"/>
                </a:spcBef>
                <a:spcAft>
                  <a:spcPts val="0"/>
                </a:spcAft>
                <a:buClr>
                  <a:srgbClr val="2C1E16"/>
                </a:buClr>
                <a:buSzPts val="995"/>
                <a:buFont typeface="Playfair Display"/>
                <a:buChar char="●"/>
              </a:pPr>
              <a:r>
                <a:rPr b="1" lang="en" sz="995">
                  <a:solidFill>
                    <a:srgbClr val="2C1E16"/>
                  </a:solidFill>
                  <a:latin typeface="Playfair Display"/>
                  <a:ea typeface="Playfair Display"/>
                  <a:cs typeface="Playfair Display"/>
                  <a:sym typeface="Playfair Display"/>
                </a:rPr>
                <a:t>Feb is the only month that show that </a:t>
              </a:r>
              <a:r>
                <a:rPr b="1" lang="en" sz="995">
                  <a:solidFill>
                    <a:srgbClr val="2C1E16"/>
                  </a:solidFill>
                  <a:latin typeface="Playfair Display"/>
                  <a:ea typeface="Playfair Display"/>
                  <a:cs typeface="Playfair Display"/>
                  <a:sym typeface="Playfair Display"/>
                </a:rPr>
                <a:t>declined</a:t>
              </a:r>
              <a:r>
                <a:rPr b="1" lang="en" sz="995">
                  <a:solidFill>
                    <a:srgbClr val="2C1E16"/>
                  </a:solidFill>
                  <a:latin typeface="Playfair Display"/>
                  <a:ea typeface="Playfair Display"/>
                  <a:cs typeface="Playfair Display"/>
                  <a:sym typeface="Playfair Display"/>
                </a:rPr>
                <a:t> starting from Jan - Jun</a:t>
              </a:r>
              <a:endParaRPr b="1" sz="995">
                <a:solidFill>
                  <a:srgbClr val="2C1E16"/>
                </a:solidFill>
                <a:latin typeface="Playfair Display"/>
                <a:ea typeface="Playfair Display"/>
                <a:cs typeface="Playfair Display"/>
                <a:sym typeface="Playfair Display"/>
              </a:endParaRPr>
            </a:p>
            <a:p>
              <a:pPr indent="-291783" lvl="0" marL="457200" rtl="0" algn="l">
                <a:lnSpc>
                  <a:spcPct val="150000"/>
                </a:lnSpc>
                <a:spcBef>
                  <a:spcPts val="0"/>
                </a:spcBef>
                <a:spcAft>
                  <a:spcPts val="0"/>
                </a:spcAft>
                <a:buClr>
                  <a:srgbClr val="2C1E16"/>
                </a:buClr>
                <a:buSzPts val="995"/>
                <a:buFont typeface="Playfair Display"/>
                <a:buChar char="●"/>
              </a:pPr>
              <a:r>
                <a:rPr b="1" lang="en" sz="995">
                  <a:solidFill>
                    <a:srgbClr val="2C1E16"/>
                  </a:solidFill>
                  <a:latin typeface="Playfair Display"/>
                  <a:ea typeface="Playfair Display"/>
                  <a:cs typeface="Playfair Display"/>
                  <a:sym typeface="Playfair Display"/>
                </a:rPr>
                <a:t> The Decline is might be cause by product we sell.</a:t>
              </a:r>
              <a:endParaRPr b="1" sz="995">
                <a:solidFill>
                  <a:srgbClr val="2C1E16"/>
                </a:solidFill>
                <a:latin typeface="Playfair Display"/>
                <a:ea typeface="Playfair Display"/>
                <a:cs typeface="Playfair Display"/>
                <a:sym typeface="Playfair Display"/>
              </a:endParaRPr>
            </a:p>
            <a:p>
              <a:pPr indent="-291783" lvl="0" marL="457200" rtl="0" algn="l">
                <a:lnSpc>
                  <a:spcPct val="150000"/>
                </a:lnSpc>
                <a:spcBef>
                  <a:spcPts val="0"/>
                </a:spcBef>
                <a:spcAft>
                  <a:spcPts val="0"/>
                </a:spcAft>
                <a:buClr>
                  <a:srgbClr val="2C1E16"/>
                </a:buClr>
                <a:buSzPts val="995"/>
                <a:buFont typeface="Playfair Display"/>
                <a:buChar char="●"/>
              </a:pPr>
              <a:r>
                <a:rPr b="1" lang="en" sz="995">
                  <a:solidFill>
                    <a:srgbClr val="2C1E16"/>
                  </a:solidFill>
                  <a:latin typeface="Playfair Display"/>
                  <a:ea typeface="Playfair Display"/>
                  <a:cs typeface="Playfair Display"/>
                  <a:sym typeface="Playfair Display"/>
                </a:rPr>
                <a:t>We Inclined from March going forward </a:t>
              </a:r>
              <a:endParaRPr b="1" sz="995">
                <a:solidFill>
                  <a:srgbClr val="2C1E16"/>
                </a:solidFill>
                <a:latin typeface="Playfair Display"/>
                <a:ea typeface="Playfair Display"/>
                <a:cs typeface="Playfair Display"/>
                <a:sym typeface="Playfair Display"/>
              </a:endParaRPr>
            </a:p>
            <a:p>
              <a:pPr indent="0" lvl="0" marL="0" rtl="0" algn="l">
                <a:lnSpc>
                  <a:spcPct val="150000"/>
                </a:lnSpc>
                <a:spcBef>
                  <a:spcPts val="450"/>
                </a:spcBef>
                <a:spcAft>
                  <a:spcPts val="0"/>
                </a:spcAft>
                <a:buNone/>
              </a:pPr>
              <a:r>
                <a:t/>
              </a:r>
              <a:endParaRPr b="1" sz="995">
                <a:solidFill>
                  <a:srgbClr val="2C1E16"/>
                </a:solidFill>
                <a:latin typeface="Playfair Display"/>
                <a:ea typeface="Playfair Display"/>
                <a:cs typeface="Playfair Display"/>
                <a:sym typeface="Playfair Display"/>
              </a:endParaRPr>
            </a:p>
            <a:p>
              <a:pPr indent="0" lvl="0" marL="0" rtl="0" algn="l">
                <a:spcBef>
                  <a:spcPts val="450"/>
                </a:spcBef>
                <a:spcAft>
                  <a:spcPts val="0"/>
                </a:spcAft>
                <a:buNone/>
              </a:pPr>
              <a:r>
                <a:t/>
              </a:r>
              <a:endParaRPr b="0" sz="1018">
                <a:solidFill>
                  <a:srgbClr val="2C1E16"/>
                </a:solidFill>
                <a:latin typeface="Lato"/>
                <a:ea typeface="Lato"/>
                <a:cs typeface="Lato"/>
                <a:sym typeface="Lato"/>
              </a:endParaRPr>
            </a:p>
          </p:txBody>
        </p:sp>
        <p:grpSp>
          <p:nvGrpSpPr>
            <p:cNvPr id="192" name="Google Shape;192;p16"/>
            <p:cNvGrpSpPr/>
            <p:nvPr/>
          </p:nvGrpSpPr>
          <p:grpSpPr>
            <a:xfrm>
              <a:off x="0" y="2571750"/>
              <a:ext cx="1447800" cy="1047900"/>
              <a:chOff x="0" y="0"/>
              <a:chExt cx="1447800" cy="1047900"/>
            </a:xfrm>
          </p:grpSpPr>
          <p:sp>
            <p:nvSpPr>
              <p:cNvPr id="193" name="Google Shape;193;p16"/>
              <p:cNvSpPr/>
              <p:nvPr/>
            </p:nvSpPr>
            <p:spPr>
              <a:xfrm>
                <a:off x="0" y="0"/>
                <a:ext cx="1447800" cy="1047900"/>
              </a:xfrm>
              <a:prstGeom prst="roundRect">
                <a:avLst>
                  <a:gd fmla="val 7272" name="adj"/>
                </a:avLst>
              </a:prstGeom>
              <a:solidFill>
                <a:srgbClr val="EADDC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6"/>
              <p:cNvSpPr txBox="1"/>
              <p:nvPr/>
            </p:nvSpPr>
            <p:spPr>
              <a:xfrm>
                <a:off x="114300" y="142875"/>
                <a:ext cx="12192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C05A3E"/>
                    </a:solidFill>
                    <a:latin typeface="Playfair Display"/>
                    <a:ea typeface="Playfair Display"/>
                    <a:cs typeface="Playfair Display"/>
                    <a:sym typeface="Playfair Display"/>
                  </a:rPr>
                  <a:t>$166,486</a:t>
                </a:r>
                <a:endParaRPr b="1" sz="1800">
                  <a:solidFill>
                    <a:srgbClr val="C05A3E"/>
                  </a:solidFill>
                  <a:latin typeface="Playfair Display"/>
                  <a:ea typeface="Playfair Display"/>
                  <a:cs typeface="Playfair Display"/>
                  <a:sym typeface="Playfair Display"/>
                </a:endParaRPr>
              </a:p>
              <a:p>
                <a:pPr indent="0" lvl="0" marL="0" rtl="0" algn="ctr">
                  <a:spcBef>
                    <a:spcPts val="300"/>
                  </a:spcBef>
                  <a:spcAft>
                    <a:spcPts val="0"/>
                  </a:spcAft>
                  <a:buNone/>
                </a:pPr>
                <a:r>
                  <a:rPr b="1" lang="en" sz="1000">
                    <a:solidFill>
                      <a:srgbClr val="5A4634"/>
                    </a:solidFill>
                    <a:latin typeface="Lato"/>
                    <a:ea typeface="Lato"/>
                    <a:cs typeface="Lato"/>
                    <a:sym typeface="Lato"/>
                  </a:rPr>
                  <a:t>June Peak</a:t>
                </a:r>
                <a:endParaRPr b="1" sz="1000">
                  <a:solidFill>
                    <a:srgbClr val="5A4634"/>
                  </a:solidFill>
                  <a:latin typeface="Lato"/>
                  <a:ea typeface="Lato"/>
                  <a:cs typeface="Lato"/>
                  <a:sym typeface="Lato"/>
                </a:endParaRPr>
              </a:p>
            </p:txBody>
          </p:sp>
        </p:grpSp>
        <p:grpSp>
          <p:nvGrpSpPr>
            <p:cNvPr id="195" name="Google Shape;195;p16"/>
            <p:cNvGrpSpPr/>
            <p:nvPr/>
          </p:nvGrpSpPr>
          <p:grpSpPr>
            <a:xfrm>
              <a:off x="1600200" y="2571750"/>
              <a:ext cx="1447800" cy="1047900"/>
              <a:chOff x="0" y="0"/>
              <a:chExt cx="1447800" cy="1047900"/>
            </a:xfrm>
          </p:grpSpPr>
          <p:sp>
            <p:nvSpPr>
              <p:cNvPr id="196" name="Google Shape;196;p16"/>
              <p:cNvSpPr/>
              <p:nvPr/>
            </p:nvSpPr>
            <p:spPr>
              <a:xfrm>
                <a:off x="0" y="0"/>
                <a:ext cx="1447800" cy="1047900"/>
              </a:xfrm>
              <a:prstGeom prst="roundRect">
                <a:avLst>
                  <a:gd fmla="val 7272" name="adj"/>
                </a:avLst>
              </a:prstGeom>
              <a:solidFill>
                <a:srgbClr val="EADDC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16"/>
              <p:cNvSpPr txBox="1"/>
              <p:nvPr/>
            </p:nvSpPr>
            <p:spPr>
              <a:xfrm>
                <a:off x="114300" y="142875"/>
                <a:ext cx="12192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C05A3E"/>
                    </a:solidFill>
                    <a:latin typeface="Playfair Display"/>
                    <a:ea typeface="Playfair Display"/>
                    <a:cs typeface="Playfair Display"/>
                    <a:sym typeface="Playfair Display"/>
                  </a:rPr>
                  <a:t>+118.6%</a:t>
                </a:r>
                <a:endParaRPr b="1" sz="1800">
                  <a:solidFill>
                    <a:srgbClr val="C05A3E"/>
                  </a:solidFill>
                  <a:latin typeface="Playfair Display"/>
                  <a:ea typeface="Playfair Display"/>
                  <a:cs typeface="Playfair Display"/>
                  <a:sym typeface="Playfair Display"/>
                </a:endParaRPr>
              </a:p>
              <a:p>
                <a:pPr indent="0" lvl="0" marL="0" rtl="0" algn="ctr">
                  <a:spcBef>
                    <a:spcPts val="300"/>
                  </a:spcBef>
                  <a:spcAft>
                    <a:spcPts val="0"/>
                  </a:spcAft>
                  <a:buNone/>
                </a:pPr>
                <a:r>
                  <a:rPr b="1" lang="en" sz="1000">
                    <a:solidFill>
                      <a:srgbClr val="5A4634"/>
                    </a:solidFill>
                    <a:latin typeface="Lato"/>
                    <a:ea typeface="Lato"/>
                    <a:cs typeface="Lato"/>
                    <a:sym typeface="Lato"/>
                  </a:rPr>
                  <a:t>Feb to Jun Gain</a:t>
                </a:r>
                <a:endParaRPr b="1" sz="1000">
                  <a:solidFill>
                    <a:srgbClr val="5A4634"/>
                  </a:solidFill>
                  <a:latin typeface="Lato"/>
                  <a:ea typeface="Lato"/>
                  <a:cs typeface="Lato"/>
                  <a:sym typeface="Lato"/>
                </a:endParaRPr>
              </a:p>
            </p:txBody>
          </p:sp>
        </p:grpSp>
      </p:grpSp>
      <p:grpSp>
        <p:nvGrpSpPr>
          <p:cNvPr id="198" name="Google Shape;198;p16"/>
          <p:cNvGrpSpPr/>
          <p:nvPr/>
        </p:nvGrpSpPr>
        <p:grpSpPr>
          <a:xfrm>
            <a:off x="3810000" y="1000125"/>
            <a:ext cx="4857900" cy="3619500"/>
            <a:chOff x="0" y="0"/>
            <a:chExt cx="4857900" cy="3619500"/>
          </a:xfrm>
        </p:grpSpPr>
        <p:sp>
          <p:nvSpPr>
            <p:cNvPr id="199" name="Google Shape;199;p16"/>
            <p:cNvSpPr/>
            <p:nvPr/>
          </p:nvSpPr>
          <p:spPr>
            <a:xfrm>
              <a:off x="0" y="0"/>
              <a:ext cx="4857900" cy="3619500"/>
            </a:xfrm>
            <a:prstGeom prst="roundRect">
              <a:avLst>
                <a:gd fmla="val 2105" name="adj"/>
              </a:avLst>
            </a:prstGeom>
            <a:solidFill>
              <a:srgbClr val="FFFFFF"/>
            </a:solidFill>
            <a:ln cap="flat" cmpd="sng" w="9525">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6"/>
            <p:cNvSpPr txBox="1"/>
            <p:nvPr/>
          </p:nvSpPr>
          <p:spPr>
            <a:xfrm>
              <a:off x="238125" y="190500"/>
              <a:ext cx="4381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2C1E16"/>
                  </a:solidFill>
                  <a:latin typeface="Lato"/>
                  <a:ea typeface="Lato"/>
                  <a:cs typeface="Lato"/>
                  <a:sym typeface="Lato"/>
                </a:rPr>
                <a:t>Monthly Revenue Progression ($USD)</a:t>
              </a:r>
              <a:endParaRPr b="1" sz="1100">
                <a:solidFill>
                  <a:srgbClr val="2C1E16"/>
                </a:solidFill>
                <a:latin typeface="Lato"/>
                <a:ea typeface="Lato"/>
                <a:cs typeface="Lato"/>
                <a:sym typeface="Lato"/>
              </a:endParaRPr>
            </a:p>
          </p:txBody>
        </p:sp>
      </p:grpSp>
      <p:grpSp>
        <p:nvGrpSpPr>
          <p:cNvPr id="201" name="Google Shape;201;p16"/>
          <p:cNvGrpSpPr/>
          <p:nvPr/>
        </p:nvGrpSpPr>
        <p:grpSpPr>
          <a:xfrm>
            <a:off x="4048125" y="1571625"/>
            <a:ext cx="5314950" cy="2590800"/>
            <a:chOff x="0" y="0"/>
            <a:chExt cx="5314950" cy="2590800"/>
          </a:xfrm>
        </p:grpSpPr>
        <p:grpSp>
          <p:nvGrpSpPr>
            <p:cNvPr id="202" name="Google Shape;202;p16"/>
            <p:cNvGrpSpPr/>
            <p:nvPr/>
          </p:nvGrpSpPr>
          <p:grpSpPr>
            <a:xfrm>
              <a:off x="0" y="0"/>
              <a:ext cx="3467100" cy="304800"/>
              <a:chOff x="0" y="0"/>
              <a:chExt cx="3467100" cy="304800"/>
            </a:xfrm>
          </p:grpSpPr>
          <p:sp>
            <p:nvSpPr>
              <p:cNvPr id="203" name="Google Shape;203;p16"/>
              <p:cNvSpPr txBox="1"/>
              <p:nvPr/>
            </p:nvSpPr>
            <p:spPr>
              <a:xfrm>
                <a:off x="0" y="0"/>
                <a:ext cx="476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5A4634"/>
                    </a:solidFill>
                    <a:latin typeface="Lato"/>
                    <a:ea typeface="Lato"/>
                    <a:cs typeface="Lato"/>
                    <a:sym typeface="Lato"/>
                  </a:rPr>
                  <a:t>JAN</a:t>
                </a:r>
                <a:endParaRPr b="1" sz="1000">
                  <a:solidFill>
                    <a:srgbClr val="5A4634"/>
                  </a:solidFill>
                  <a:latin typeface="Lato"/>
                  <a:ea typeface="Lato"/>
                  <a:cs typeface="Lato"/>
                  <a:sym typeface="Lato"/>
                </a:endParaRPr>
              </a:p>
            </p:txBody>
          </p:sp>
          <p:sp>
            <p:nvSpPr>
              <p:cNvPr id="204" name="Google Shape;204;p16"/>
              <p:cNvSpPr/>
              <p:nvPr/>
            </p:nvSpPr>
            <p:spPr>
              <a:xfrm>
                <a:off x="476250" y="28575"/>
                <a:ext cx="1771800" cy="247800"/>
              </a:xfrm>
              <a:prstGeom prst="roundRect">
                <a:avLst>
                  <a:gd fmla="val 15384" name="adj"/>
                </a:avLst>
              </a:prstGeom>
              <a:solidFill>
                <a:srgbClr val="7A8B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16"/>
              <p:cNvSpPr txBox="1"/>
              <p:nvPr/>
            </p:nvSpPr>
            <p:spPr>
              <a:xfrm>
                <a:off x="2324100" y="0"/>
                <a:ext cx="11430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2C1E16"/>
                    </a:solidFill>
                    <a:latin typeface="Lato"/>
                    <a:ea typeface="Lato"/>
                    <a:cs typeface="Lato"/>
                    <a:sym typeface="Lato"/>
                  </a:rPr>
                  <a:t>$81,677.70</a:t>
                </a:r>
                <a:endParaRPr b="1" sz="1000">
                  <a:solidFill>
                    <a:srgbClr val="2C1E16"/>
                  </a:solidFill>
                  <a:latin typeface="Lato"/>
                  <a:ea typeface="Lato"/>
                  <a:cs typeface="Lato"/>
                  <a:sym typeface="Lato"/>
                </a:endParaRPr>
              </a:p>
            </p:txBody>
          </p:sp>
        </p:grpSp>
        <p:grpSp>
          <p:nvGrpSpPr>
            <p:cNvPr id="206" name="Google Shape;206;p16"/>
            <p:cNvGrpSpPr/>
            <p:nvPr/>
          </p:nvGrpSpPr>
          <p:grpSpPr>
            <a:xfrm>
              <a:off x="0" y="457200"/>
              <a:ext cx="3343275" cy="304800"/>
              <a:chOff x="0" y="0"/>
              <a:chExt cx="3343275" cy="304800"/>
            </a:xfrm>
          </p:grpSpPr>
          <p:sp>
            <p:nvSpPr>
              <p:cNvPr id="207" name="Google Shape;207;p16"/>
              <p:cNvSpPr txBox="1"/>
              <p:nvPr/>
            </p:nvSpPr>
            <p:spPr>
              <a:xfrm>
                <a:off x="0" y="0"/>
                <a:ext cx="476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5A4634"/>
                    </a:solidFill>
                    <a:latin typeface="Lato"/>
                    <a:ea typeface="Lato"/>
                    <a:cs typeface="Lato"/>
                    <a:sym typeface="Lato"/>
                  </a:rPr>
                  <a:t>FEB</a:t>
                </a:r>
                <a:endParaRPr b="1" sz="1000">
                  <a:solidFill>
                    <a:srgbClr val="5A4634"/>
                  </a:solidFill>
                  <a:latin typeface="Lato"/>
                  <a:ea typeface="Lato"/>
                  <a:cs typeface="Lato"/>
                  <a:sym typeface="Lato"/>
                </a:endParaRPr>
              </a:p>
            </p:txBody>
          </p:sp>
          <p:sp>
            <p:nvSpPr>
              <p:cNvPr id="208" name="Google Shape;208;p16"/>
              <p:cNvSpPr/>
              <p:nvPr/>
            </p:nvSpPr>
            <p:spPr>
              <a:xfrm>
                <a:off x="476250" y="28575"/>
                <a:ext cx="1647900" cy="247800"/>
              </a:xfrm>
              <a:prstGeom prst="roundRect">
                <a:avLst>
                  <a:gd fmla="val 15384" name="adj"/>
                </a:avLst>
              </a:prstGeom>
              <a:solidFill>
                <a:srgbClr val="D4A37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16"/>
              <p:cNvSpPr txBox="1"/>
              <p:nvPr/>
            </p:nvSpPr>
            <p:spPr>
              <a:xfrm>
                <a:off x="2200275" y="0"/>
                <a:ext cx="11430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2C1E16"/>
                    </a:solidFill>
                    <a:latin typeface="Lato"/>
                    <a:ea typeface="Lato"/>
                    <a:cs typeface="Lato"/>
                    <a:sym typeface="Lato"/>
                  </a:rPr>
                  <a:t>$76,145.20</a:t>
                </a:r>
                <a:endParaRPr b="1" sz="1000">
                  <a:solidFill>
                    <a:srgbClr val="2C1E16"/>
                  </a:solidFill>
                  <a:latin typeface="Lato"/>
                  <a:ea typeface="Lato"/>
                  <a:cs typeface="Lato"/>
                  <a:sym typeface="Lato"/>
                </a:endParaRPr>
              </a:p>
            </p:txBody>
          </p:sp>
        </p:grpSp>
        <p:grpSp>
          <p:nvGrpSpPr>
            <p:cNvPr id="210" name="Google Shape;210;p16"/>
            <p:cNvGrpSpPr/>
            <p:nvPr/>
          </p:nvGrpSpPr>
          <p:grpSpPr>
            <a:xfrm>
              <a:off x="0" y="914400"/>
              <a:ext cx="3838575" cy="304800"/>
              <a:chOff x="0" y="0"/>
              <a:chExt cx="3838575" cy="304800"/>
            </a:xfrm>
          </p:grpSpPr>
          <p:sp>
            <p:nvSpPr>
              <p:cNvPr id="211" name="Google Shape;211;p16"/>
              <p:cNvSpPr txBox="1"/>
              <p:nvPr/>
            </p:nvSpPr>
            <p:spPr>
              <a:xfrm>
                <a:off x="0" y="0"/>
                <a:ext cx="476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5A4634"/>
                    </a:solidFill>
                    <a:latin typeface="Lato"/>
                    <a:ea typeface="Lato"/>
                    <a:cs typeface="Lato"/>
                    <a:sym typeface="Lato"/>
                  </a:rPr>
                  <a:t>MAR</a:t>
                </a:r>
                <a:endParaRPr b="1" sz="1000">
                  <a:solidFill>
                    <a:srgbClr val="5A4634"/>
                  </a:solidFill>
                  <a:latin typeface="Lato"/>
                  <a:ea typeface="Lato"/>
                  <a:cs typeface="Lato"/>
                  <a:sym typeface="Lato"/>
                </a:endParaRPr>
              </a:p>
            </p:txBody>
          </p:sp>
          <p:sp>
            <p:nvSpPr>
              <p:cNvPr id="212" name="Google Shape;212;p16"/>
              <p:cNvSpPr/>
              <p:nvPr/>
            </p:nvSpPr>
            <p:spPr>
              <a:xfrm>
                <a:off x="476250" y="28575"/>
                <a:ext cx="2143200" cy="247800"/>
              </a:xfrm>
              <a:prstGeom prst="roundRect">
                <a:avLst>
                  <a:gd fmla="val 15384" name="adj"/>
                </a:avLst>
              </a:prstGeom>
              <a:solidFill>
                <a:srgbClr val="5A463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6"/>
              <p:cNvSpPr txBox="1"/>
              <p:nvPr/>
            </p:nvSpPr>
            <p:spPr>
              <a:xfrm>
                <a:off x="2695575" y="0"/>
                <a:ext cx="11430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2C1E16"/>
                    </a:solidFill>
                    <a:latin typeface="Lato"/>
                    <a:ea typeface="Lato"/>
                    <a:cs typeface="Lato"/>
                    <a:sym typeface="Lato"/>
                  </a:rPr>
                  <a:t>$98,834.70</a:t>
                </a:r>
                <a:endParaRPr b="1" sz="1000">
                  <a:solidFill>
                    <a:srgbClr val="2C1E16"/>
                  </a:solidFill>
                  <a:latin typeface="Lato"/>
                  <a:ea typeface="Lato"/>
                  <a:cs typeface="Lato"/>
                  <a:sym typeface="Lato"/>
                </a:endParaRPr>
              </a:p>
            </p:txBody>
          </p:sp>
        </p:grpSp>
        <p:grpSp>
          <p:nvGrpSpPr>
            <p:cNvPr id="214" name="Google Shape;214;p16"/>
            <p:cNvGrpSpPr/>
            <p:nvPr/>
          </p:nvGrpSpPr>
          <p:grpSpPr>
            <a:xfrm>
              <a:off x="0" y="1371600"/>
              <a:ext cx="4276725" cy="304800"/>
              <a:chOff x="0" y="0"/>
              <a:chExt cx="4276725" cy="304800"/>
            </a:xfrm>
          </p:grpSpPr>
          <p:sp>
            <p:nvSpPr>
              <p:cNvPr id="215" name="Google Shape;215;p16"/>
              <p:cNvSpPr txBox="1"/>
              <p:nvPr/>
            </p:nvSpPr>
            <p:spPr>
              <a:xfrm>
                <a:off x="0" y="0"/>
                <a:ext cx="476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5A4634"/>
                    </a:solidFill>
                    <a:latin typeface="Lato"/>
                    <a:ea typeface="Lato"/>
                    <a:cs typeface="Lato"/>
                    <a:sym typeface="Lato"/>
                  </a:rPr>
                  <a:t>APR</a:t>
                </a:r>
                <a:endParaRPr b="1" sz="1000">
                  <a:solidFill>
                    <a:srgbClr val="5A4634"/>
                  </a:solidFill>
                  <a:latin typeface="Lato"/>
                  <a:ea typeface="Lato"/>
                  <a:cs typeface="Lato"/>
                  <a:sym typeface="Lato"/>
                </a:endParaRPr>
              </a:p>
            </p:txBody>
          </p:sp>
          <p:sp>
            <p:nvSpPr>
              <p:cNvPr id="216" name="Google Shape;216;p16"/>
              <p:cNvSpPr/>
              <p:nvPr/>
            </p:nvSpPr>
            <p:spPr>
              <a:xfrm>
                <a:off x="476250" y="28575"/>
                <a:ext cx="2581200" cy="247800"/>
              </a:xfrm>
              <a:prstGeom prst="roundRect">
                <a:avLst>
                  <a:gd fmla="val 15384" name="adj"/>
                </a:avLst>
              </a:prstGeom>
              <a:solidFill>
                <a:srgbClr val="5A463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16"/>
              <p:cNvSpPr txBox="1"/>
              <p:nvPr/>
            </p:nvSpPr>
            <p:spPr>
              <a:xfrm>
                <a:off x="3133725" y="0"/>
                <a:ext cx="11430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2C1E16"/>
                    </a:solidFill>
                    <a:latin typeface="Lato"/>
                    <a:ea typeface="Lato"/>
                    <a:cs typeface="Lato"/>
                    <a:sym typeface="Lato"/>
                  </a:rPr>
                  <a:t>$118,941.00</a:t>
                </a:r>
                <a:endParaRPr b="1" sz="1000">
                  <a:solidFill>
                    <a:srgbClr val="2C1E16"/>
                  </a:solidFill>
                  <a:latin typeface="Lato"/>
                  <a:ea typeface="Lato"/>
                  <a:cs typeface="Lato"/>
                  <a:sym typeface="Lato"/>
                </a:endParaRPr>
              </a:p>
            </p:txBody>
          </p:sp>
        </p:grpSp>
        <p:grpSp>
          <p:nvGrpSpPr>
            <p:cNvPr id="218" name="Google Shape;218;p16"/>
            <p:cNvGrpSpPr/>
            <p:nvPr/>
          </p:nvGrpSpPr>
          <p:grpSpPr>
            <a:xfrm>
              <a:off x="0" y="1828800"/>
              <a:ext cx="5095875" cy="304800"/>
              <a:chOff x="0" y="0"/>
              <a:chExt cx="5095875" cy="304800"/>
            </a:xfrm>
          </p:grpSpPr>
          <p:sp>
            <p:nvSpPr>
              <p:cNvPr id="219" name="Google Shape;219;p16"/>
              <p:cNvSpPr txBox="1"/>
              <p:nvPr/>
            </p:nvSpPr>
            <p:spPr>
              <a:xfrm>
                <a:off x="0" y="0"/>
                <a:ext cx="476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5A4634"/>
                    </a:solidFill>
                    <a:latin typeface="Lato"/>
                    <a:ea typeface="Lato"/>
                    <a:cs typeface="Lato"/>
                    <a:sym typeface="Lato"/>
                  </a:rPr>
                  <a:t>MAY</a:t>
                </a:r>
                <a:endParaRPr b="1" sz="1000">
                  <a:solidFill>
                    <a:srgbClr val="5A4634"/>
                  </a:solidFill>
                  <a:latin typeface="Lato"/>
                  <a:ea typeface="Lato"/>
                  <a:cs typeface="Lato"/>
                  <a:sym typeface="Lato"/>
                </a:endParaRPr>
              </a:p>
            </p:txBody>
          </p:sp>
          <p:sp>
            <p:nvSpPr>
              <p:cNvPr id="220" name="Google Shape;220;p16"/>
              <p:cNvSpPr/>
              <p:nvPr/>
            </p:nvSpPr>
            <p:spPr>
              <a:xfrm>
                <a:off x="476250" y="28575"/>
                <a:ext cx="3400500" cy="247800"/>
              </a:xfrm>
              <a:prstGeom prst="roundRect">
                <a:avLst>
                  <a:gd fmla="val 15384" name="adj"/>
                </a:avLst>
              </a:prstGeom>
              <a:solidFill>
                <a:srgbClr val="C05A3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16"/>
              <p:cNvSpPr txBox="1"/>
              <p:nvPr/>
            </p:nvSpPr>
            <p:spPr>
              <a:xfrm>
                <a:off x="3952875" y="0"/>
                <a:ext cx="11430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C05A3E"/>
                    </a:solidFill>
                    <a:latin typeface="Lato"/>
                    <a:ea typeface="Lato"/>
                    <a:cs typeface="Lato"/>
                    <a:sym typeface="Lato"/>
                  </a:rPr>
                  <a:t>$156,728.00</a:t>
                </a:r>
                <a:endParaRPr b="1" sz="1000">
                  <a:solidFill>
                    <a:srgbClr val="C05A3E"/>
                  </a:solidFill>
                  <a:latin typeface="Lato"/>
                  <a:ea typeface="Lato"/>
                  <a:cs typeface="Lato"/>
                  <a:sym typeface="Lato"/>
                </a:endParaRPr>
              </a:p>
            </p:txBody>
          </p:sp>
        </p:grpSp>
        <p:grpSp>
          <p:nvGrpSpPr>
            <p:cNvPr id="222" name="Google Shape;222;p16"/>
            <p:cNvGrpSpPr/>
            <p:nvPr/>
          </p:nvGrpSpPr>
          <p:grpSpPr>
            <a:xfrm>
              <a:off x="0" y="2286000"/>
              <a:ext cx="5314950" cy="304800"/>
              <a:chOff x="0" y="0"/>
              <a:chExt cx="5314950" cy="304800"/>
            </a:xfrm>
          </p:grpSpPr>
          <p:sp>
            <p:nvSpPr>
              <p:cNvPr id="223" name="Google Shape;223;p16"/>
              <p:cNvSpPr txBox="1"/>
              <p:nvPr/>
            </p:nvSpPr>
            <p:spPr>
              <a:xfrm>
                <a:off x="0" y="0"/>
                <a:ext cx="476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C05A3E"/>
                    </a:solidFill>
                    <a:latin typeface="Lato"/>
                    <a:ea typeface="Lato"/>
                    <a:cs typeface="Lato"/>
                    <a:sym typeface="Lato"/>
                  </a:rPr>
                  <a:t>JUN</a:t>
                </a:r>
                <a:endParaRPr b="1" sz="1000">
                  <a:solidFill>
                    <a:srgbClr val="C05A3E"/>
                  </a:solidFill>
                  <a:latin typeface="Lato"/>
                  <a:ea typeface="Lato"/>
                  <a:cs typeface="Lato"/>
                  <a:sym typeface="Lato"/>
                </a:endParaRPr>
              </a:p>
            </p:txBody>
          </p:sp>
          <p:sp>
            <p:nvSpPr>
              <p:cNvPr id="224" name="Google Shape;224;p16"/>
              <p:cNvSpPr/>
              <p:nvPr/>
            </p:nvSpPr>
            <p:spPr>
              <a:xfrm>
                <a:off x="476250" y="28575"/>
                <a:ext cx="3619500" cy="247800"/>
              </a:xfrm>
              <a:prstGeom prst="roundRect">
                <a:avLst>
                  <a:gd fmla="val 15384" name="adj"/>
                </a:avLst>
              </a:pr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6"/>
              <p:cNvSpPr txBox="1"/>
              <p:nvPr/>
            </p:nvSpPr>
            <p:spPr>
              <a:xfrm>
                <a:off x="4171950" y="0"/>
                <a:ext cx="11430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2C1E16"/>
                    </a:solidFill>
                    <a:latin typeface="Lato"/>
                    <a:ea typeface="Lato"/>
                    <a:cs typeface="Lato"/>
                    <a:sym typeface="Lato"/>
                  </a:rPr>
                  <a:t>$166,486.00</a:t>
                </a:r>
                <a:endParaRPr b="1" sz="1000">
                  <a:solidFill>
                    <a:srgbClr val="2C1E16"/>
                  </a:solidFill>
                  <a:latin typeface="Lato"/>
                  <a:ea typeface="Lato"/>
                  <a:cs typeface="Lato"/>
                  <a:sym typeface="Lato"/>
                </a:endParaRPr>
              </a:p>
            </p:txBody>
          </p:sp>
        </p:grpSp>
      </p:grpSp>
      <p:pic>
        <p:nvPicPr>
          <p:cNvPr id="226" name="Google Shape;226;p16"/>
          <p:cNvPicPr preferRelativeResize="0"/>
          <p:nvPr/>
        </p:nvPicPr>
        <p:blipFill rotWithShape="1">
          <a:blip r:embed="rId3">
            <a:alphaModFix/>
          </a:blip>
          <a:srcRect b="0" l="0" r="0" t="0"/>
          <a:stretch/>
        </p:blipFill>
        <p:spPr>
          <a:xfrm>
            <a:off x="4514850" y="871538"/>
            <a:ext cx="1957500" cy="2262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0" name="Shape 230"/>
        <p:cNvGrpSpPr/>
        <p:nvPr/>
      </p:nvGrpSpPr>
      <p:grpSpPr>
        <a:xfrm>
          <a:off x="0" y="0"/>
          <a:ext cx="0" cy="0"/>
          <a:chOff x="0" y="0"/>
          <a:chExt cx="0" cy="0"/>
        </a:xfrm>
      </p:grpSpPr>
      <p:cxnSp>
        <p:nvCxnSpPr>
          <p:cNvPr id="231" name="Google Shape;231;p17"/>
          <p:cNvCxnSpPr/>
          <p:nvPr/>
        </p:nvCxnSpPr>
        <p:spPr>
          <a:xfrm>
            <a:off x="476250" y="809625"/>
            <a:ext cx="8191500" cy="0"/>
          </a:xfrm>
          <a:prstGeom prst="straightConnector1">
            <a:avLst/>
          </a:prstGeom>
          <a:solidFill>
            <a:srgbClr val="FFFFFF"/>
          </a:solidFill>
          <a:ln cap="flat" cmpd="sng" w="19050">
            <a:solidFill>
              <a:srgbClr val="D4A373"/>
            </a:solidFill>
            <a:prstDash val="solid"/>
            <a:round/>
            <a:headEnd len="sm" w="sm" type="none"/>
            <a:tailEnd len="sm" w="sm" type="none"/>
          </a:ln>
        </p:spPr>
      </p:cxnSp>
      <p:grpSp>
        <p:nvGrpSpPr>
          <p:cNvPr id="232" name="Google Shape;232;p17"/>
          <p:cNvGrpSpPr/>
          <p:nvPr/>
        </p:nvGrpSpPr>
        <p:grpSpPr>
          <a:xfrm>
            <a:off x="8248650" y="200063"/>
            <a:ext cx="342990" cy="238132"/>
            <a:chOff x="95250" y="-63436"/>
            <a:chExt cx="571650" cy="396887"/>
          </a:xfrm>
        </p:grpSpPr>
        <p:sp>
          <p:nvSpPr>
            <p:cNvPr id="233" name="Google Shape;233;p17"/>
            <p:cNvSpPr/>
            <p:nvPr/>
          </p:nvSpPr>
          <p:spPr>
            <a:xfrm>
              <a:off x="95250" y="95250"/>
              <a:ext cx="476400" cy="238200"/>
            </a:xfrm>
            <a:custGeom>
              <a:rect b="b" l="l" r="r" t="t"/>
              <a:pathLst>
                <a:path extrusionOk="0" h="120000" w="120000">
                  <a:moveTo>
                    <a:pt x="0" y="0"/>
                  </a:moveTo>
                  <a:cubicBezTo>
                    <a:pt x="0" y="72002"/>
                    <a:pt x="23999" y="120000"/>
                    <a:pt x="60000" y="120000"/>
                  </a:cubicBezTo>
                  <a:cubicBezTo>
                    <a:pt x="96001" y="120000"/>
                    <a:pt x="120000" y="72002"/>
                    <a:pt x="120000" y="0"/>
                  </a:cubicBezTo>
                  <a:lnTo>
                    <a:pt x="0" y="0"/>
                  </a:lnTo>
                  <a:close/>
                </a:path>
              </a:pathLst>
            </a:cu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 name="Google Shape;234;p17"/>
            <p:cNvSpPr/>
            <p:nvPr/>
          </p:nvSpPr>
          <p:spPr>
            <a:xfrm>
              <a:off x="571500" y="142875"/>
              <a:ext cx="95400" cy="162000"/>
            </a:xfrm>
            <a:custGeom>
              <a:rect b="b" l="l" r="r" t="t"/>
              <a:pathLst>
                <a:path extrusionOk="0" h="120000" w="120000">
                  <a:moveTo>
                    <a:pt x="0" y="0"/>
                  </a:moveTo>
                  <a:cubicBezTo>
                    <a:pt x="96007" y="0"/>
                    <a:pt x="120000" y="35296"/>
                    <a:pt x="120000" y="70592"/>
                  </a:cubicBezTo>
                  <a:cubicBezTo>
                    <a:pt x="120000" y="105889"/>
                    <a:pt x="60000" y="120000"/>
                    <a:pt x="0" y="120000"/>
                  </a:cubicBezTo>
                </a:path>
              </a:pathLst>
            </a:custGeom>
            <a:solidFill>
              <a:srgbClr val="000000"/>
            </a:solidFill>
            <a:ln cap="flat" cmpd="sng" w="38100">
              <a:solidFill>
                <a:srgbClr val="2C1E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17"/>
            <p:cNvSpPr/>
            <p:nvPr/>
          </p:nvSpPr>
          <p:spPr>
            <a:xfrm>
              <a:off x="295275" y="152400"/>
              <a:ext cx="76200" cy="76200"/>
            </a:xfrm>
            <a:prstGeom prst="ellipse">
              <a:avLst/>
            </a:prstGeom>
            <a:solidFill>
              <a:srgbClr val="F9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17"/>
            <p:cNvSpPr/>
            <p:nvPr/>
          </p:nvSpPr>
          <p:spPr>
            <a:xfrm>
              <a:off x="238125" y="-63436"/>
              <a:ext cx="190500" cy="63600"/>
            </a:xfrm>
            <a:custGeom>
              <a:rect b="b" l="l" r="r" t="t"/>
              <a:pathLst>
                <a:path extrusionOk="0" h="120000" w="120000">
                  <a:moveTo>
                    <a:pt x="0" y="120000"/>
                  </a:moveTo>
                  <a:cubicBezTo>
                    <a:pt x="19980" y="0"/>
                    <a:pt x="40020" y="0"/>
                    <a:pt x="60000" y="120000"/>
                  </a:cubicBezTo>
                  <a:lnTo>
                    <a:pt x="120000" y="120000"/>
                  </a:lnTo>
                </a:path>
              </a:pathLst>
            </a:custGeom>
            <a:solidFill>
              <a:srgbClr val="000000"/>
            </a:solidFill>
            <a:ln cap="flat" cmpd="sng" w="28575">
              <a:solidFill>
                <a:srgbClr val="D4A37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37" name="Google Shape;237;p17"/>
          <p:cNvSpPr txBox="1"/>
          <p:nvPr/>
        </p:nvSpPr>
        <p:spPr>
          <a:xfrm>
            <a:off x="476250" y="209550"/>
            <a:ext cx="7524900" cy="552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C05A3E"/>
                </a:solidFill>
                <a:latin typeface="Lato"/>
                <a:ea typeface="Lato"/>
                <a:cs typeface="Lato"/>
                <a:sym typeface="Lato"/>
              </a:rPr>
              <a:t>Geographical Revenue Distribution</a:t>
            </a:r>
            <a:endParaRPr b="1" sz="900">
              <a:solidFill>
                <a:srgbClr val="C05A3E"/>
              </a:solidFill>
              <a:latin typeface="Lato"/>
              <a:ea typeface="Lato"/>
              <a:cs typeface="Lato"/>
              <a:sym typeface="Lato"/>
            </a:endParaRPr>
          </a:p>
          <a:p>
            <a:pPr indent="0" lvl="0" marL="0" rtl="0" algn="l">
              <a:spcBef>
                <a:spcPts val="200"/>
              </a:spcBef>
              <a:spcAft>
                <a:spcPts val="0"/>
              </a:spcAft>
              <a:buNone/>
            </a:pPr>
            <a:r>
              <a:rPr b="1" lang="en" sz="1800">
                <a:solidFill>
                  <a:srgbClr val="2C1E16"/>
                </a:solidFill>
                <a:latin typeface="Playfair Display"/>
                <a:ea typeface="Playfair Display"/>
                <a:cs typeface="Playfair Display"/>
                <a:sym typeface="Playfair Display"/>
              </a:rPr>
              <a:t>All three store locations contribute equally to the overall revenue pool.</a:t>
            </a:r>
            <a:endParaRPr b="1" sz="1800">
              <a:solidFill>
                <a:srgbClr val="2C1E16"/>
              </a:solidFill>
              <a:latin typeface="Playfair Display"/>
              <a:ea typeface="Playfair Display"/>
              <a:cs typeface="Playfair Display"/>
              <a:sym typeface="Playfair Display"/>
            </a:endParaRPr>
          </a:p>
        </p:txBody>
      </p:sp>
      <p:grpSp>
        <p:nvGrpSpPr>
          <p:cNvPr id="238" name="Google Shape;238;p17"/>
          <p:cNvGrpSpPr/>
          <p:nvPr/>
        </p:nvGrpSpPr>
        <p:grpSpPr>
          <a:xfrm>
            <a:off x="476250" y="1000125"/>
            <a:ext cx="2571900" cy="3714900"/>
            <a:chOff x="0" y="0"/>
            <a:chExt cx="2571900" cy="3714900"/>
          </a:xfrm>
        </p:grpSpPr>
        <p:sp>
          <p:nvSpPr>
            <p:cNvPr id="239" name="Google Shape;239;p17"/>
            <p:cNvSpPr/>
            <p:nvPr/>
          </p:nvSpPr>
          <p:spPr>
            <a:xfrm>
              <a:off x="0" y="0"/>
              <a:ext cx="2571900" cy="3714900"/>
            </a:xfrm>
            <a:prstGeom prst="roundRect">
              <a:avLst>
                <a:gd fmla="val 2962" name="adj"/>
              </a:avLst>
            </a:pr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17"/>
            <p:cNvSpPr/>
            <p:nvPr/>
          </p:nvSpPr>
          <p:spPr>
            <a:xfrm>
              <a:off x="0" y="0"/>
              <a:ext cx="2571900" cy="57300"/>
            </a:xfrm>
            <a:prstGeom prst="roundRect">
              <a:avLst>
                <a:gd fmla="val 33333" name="adj"/>
              </a:avLst>
            </a:prstGeom>
            <a:solidFill>
              <a:srgbClr val="C05A3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17"/>
            <p:cNvSpPr txBox="1"/>
            <p:nvPr/>
          </p:nvSpPr>
          <p:spPr>
            <a:xfrm>
              <a:off x="190500" y="190500"/>
              <a:ext cx="21909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D4A373"/>
                  </a:solidFill>
                  <a:latin typeface="Lato"/>
                  <a:ea typeface="Lato"/>
                  <a:cs typeface="Lato"/>
                  <a:sym typeface="Lato"/>
                </a:rPr>
                <a:t>Location #1 • 33.8% Share</a:t>
              </a:r>
              <a:endParaRPr b="1" sz="850">
                <a:solidFill>
                  <a:srgbClr val="D4A373"/>
                </a:solidFill>
                <a:latin typeface="Lato"/>
                <a:ea typeface="Lato"/>
                <a:cs typeface="Lato"/>
                <a:sym typeface="Lato"/>
              </a:endParaRPr>
            </a:p>
            <a:p>
              <a:pPr indent="0" lvl="0" marL="0" rtl="0" algn="l">
                <a:spcBef>
                  <a:spcPts val="300"/>
                </a:spcBef>
                <a:spcAft>
                  <a:spcPts val="0"/>
                </a:spcAft>
                <a:buNone/>
              </a:pPr>
              <a:r>
                <a:rPr b="1" lang="en" sz="2000">
                  <a:solidFill>
                    <a:srgbClr val="F9F6F0"/>
                  </a:solidFill>
                  <a:latin typeface="Playfair Display"/>
                  <a:ea typeface="Playfair Display"/>
                  <a:cs typeface="Playfair Display"/>
                  <a:sym typeface="Playfair Display"/>
                </a:rPr>
                <a:t>Hell's Kitchen</a:t>
              </a:r>
              <a:endParaRPr b="1" sz="2000">
                <a:solidFill>
                  <a:srgbClr val="F9F6F0"/>
                </a:solidFill>
                <a:latin typeface="Playfair Display"/>
                <a:ea typeface="Playfair Display"/>
                <a:cs typeface="Playfair Display"/>
                <a:sym typeface="Playfair Display"/>
              </a:endParaRPr>
            </a:p>
            <a:p>
              <a:pPr indent="0" lvl="0" marL="0" rtl="0" algn="l">
                <a:spcBef>
                  <a:spcPts val="900"/>
                </a:spcBef>
                <a:spcAft>
                  <a:spcPts val="0"/>
                </a:spcAft>
                <a:buNone/>
              </a:pPr>
              <a:r>
                <a:rPr b="1" lang="en" sz="3000">
                  <a:solidFill>
                    <a:srgbClr val="F9F6F0"/>
                  </a:solidFill>
                  <a:latin typeface="Playfair Display"/>
                  <a:ea typeface="Playfair Display"/>
                  <a:cs typeface="Playfair Display"/>
                  <a:sym typeface="Playfair Display"/>
                </a:rPr>
                <a:t>$236,511</a:t>
              </a:r>
              <a:endParaRPr b="1" sz="3000">
                <a:solidFill>
                  <a:srgbClr val="F9F6F0"/>
                </a:solidFill>
                <a:latin typeface="Playfair Display"/>
                <a:ea typeface="Playfair Display"/>
                <a:cs typeface="Playfair Display"/>
                <a:sym typeface="Playfair Display"/>
              </a:endParaRPr>
            </a:p>
            <a:p>
              <a:pPr indent="0" lvl="0" marL="0" rtl="0" algn="l">
                <a:spcBef>
                  <a:spcPts val="150"/>
                </a:spcBef>
                <a:spcAft>
                  <a:spcPts val="0"/>
                </a:spcAft>
                <a:buNone/>
              </a:pPr>
              <a:r>
                <a:rPr b="1" lang="en" sz="950">
                  <a:solidFill>
                    <a:srgbClr val="EADDCD"/>
                  </a:solidFill>
                  <a:latin typeface="Lato"/>
                  <a:ea typeface="Lato"/>
                  <a:cs typeface="Lato"/>
                  <a:sym typeface="Lato"/>
                </a:rPr>
                <a:t>Total Revenue</a:t>
              </a:r>
              <a:endParaRPr b="1" sz="950">
                <a:solidFill>
                  <a:srgbClr val="EADDCD"/>
                </a:solidFill>
                <a:latin typeface="Lato"/>
                <a:ea typeface="Lato"/>
                <a:cs typeface="Lato"/>
                <a:sym typeface="Lato"/>
              </a:endParaRPr>
            </a:p>
            <a:p>
              <a:pPr indent="0" lvl="0" marL="0" rtl="0" algn="l">
                <a:spcBef>
                  <a:spcPts val="1200"/>
                </a:spcBef>
                <a:spcAft>
                  <a:spcPts val="0"/>
                </a:spcAft>
                <a:buNone/>
              </a:pPr>
              <a:r>
                <a:rPr b="1" lang="en" sz="900">
                  <a:solidFill>
                    <a:srgbClr val="D4A373"/>
                  </a:solidFill>
                  <a:latin typeface="Lato"/>
                  <a:ea typeface="Lato"/>
                  <a:cs typeface="Lato"/>
                  <a:sym typeface="Lato"/>
                </a:rPr>
                <a:t>KEY METRICS &amp; HIGHLIGHTS</a:t>
              </a:r>
              <a:endParaRPr b="1" sz="900">
                <a:solidFill>
                  <a:srgbClr val="D4A373"/>
                </a:solidFill>
                <a:latin typeface="Lato"/>
                <a:ea typeface="Lato"/>
                <a:cs typeface="Lato"/>
                <a:sym typeface="Lato"/>
              </a:endParaRPr>
            </a:p>
            <a:p>
              <a:pPr indent="0" lvl="0" marL="0" rtl="0" algn="l">
                <a:spcBef>
                  <a:spcPts val="300"/>
                </a:spcBef>
                <a:spcAft>
                  <a:spcPts val="0"/>
                </a:spcAft>
                <a:buNone/>
              </a:pPr>
              <a:r>
                <a:rPr b="1" lang="en" sz="1200">
                  <a:solidFill>
                    <a:srgbClr val="F9F6F0"/>
                  </a:solidFill>
                  <a:latin typeface="Playfair Display"/>
                  <a:ea typeface="Playfair Display"/>
                  <a:cs typeface="Playfair Display"/>
                  <a:sym typeface="Playfair Display"/>
                </a:rPr>
                <a:t>71,737 Units Sold</a:t>
              </a:r>
              <a:endParaRPr b="1" sz="1200">
                <a:solidFill>
                  <a:srgbClr val="F9F6F0"/>
                </a:solidFill>
                <a:latin typeface="Playfair Display"/>
                <a:ea typeface="Playfair Display"/>
                <a:cs typeface="Playfair Display"/>
                <a:sym typeface="Playfair Display"/>
              </a:endParaRPr>
            </a:p>
            <a:p>
              <a:pPr indent="-288925" lvl="0" marL="457200" rtl="0" algn="l">
                <a:spcBef>
                  <a:spcPts val="750"/>
                </a:spcBef>
                <a:spcAft>
                  <a:spcPts val="0"/>
                </a:spcAft>
                <a:buClr>
                  <a:srgbClr val="EADDCD"/>
                </a:buClr>
                <a:buSzPts val="950"/>
                <a:buFont typeface="Lato"/>
                <a:buChar char="●"/>
              </a:pPr>
              <a:r>
                <a:rPr lang="en" sz="950">
                  <a:solidFill>
                    <a:srgbClr val="EADDCD"/>
                  </a:solidFill>
                  <a:latin typeface="Lato"/>
                  <a:ea typeface="Lato"/>
                  <a:cs typeface="Lato"/>
                  <a:sym typeface="Lato"/>
                </a:rPr>
                <a:t>Highest overall revenue contributor across all active stores.</a:t>
              </a:r>
              <a:endParaRPr sz="950">
                <a:solidFill>
                  <a:srgbClr val="EADDCD"/>
                </a:solidFill>
                <a:latin typeface="Lato"/>
                <a:ea typeface="Lato"/>
                <a:cs typeface="Lato"/>
                <a:sym typeface="Lato"/>
              </a:endParaRPr>
            </a:p>
            <a:p>
              <a:pPr indent="-288925" lvl="0" marL="457200" rtl="0" algn="l">
                <a:spcBef>
                  <a:spcPts val="600"/>
                </a:spcBef>
                <a:spcAft>
                  <a:spcPts val="0"/>
                </a:spcAft>
                <a:buClr>
                  <a:srgbClr val="EADDCD"/>
                </a:buClr>
                <a:buSzPts val="950"/>
                <a:buFont typeface="Lato"/>
                <a:buChar char="●"/>
              </a:pPr>
              <a:r>
                <a:rPr lang="en" sz="950">
                  <a:solidFill>
                    <a:srgbClr val="EADDCD"/>
                  </a:solidFill>
                  <a:latin typeface="Lato"/>
                  <a:ea typeface="Lato"/>
                  <a:cs typeface="Lato"/>
                  <a:sym typeface="Lato"/>
                </a:rPr>
                <a:t>Leads network in Coffee category volume with over 30,200 units.</a:t>
              </a:r>
              <a:endParaRPr sz="950">
                <a:solidFill>
                  <a:srgbClr val="EADDCD"/>
                </a:solidFill>
                <a:latin typeface="Lato"/>
                <a:ea typeface="Lato"/>
                <a:cs typeface="Lato"/>
                <a:sym typeface="Lato"/>
              </a:endParaRPr>
            </a:p>
            <a:p>
              <a:pPr indent="-288925" lvl="0" marL="457200" rtl="0" algn="l">
                <a:spcBef>
                  <a:spcPts val="600"/>
                </a:spcBef>
                <a:spcAft>
                  <a:spcPts val="0"/>
                </a:spcAft>
                <a:buClr>
                  <a:srgbClr val="EADDCD"/>
                </a:buClr>
                <a:buSzPts val="950"/>
                <a:buFont typeface="Lato"/>
                <a:buChar char="●"/>
              </a:pPr>
              <a:r>
                <a:rPr lang="en" sz="950">
                  <a:solidFill>
                    <a:srgbClr val="EADDCD"/>
                  </a:solidFill>
                  <a:latin typeface="Lato"/>
                  <a:ea typeface="Lato"/>
                  <a:cs typeface="Lato"/>
                  <a:sym typeface="Lato"/>
                </a:rPr>
                <a:t>Balanced customer flow spanning morning commuter &amp; afternoon peaks.</a:t>
              </a:r>
              <a:endParaRPr sz="950">
                <a:solidFill>
                  <a:srgbClr val="EADDCD"/>
                </a:solidFill>
                <a:latin typeface="Lato"/>
                <a:ea typeface="Lato"/>
                <a:cs typeface="Lato"/>
                <a:sym typeface="Lato"/>
              </a:endParaRPr>
            </a:p>
          </p:txBody>
        </p:sp>
      </p:grpSp>
      <p:grpSp>
        <p:nvGrpSpPr>
          <p:cNvPr id="242" name="Google Shape;242;p17"/>
          <p:cNvGrpSpPr/>
          <p:nvPr/>
        </p:nvGrpSpPr>
        <p:grpSpPr>
          <a:xfrm>
            <a:off x="3286125" y="1000125"/>
            <a:ext cx="2571900" cy="3714900"/>
            <a:chOff x="0" y="0"/>
            <a:chExt cx="2571900" cy="3714900"/>
          </a:xfrm>
        </p:grpSpPr>
        <p:sp>
          <p:nvSpPr>
            <p:cNvPr id="243" name="Google Shape;243;p17"/>
            <p:cNvSpPr/>
            <p:nvPr/>
          </p:nvSpPr>
          <p:spPr>
            <a:xfrm>
              <a:off x="0" y="0"/>
              <a:ext cx="2571900" cy="3714900"/>
            </a:xfrm>
            <a:prstGeom prst="roundRect">
              <a:avLst>
                <a:gd fmla="val 2962" name="adj"/>
              </a:avLst>
            </a:prstGeom>
            <a:solidFill>
              <a:srgbClr val="FFFFFF"/>
            </a:solidFill>
            <a:ln cap="flat" cmpd="sng" w="14300">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17"/>
            <p:cNvSpPr/>
            <p:nvPr/>
          </p:nvSpPr>
          <p:spPr>
            <a:xfrm>
              <a:off x="0" y="0"/>
              <a:ext cx="2571900" cy="57300"/>
            </a:xfrm>
            <a:prstGeom prst="roundRect">
              <a:avLst>
                <a:gd fmla="val 33333" name="adj"/>
              </a:avLst>
            </a:prstGeom>
            <a:solidFill>
              <a:srgbClr val="D4A37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17"/>
            <p:cNvSpPr txBox="1"/>
            <p:nvPr/>
          </p:nvSpPr>
          <p:spPr>
            <a:xfrm>
              <a:off x="190500" y="190500"/>
              <a:ext cx="21909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C05A3E"/>
                  </a:solidFill>
                  <a:latin typeface="Lato"/>
                  <a:ea typeface="Lato"/>
                  <a:cs typeface="Lato"/>
                  <a:sym typeface="Lato"/>
                </a:rPr>
                <a:t>Location #2 • 33.2% Share</a:t>
              </a:r>
              <a:endParaRPr b="1" sz="850">
                <a:solidFill>
                  <a:srgbClr val="C05A3E"/>
                </a:solidFill>
                <a:latin typeface="Lato"/>
                <a:ea typeface="Lato"/>
                <a:cs typeface="Lato"/>
                <a:sym typeface="Lato"/>
              </a:endParaRPr>
            </a:p>
            <a:p>
              <a:pPr indent="0" lvl="0" marL="0" rtl="0" algn="l">
                <a:spcBef>
                  <a:spcPts val="300"/>
                </a:spcBef>
                <a:spcAft>
                  <a:spcPts val="0"/>
                </a:spcAft>
                <a:buNone/>
              </a:pPr>
              <a:r>
                <a:rPr b="1" lang="en" sz="2000">
                  <a:solidFill>
                    <a:srgbClr val="2C1E16"/>
                  </a:solidFill>
                  <a:latin typeface="Playfair Display"/>
                  <a:ea typeface="Playfair Display"/>
                  <a:cs typeface="Playfair Display"/>
                  <a:sym typeface="Playfair Display"/>
                </a:rPr>
                <a:t>Astoria</a:t>
              </a:r>
              <a:endParaRPr b="1" sz="2000">
                <a:solidFill>
                  <a:srgbClr val="2C1E16"/>
                </a:solidFill>
                <a:latin typeface="Playfair Display"/>
                <a:ea typeface="Playfair Display"/>
                <a:cs typeface="Playfair Display"/>
                <a:sym typeface="Playfair Display"/>
              </a:endParaRPr>
            </a:p>
            <a:p>
              <a:pPr indent="0" lvl="0" marL="0" rtl="0" algn="l">
                <a:spcBef>
                  <a:spcPts val="900"/>
                </a:spcBef>
                <a:spcAft>
                  <a:spcPts val="0"/>
                </a:spcAft>
                <a:buNone/>
              </a:pPr>
              <a:r>
                <a:rPr b="1" lang="en" sz="3000">
                  <a:solidFill>
                    <a:srgbClr val="2C1E16"/>
                  </a:solidFill>
                  <a:latin typeface="Playfair Display"/>
                  <a:ea typeface="Playfair Display"/>
                  <a:cs typeface="Playfair Display"/>
                  <a:sym typeface="Playfair Display"/>
                </a:rPr>
                <a:t>$232,244</a:t>
              </a:r>
              <a:endParaRPr b="1" sz="3000">
                <a:solidFill>
                  <a:srgbClr val="2C1E16"/>
                </a:solidFill>
                <a:latin typeface="Playfair Display"/>
                <a:ea typeface="Playfair Display"/>
                <a:cs typeface="Playfair Display"/>
                <a:sym typeface="Playfair Display"/>
              </a:endParaRPr>
            </a:p>
            <a:p>
              <a:pPr indent="0" lvl="0" marL="0" rtl="0" algn="l">
                <a:spcBef>
                  <a:spcPts val="150"/>
                </a:spcBef>
                <a:spcAft>
                  <a:spcPts val="0"/>
                </a:spcAft>
                <a:buNone/>
              </a:pPr>
              <a:r>
                <a:rPr b="1" lang="en" sz="950">
                  <a:solidFill>
                    <a:srgbClr val="5A4634"/>
                  </a:solidFill>
                  <a:latin typeface="Lato"/>
                  <a:ea typeface="Lato"/>
                  <a:cs typeface="Lato"/>
                  <a:sym typeface="Lato"/>
                </a:rPr>
                <a:t>Total Revenue</a:t>
              </a:r>
              <a:endParaRPr b="1" sz="950">
                <a:solidFill>
                  <a:srgbClr val="5A4634"/>
                </a:solidFill>
                <a:latin typeface="Lato"/>
                <a:ea typeface="Lato"/>
                <a:cs typeface="Lato"/>
                <a:sym typeface="Lato"/>
              </a:endParaRPr>
            </a:p>
            <a:p>
              <a:pPr indent="0" lvl="0" marL="0" rtl="0" algn="l">
                <a:spcBef>
                  <a:spcPts val="1200"/>
                </a:spcBef>
                <a:spcAft>
                  <a:spcPts val="0"/>
                </a:spcAft>
                <a:buNone/>
              </a:pPr>
              <a:r>
                <a:rPr b="1" lang="en" sz="900">
                  <a:solidFill>
                    <a:srgbClr val="C05A3E"/>
                  </a:solidFill>
                  <a:latin typeface="Lato"/>
                  <a:ea typeface="Lato"/>
                  <a:cs typeface="Lato"/>
                  <a:sym typeface="Lato"/>
                </a:rPr>
                <a:t>KEY METRICS &amp; HIGHLIGHTS</a:t>
              </a:r>
              <a:endParaRPr b="1" sz="900">
                <a:solidFill>
                  <a:srgbClr val="C05A3E"/>
                </a:solidFill>
                <a:latin typeface="Lato"/>
                <a:ea typeface="Lato"/>
                <a:cs typeface="Lato"/>
                <a:sym typeface="Lato"/>
              </a:endParaRPr>
            </a:p>
            <a:p>
              <a:pPr indent="0" lvl="0" marL="0" rtl="0" algn="l">
                <a:spcBef>
                  <a:spcPts val="300"/>
                </a:spcBef>
                <a:spcAft>
                  <a:spcPts val="0"/>
                </a:spcAft>
                <a:buNone/>
              </a:pPr>
              <a:r>
                <a:rPr b="1" lang="en" sz="1200">
                  <a:solidFill>
                    <a:srgbClr val="2C1E16"/>
                  </a:solidFill>
                  <a:latin typeface="Playfair Display"/>
                  <a:ea typeface="Playfair Display"/>
                  <a:cs typeface="Playfair Display"/>
                  <a:sym typeface="Playfair Display"/>
                </a:rPr>
                <a:t>70,991 Units Sold</a:t>
              </a:r>
              <a:endParaRPr b="1" sz="1200">
                <a:solidFill>
                  <a:srgbClr val="2C1E16"/>
                </a:solidFill>
                <a:latin typeface="Playfair Display"/>
                <a:ea typeface="Playfair Display"/>
                <a:cs typeface="Playfair Display"/>
                <a:sym typeface="Playfair Display"/>
              </a:endParaRPr>
            </a:p>
            <a:p>
              <a:pPr indent="-288925" lvl="0" marL="457200" rtl="0" algn="l">
                <a:spcBef>
                  <a:spcPts val="750"/>
                </a:spcBef>
                <a:spcAft>
                  <a:spcPts val="0"/>
                </a:spcAft>
                <a:buClr>
                  <a:srgbClr val="5A4634"/>
                </a:buClr>
                <a:buSzPts val="950"/>
                <a:buFont typeface="Lato"/>
                <a:buChar char="●"/>
              </a:pPr>
              <a:r>
                <a:rPr lang="en" sz="950">
                  <a:solidFill>
                    <a:srgbClr val="5A4634"/>
                  </a:solidFill>
                  <a:latin typeface="Lato"/>
                  <a:ea typeface="Lato"/>
                  <a:cs typeface="Lato"/>
                  <a:sym typeface="Lato"/>
                </a:rPr>
                <a:t>Dominates Tea category sales, driving 24,048 units sold.</a:t>
              </a:r>
              <a:endParaRPr sz="950">
                <a:solidFill>
                  <a:srgbClr val="5A4634"/>
                </a:solidFill>
                <a:latin typeface="Lato"/>
                <a:ea typeface="Lato"/>
                <a:cs typeface="Lato"/>
                <a:sym typeface="Lato"/>
              </a:endParaRPr>
            </a:p>
            <a:p>
              <a:pPr indent="-288925" lvl="0" marL="457200" rtl="0" algn="l">
                <a:spcBef>
                  <a:spcPts val="600"/>
                </a:spcBef>
                <a:spcAft>
                  <a:spcPts val="0"/>
                </a:spcAft>
                <a:buClr>
                  <a:srgbClr val="5A4634"/>
                </a:buClr>
                <a:buSzPts val="950"/>
                <a:buFont typeface="Lato"/>
                <a:buChar char="●"/>
              </a:pPr>
              <a:r>
                <a:rPr lang="en" sz="950">
                  <a:solidFill>
                    <a:srgbClr val="5A4634"/>
                  </a:solidFill>
                  <a:latin typeface="Lato"/>
                  <a:ea typeface="Lato"/>
                  <a:cs typeface="Lato"/>
                  <a:sym typeface="Lato"/>
                </a:rPr>
                <a:t>Highly consistent daily performance with tight revenue variance.</a:t>
              </a:r>
              <a:endParaRPr sz="950">
                <a:solidFill>
                  <a:srgbClr val="5A4634"/>
                </a:solidFill>
                <a:latin typeface="Lato"/>
                <a:ea typeface="Lato"/>
                <a:cs typeface="Lato"/>
                <a:sym typeface="Lato"/>
              </a:endParaRPr>
            </a:p>
            <a:p>
              <a:pPr indent="-288925" lvl="0" marL="457200" rtl="0" algn="l">
                <a:spcBef>
                  <a:spcPts val="600"/>
                </a:spcBef>
                <a:spcAft>
                  <a:spcPts val="0"/>
                </a:spcAft>
                <a:buClr>
                  <a:srgbClr val="5A4634"/>
                </a:buClr>
                <a:buSzPts val="950"/>
                <a:buFont typeface="Lato"/>
                <a:buChar char="●"/>
              </a:pPr>
              <a:r>
                <a:rPr lang="en" sz="950">
                  <a:solidFill>
                    <a:srgbClr val="5A4634"/>
                  </a:solidFill>
                  <a:latin typeface="Lato"/>
                  <a:ea typeface="Lato"/>
                  <a:cs typeface="Lato"/>
                  <a:sym typeface="Lato"/>
                </a:rPr>
                <a:t>Strong weekday morning routine loyalty among neighborhood locals.</a:t>
              </a:r>
              <a:endParaRPr sz="950">
                <a:solidFill>
                  <a:srgbClr val="5A4634"/>
                </a:solidFill>
                <a:latin typeface="Lato"/>
                <a:ea typeface="Lato"/>
                <a:cs typeface="Lato"/>
                <a:sym typeface="Lato"/>
              </a:endParaRPr>
            </a:p>
          </p:txBody>
        </p:sp>
      </p:grpSp>
      <p:grpSp>
        <p:nvGrpSpPr>
          <p:cNvPr id="246" name="Google Shape;246;p17"/>
          <p:cNvGrpSpPr/>
          <p:nvPr/>
        </p:nvGrpSpPr>
        <p:grpSpPr>
          <a:xfrm>
            <a:off x="6096000" y="1000125"/>
            <a:ext cx="2571900" cy="3714900"/>
            <a:chOff x="0" y="0"/>
            <a:chExt cx="2571900" cy="3714900"/>
          </a:xfrm>
        </p:grpSpPr>
        <p:sp>
          <p:nvSpPr>
            <p:cNvPr id="247" name="Google Shape;247;p17"/>
            <p:cNvSpPr/>
            <p:nvPr/>
          </p:nvSpPr>
          <p:spPr>
            <a:xfrm>
              <a:off x="0" y="0"/>
              <a:ext cx="2571900" cy="3714900"/>
            </a:xfrm>
            <a:prstGeom prst="roundRect">
              <a:avLst>
                <a:gd fmla="val 2962" name="adj"/>
              </a:avLst>
            </a:prstGeom>
            <a:solidFill>
              <a:srgbClr val="FFFFFF"/>
            </a:solidFill>
            <a:ln cap="flat" cmpd="sng" w="14300">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17"/>
            <p:cNvSpPr/>
            <p:nvPr/>
          </p:nvSpPr>
          <p:spPr>
            <a:xfrm>
              <a:off x="0" y="0"/>
              <a:ext cx="2571900" cy="57300"/>
            </a:xfrm>
            <a:prstGeom prst="roundRect">
              <a:avLst>
                <a:gd fmla="val 33333" name="adj"/>
              </a:avLst>
            </a:prstGeom>
            <a:solidFill>
              <a:srgbClr val="7A8B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17"/>
            <p:cNvSpPr txBox="1"/>
            <p:nvPr/>
          </p:nvSpPr>
          <p:spPr>
            <a:xfrm>
              <a:off x="190500" y="190500"/>
              <a:ext cx="21909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C05A3E"/>
                  </a:solidFill>
                  <a:latin typeface="Lato"/>
                  <a:ea typeface="Lato"/>
                  <a:cs typeface="Lato"/>
                  <a:sym typeface="Lato"/>
                </a:rPr>
                <a:t>Location #3 • 32.9% Share</a:t>
              </a:r>
              <a:endParaRPr b="1" sz="850">
                <a:solidFill>
                  <a:srgbClr val="C05A3E"/>
                </a:solidFill>
                <a:latin typeface="Lato"/>
                <a:ea typeface="Lato"/>
                <a:cs typeface="Lato"/>
                <a:sym typeface="Lato"/>
              </a:endParaRPr>
            </a:p>
            <a:p>
              <a:pPr indent="0" lvl="0" marL="0" rtl="0" algn="l">
                <a:spcBef>
                  <a:spcPts val="300"/>
                </a:spcBef>
                <a:spcAft>
                  <a:spcPts val="0"/>
                </a:spcAft>
                <a:buNone/>
              </a:pPr>
              <a:r>
                <a:rPr b="1" lang="en" sz="2000">
                  <a:solidFill>
                    <a:srgbClr val="2C1E16"/>
                  </a:solidFill>
                  <a:latin typeface="Playfair Display"/>
                  <a:ea typeface="Playfair Display"/>
                  <a:cs typeface="Playfair Display"/>
                  <a:sym typeface="Playfair Display"/>
                </a:rPr>
                <a:t>Lower Manhattan</a:t>
              </a:r>
              <a:endParaRPr b="1" sz="2000">
                <a:solidFill>
                  <a:srgbClr val="2C1E16"/>
                </a:solidFill>
                <a:latin typeface="Playfair Display"/>
                <a:ea typeface="Playfair Display"/>
                <a:cs typeface="Playfair Display"/>
                <a:sym typeface="Playfair Display"/>
              </a:endParaRPr>
            </a:p>
            <a:p>
              <a:pPr indent="0" lvl="0" marL="0" rtl="0" algn="l">
                <a:spcBef>
                  <a:spcPts val="900"/>
                </a:spcBef>
                <a:spcAft>
                  <a:spcPts val="0"/>
                </a:spcAft>
                <a:buNone/>
              </a:pPr>
              <a:r>
                <a:rPr b="1" lang="en" sz="3000">
                  <a:solidFill>
                    <a:srgbClr val="2C1E16"/>
                  </a:solidFill>
                  <a:latin typeface="Playfair Display"/>
                  <a:ea typeface="Playfair Display"/>
                  <a:cs typeface="Playfair Display"/>
                  <a:sym typeface="Playfair Display"/>
                </a:rPr>
                <a:t>$230,057</a:t>
              </a:r>
              <a:endParaRPr b="1" sz="3000">
                <a:solidFill>
                  <a:srgbClr val="2C1E16"/>
                </a:solidFill>
                <a:latin typeface="Playfair Display"/>
                <a:ea typeface="Playfair Display"/>
                <a:cs typeface="Playfair Display"/>
                <a:sym typeface="Playfair Display"/>
              </a:endParaRPr>
            </a:p>
            <a:p>
              <a:pPr indent="0" lvl="0" marL="0" rtl="0" algn="l">
                <a:spcBef>
                  <a:spcPts val="150"/>
                </a:spcBef>
                <a:spcAft>
                  <a:spcPts val="0"/>
                </a:spcAft>
                <a:buNone/>
              </a:pPr>
              <a:r>
                <a:rPr b="1" lang="en" sz="950">
                  <a:solidFill>
                    <a:srgbClr val="5A4634"/>
                  </a:solidFill>
                  <a:latin typeface="Lato"/>
                  <a:ea typeface="Lato"/>
                  <a:cs typeface="Lato"/>
                  <a:sym typeface="Lato"/>
                </a:rPr>
                <a:t>Total Revenue</a:t>
              </a:r>
              <a:endParaRPr b="1" sz="950">
                <a:solidFill>
                  <a:srgbClr val="5A4634"/>
                </a:solidFill>
                <a:latin typeface="Lato"/>
                <a:ea typeface="Lato"/>
                <a:cs typeface="Lato"/>
                <a:sym typeface="Lato"/>
              </a:endParaRPr>
            </a:p>
            <a:p>
              <a:pPr indent="0" lvl="0" marL="0" rtl="0" algn="l">
                <a:spcBef>
                  <a:spcPts val="1200"/>
                </a:spcBef>
                <a:spcAft>
                  <a:spcPts val="0"/>
                </a:spcAft>
                <a:buNone/>
              </a:pPr>
              <a:r>
                <a:rPr b="1" lang="en" sz="900">
                  <a:solidFill>
                    <a:srgbClr val="7A8B76"/>
                  </a:solidFill>
                  <a:latin typeface="Lato"/>
                  <a:ea typeface="Lato"/>
                  <a:cs typeface="Lato"/>
                  <a:sym typeface="Lato"/>
                </a:rPr>
                <a:t>KEY METRICS &amp; HIGHLIGHTS</a:t>
              </a:r>
              <a:endParaRPr b="1" sz="900">
                <a:solidFill>
                  <a:srgbClr val="7A8B76"/>
                </a:solidFill>
                <a:latin typeface="Lato"/>
                <a:ea typeface="Lato"/>
                <a:cs typeface="Lato"/>
                <a:sym typeface="Lato"/>
              </a:endParaRPr>
            </a:p>
            <a:p>
              <a:pPr indent="0" lvl="0" marL="0" rtl="0" algn="l">
                <a:spcBef>
                  <a:spcPts val="300"/>
                </a:spcBef>
                <a:spcAft>
                  <a:spcPts val="0"/>
                </a:spcAft>
                <a:buNone/>
              </a:pPr>
              <a:r>
                <a:rPr b="1" lang="en" sz="1200">
                  <a:solidFill>
                    <a:srgbClr val="2C1E16"/>
                  </a:solidFill>
                  <a:latin typeface="Playfair Display"/>
                  <a:ea typeface="Playfair Display"/>
                  <a:cs typeface="Playfair Display"/>
                  <a:sym typeface="Playfair Display"/>
                </a:rPr>
                <a:t>71,742 Units Sold</a:t>
              </a:r>
              <a:endParaRPr b="1" sz="1200">
                <a:solidFill>
                  <a:srgbClr val="2C1E16"/>
                </a:solidFill>
                <a:latin typeface="Playfair Display"/>
                <a:ea typeface="Playfair Display"/>
                <a:cs typeface="Playfair Display"/>
                <a:sym typeface="Playfair Display"/>
              </a:endParaRPr>
            </a:p>
            <a:p>
              <a:pPr indent="-288925" lvl="0" marL="457200" rtl="0" algn="l">
                <a:spcBef>
                  <a:spcPts val="750"/>
                </a:spcBef>
                <a:spcAft>
                  <a:spcPts val="0"/>
                </a:spcAft>
                <a:buClr>
                  <a:srgbClr val="5A4634"/>
                </a:buClr>
                <a:buSzPts val="950"/>
                <a:buFont typeface="Lato"/>
                <a:buChar char="●"/>
              </a:pPr>
              <a:r>
                <a:rPr lang="en" sz="950">
                  <a:solidFill>
                    <a:srgbClr val="5A4634"/>
                  </a:solidFill>
                  <a:latin typeface="Lato"/>
                  <a:ea typeface="Lato"/>
                  <a:cs typeface="Lato"/>
                  <a:sym typeface="Lato"/>
                </a:rPr>
                <a:t>Highest total item transaction volume across all 3 stores.</a:t>
              </a:r>
              <a:endParaRPr sz="950">
                <a:solidFill>
                  <a:srgbClr val="5A4634"/>
                </a:solidFill>
                <a:latin typeface="Lato"/>
                <a:ea typeface="Lato"/>
                <a:cs typeface="Lato"/>
                <a:sym typeface="Lato"/>
              </a:endParaRPr>
            </a:p>
            <a:p>
              <a:pPr indent="-288925" lvl="0" marL="457200" rtl="0" algn="l">
                <a:spcBef>
                  <a:spcPts val="600"/>
                </a:spcBef>
                <a:spcAft>
                  <a:spcPts val="0"/>
                </a:spcAft>
                <a:buClr>
                  <a:srgbClr val="5A4634"/>
                </a:buClr>
                <a:buSzPts val="950"/>
                <a:buFont typeface="Lato"/>
                <a:buChar char="●"/>
              </a:pPr>
              <a:r>
                <a:rPr lang="en" sz="950">
                  <a:solidFill>
                    <a:srgbClr val="5A4634"/>
                  </a:solidFill>
                  <a:latin typeface="Lato"/>
                  <a:ea typeface="Lato"/>
                  <a:cs typeface="Lato"/>
                  <a:sym typeface="Lato"/>
                </a:rPr>
                <a:t>#1 Bakery performer with 8,040 total pastry &amp; scone items.</a:t>
              </a:r>
              <a:endParaRPr sz="950">
                <a:solidFill>
                  <a:srgbClr val="5A4634"/>
                </a:solidFill>
                <a:latin typeface="Lato"/>
                <a:ea typeface="Lato"/>
                <a:cs typeface="Lato"/>
                <a:sym typeface="Lato"/>
              </a:endParaRPr>
            </a:p>
            <a:p>
              <a:pPr indent="-288925" lvl="0" marL="457200" rtl="0" algn="l">
                <a:spcBef>
                  <a:spcPts val="600"/>
                </a:spcBef>
                <a:spcAft>
                  <a:spcPts val="0"/>
                </a:spcAft>
                <a:buClr>
                  <a:srgbClr val="5A4634"/>
                </a:buClr>
                <a:buSzPts val="950"/>
                <a:buFont typeface="Lato"/>
                <a:buChar char="●"/>
              </a:pPr>
              <a:r>
                <a:rPr lang="en" sz="950">
                  <a:solidFill>
                    <a:srgbClr val="5A4634"/>
                  </a:solidFill>
                  <a:latin typeface="Lato"/>
                  <a:ea typeface="Lato"/>
                  <a:cs typeface="Lato"/>
                  <a:sym typeface="Lato"/>
                </a:rPr>
                <a:t>Peak sales velocity during morning commuter transit hours.</a:t>
              </a:r>
              <a:endParaRPr sz="950">
                <a:solidFill>
                  <a:srgbClr val="5A4634"/>
                </a:solidFill>
                <a:latin typeface="Lato"/>
                <a:ea typeface="Lato"/>
                <a:cs typeface="Lato"/>
                <a:sym typeface="La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0"/>
        </a:solidFill>
      </p:bgPr>
    </p:bg>
    <p:spTree>
      <p:nvGrpSpPr>
        <p:cNvPr id="253" name="Shape 253"/>
        <p:cNvGrpSpPr/>
        <p:nvPr/>
      </p:nvGrpSpPr>
      <p:grpSpPr>
        <a:xfrm>
          <a:off x="0" y="0"/>
          <a:ext cx="0" cy="0"/>
          <a:chOff x="0" y="0"/>
          <a:chExt cx="0" cy="0"/>
        </a:xfrm>
      </p:grpSpPr>
      <p:grpSp>
        <p:nvGrpSpPr>
          <p:cNvPr id="254" name="Google Shape;254;p18"/>
          <p:cNvGrpSpPr/>
          <p:nvPr/>
        </p:nvGrpSpPr>
        <p:grpSpPr>
          <a:xfrm>
            <a:off x="476250" y="238125"/>
            <a:ext cx="8191500" cy="571500"/>
            <a:chOff x="476250" y="238125"/>
            <a:chExt cx="8191500" cy="571500"/>
          </a:xfrm>
        </p:grpSpPr>
        <p:cxnSp>
          <p:nvCxnSpPr>
            <p:cNvPr id="255" name="Google Shape;255;p18"/>
            <p:cNvCxnSpPr/>
            <p:nvPr/>
          </p:nvCxnSpPr>
          <p:spPr>
            <a:xfrm>
              <a:off x="476250" y="809625"/>
              <a:ext cx="8191500" cy="0"/>
            </a:xfrm>
            <a:prstGeom prst="straightConnector1">
              <a:avLst/>
            </a:prstGeom>
            <a:solidFill>
              <a:srgbClr val="FFFFFF"/>
            </a:solidFill>
            <a:ln cap="flat" cmpd="sng" w="19050">
              <a:solidFill>
                <a:srgbClr val="D4A373"/>
              </a:solidFill>
              <a:prstDash val="solid"/>
              <a:round/>
              <a:headEnd len="sm" w="sm" type="none"/>
              <a:tailEnd len="sm" w="sm" type="none"/>
            </a:ln>
          </p:spPr>
        </p:cxnSp>
        <p:sp>
          <p:nvSpPr>
            <p:cNvPr id="256" name="Google Shape;256;p18"/>
            <p:cNvSpPr txBox="1"/>
            <p:nvPr/>
          </p:nvSpPr>
          <p:spPr>
            <a:xfrm>
              <a:off x="476250" y="238125"/>
              <a:ext cx="8191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700">
                  <a:solidFill>
                    <a:srgbClr val="2C1E16"/>
                  </a:solidFill>
                  <a:latin typeface="Playfair Display"/>
                  <a:ea typeface="Playfair Display"/>
                  <a:cs typeface="Playfair Display"/>
                  <a:sym typeface="Playfair Display"/>
                </a:rPr>
                <a:t>The Best Performing Products </a:t>
              </a:r>
              <a:endParaRPr b="1" sz="1700">
                <a:solidFill>
                  <a:srgbClr val="2C1E16"/>
                </a:solidFill>
                <a:latin typeface="Playfair Display"/>
                <a:ea typeface="Playfair Display"/>
                <a:cs typeface="Playfair Display"/>
                <a:sym typeface="Playfair Display"/>
              </a:endParaRPr>
            </a:p>
          </p:txBody>
        </p:sp>
      </p:grpSp>
      <p:grpSp>
        <p:nvGrpSpPr>
          <p:cNvPr id="257" name="Google Shape;257;p18"/>
          <p:cNvGrpSpPr/>
          <p:nvPr/>
        </p:nvGrpSpPr>
        <p:grpSpPr>
          <a:xfrm>
            <a:off x="5510213" y="2878931"/>
            <a:ext cx="371572" cy="278655"/>
            <a:chOff x="95250" y="-95250"/>
            <a:chExt cx="571650" cy="428700"/>
          </a:xfrm>
        </p:grpSpPr>
        <p:sp>
          <p:nvSpPr>
            <p:cNvPr id="258" name="Google Shape;258;p18"/>
            <p:cNvSpPr/>
            <p:nvPr/>
          </p:nvSpPr>
          <p:spPr>
            <a:xfrm>
              <a:off x="95250" y="95250"/>
              <a:ext cx="476400" cy="238200"/>
            </a:xfrm>
            <a:custGeom>
              <a:rect b="b" l="l" r="r" t="t"/>
              <a:pathLst>
                <a:path extrusionOk="0" h="120000" w="120000">
                  <a:moveTo>
                    <a:pt x="0" y="0"/>
                  </a:moveTo>
                  <a:cubicBezTo>
                    <a:pt x="0" y="72000"/>
                    <a:pt x="24000" y="120000"/>
                    <a:pt x="60000" y="120000"/>
                  </a:cubicBezTo>
                  <a:cubicBezTo>
                    <a:pt x="96000" y="120000"/>
                    <a:pt x="120000" y="72000"/>
                    <a:pt x="120000" y="0"/>
                  </a:cubicBezTo>
                  <a:lnTo>
                    <a:pt x="0" y="0"/>
                  </a:lnTo>
                  <a:close/>
                </a:path>
              </a:pathLst>
            </a:cu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9" name="Google Shape;259;p18"/>
            <p:cNvSpPr/>
            <p:nvPr/>
          </p:nvSpPr>
          <p:spPr>
            <a:xfrm>
              <a:off x="571500" y="142875"/>
              <a:ext cx="95400" cy="162000"/>
            </a:xfrm>
            <a:custGeom>
              <a:rect b="b" l="l" r="r" t="t"/>
              <a:pathLst>
                <a:path extrusionOk="0" h="120000" w="120000">
                  <a:moveTo>
                    <a:pt x="0" y="0"/>
                  </a:moveTo>
                  <a:cubicBezTo>
                    <a:pt x="96000" y="0"/>
                    <a:pt x="120000" y="35294"/>
                    <a:pt x="120000" y="70588"/>
                  </a:cubicBezTo>
                  <a:cubicBezTo>
                    <a:pt x="120000" y="105882"/>
                    <a:pt x="60000" y="120000"/>
                    <a:pt x="0" y="120000"/>
                  </a:cubicBezTo>
                </a:path>
              </a:pathLst>
            </a:custGeom>
            <a:solidFill>
              <a:srgbClr val="000000">
                <a:alpha val="0"/>
              </a:srgbClr>
            </a:solidFill>
            <a:ln cap="flat" cmpd="sng" w="38100">
              <a:solidFill>
                <a:srgbClr val="2C1E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18"/>
            <p:cNvSpPr/>
            <p:nvPr/>
          </p:nvSpPr>
          <p:spPr>
            <a:xfrm>
              <a:off x="295275" y="152400"/>
              <a:ext cx="76200" cy="76200"/>
            </a:xfrm>
            <a:prstGeom prst="ellipse">
              <a:avLst/>
            </a:prstGeom>
            <a:solidFill>
              <a:srgbClr val="F9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18"/>
            <p:cNvSpPr/>
            <p:nvPr/>
          </p:nvSpPr>
          <p:spPr>
            <a:xfrm>
              <a:off x="238125" y="-95250"/>
              <a:ext cx="190500" cy="95400"/>
            </a:xfrm>
            <a:custGeom>
              <a:rect b="b" l="l" r="r" t="t"/>
              <a:pathLst>
                <a:path extrusionOk="0" h="120000" w="120000">
                  <a:moveTo>
                    <a:pt x="0" y="120000"/>
                  </a:moveTo>
                  <a:quadBezTo>
                    <a:pt x="30000" y="0"/>
                    <a:pt x="60000" y="120000"/>
                  </a:quadBezTo>
                  <a:lnTo>
                    <a:pt x="120000" y="120000"/>
                  </a:lnTo>
                </a:path>
              </a:pathLst>
            </a:custGeom>
            <a:solidFill>
              <a:srgbClr val="000000">
                <a:alpha val="0"/>
              </a:srgbClr>
            </a:solidFill>
            <a:ln cap="flat" cmpd="sng" w="28575">
              <a:solidFill>
                <a:srgbClr val="D4A37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62" name="Google Shape;262;p18"/>
          <p:cNvGrpSpPr/>
          <p:nvPr/>
        </p:nvGrpSpPr>
        <p:grpSpPr>
          <a:xfrm>
            <a:off x="476250" y="1000125"/>
            <a:ext cx="8191500" cy="619200"/>
            <a:chOff x="0" y="0"/>
            <a:chExt cx="8191500" cy="619200"/>
          </a:xfrm>
        </p:grpSpPr>
        <p:sp>
          <p:nvSpPr>
            <p:cNvPr id="263" name="Google Shape;263;p18"/>
            <p:cNvSpPr/>
            <p:nvPr/>
          </p:nvSpPr>
          <p:spPr>
            <a:xfrm>
              <a:off x="0" y="0"/>
              <a:ext cx="8191500" cy="619200"/>
            </a:xfrm>
            <a:prstGeom prst="roundRect">
              <a:avLst>
                <a:gd fmla="val 9230" name="adj"/>
              </a:avLst>
            </a:prstGeom>
            <a:solidFill>
              <a:srgbClr val="EADDCD">
                <a:alpha val="7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4" name="Google Shape;264;p18"/>
            <p:cNvSpPr txBox="1"/>
            <p:nvPr/>
          </p:nvSpPr>
          <p:spPr>
            <a:xfrm>
              <a:off x="190500" y="95250"/>
              <a:ext cx="7810500" cy="428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018">
                  <a:solidFill>
                    <a:srgbClr val="2C1E16"/>
                  </a:solidFill>
                  <a:latin typeface="Lato"/>
                  <a:ea typeface="Lato"/>
                  <a:cs typeface="Lato"/>
                  <a:sym typeface="Lato"/>
                </a:rPr>
                <a:t>Our top-performing products clearly dictate our core customer preferences. Barista Espresso leads the portfolio entirely, followed by Brewed Chai tea, Hot chocolate, and Gourmet brewed coffee. These four categories are the foundational pillars of our daily sales volume.</a:t>
              </a:r>
              <a:endParaRPr sz="1295"/>
            </a:p>
          </p:txBody>
        </p:sp>
      </p:grpSp>
      <p:grpSp>
        <p:nvGrpSpPr>
          <p:cNvPr id="265" name="Google Shape;265;p18"/>
          <p:cNvGrpSpPr/>
          <p:nvPr/>
        </p:nvGrpSpPr>
        <p:grpSpPr>
          <a:xfrm>
            <a:off x="476250" y="1809750"/>
            <a:ext cx="8191500" cy="2476500"/>
            <a:chOff x="0" y="0"/>
            <a:chExt cx="8191500" cy="2476500"/>
          </a:xfrm>
        </p:grpSpPr>
        <p:grpSp>
          <p:nvGrpSpPr>
            <p:cNvPr id="266" name="Google Shape;266;p18"/>
            <p:cNvGrpSpPr/>
            <p:nvPr/>
          </p:nvGrpSpPr>
          <p:grpSpPr>
            <a:xfrm>
              <a:off x="0" y="0"/>
              <a:ext cx="1905000" cy="2476500"/>
              <a:chOff x="0" y="0"/>
              <a:chExt cx="1905000" cy="2476500"/>
            </a:xfrm>
          </p:grpSpPr>
          <p:sp>
            <p:nvSpPr>
              <p:cNvPr id="267" name="Google Shape;267;p18"/>
              <p:cNvSpPr/>
              <p:nvPr/>
            </p:nvSpPr>
            <p:spPr>
              <a:xfrm>
                <a:off x="0" y="0"/>
                <a:ext cx="1905000" cy="2476500"/>
              </a:xfrm>
              <a:prstGeom prst="roundRect">
                <a:avLst>
                  <a:gd fmla="val 4000" name="adj"/>
                </a:avLst>
              </a:prstGeom>
              <a:solidFill>
                <a:srgbClr val="FFFFFF"/>
              </a:solidFill>
              <a:ln cap="flat" cmpd="sng" w="19050">
                <a:solidFill>
                  <a:srgbClr val="C05A3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18"/>
              <p:cNvSpPr/>
              <p:nvPr/>
            </p:nvSpPr>
            <p:spPr>
              <a:xfrm>
                <a:off x="0" y="0"/>
                <a:ext cx="1905000" cy="57300"/>
              </a:xfrm>
              <a:prstGeom prst="roundRect">
                <a:avLst>
                  <a:gd fmla="val 33333" name="adj"/>
                </a:avLst>
              </a:prstGeom>
              <a:solidFill>
                <a:srgbClr val="C05A3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18"/>
              <p:cNvSpPr txBox="1"/>
              <p:nvPr/>
            </p:nvSpPr>
            <p:spPr>
              <a:xfrm>
                <a:off x="152400" y="190500"/>
                <a:ext cx="16002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FFFFFF"/>
                    </a:solidFill>
                    <a:latin typeface="Lato"/>
                    <a:ea typeface="Lato"/>
                    <a:cs typeface="Lato"/>
                    <a:sym typeface="Lato"/>
                  </a:rPr>
                  <a:t>#1 Performer</a:t>
                </a:r>
                <a:endParaRPr/>
              </a:p>
              <a:p>
                <a:pPr indent="0" lvl="0" marL="0" rtl="0" algn="l">
                  <a:spcBef>
                    <a:spcPts val="0"/>
                  </a:spcBef>
                  <a:spcAft>
                    <a:spcPts val="0"/>
                  </a:spcAft>
                  <a:buNone/>
                </a:pPr>
                <a:r>
                  <a:rPr b="1" lang="en" sz="1500">
                    <a:solidFill>
                      <a:srgbClr val="2C1E16"/>
                    </a:solidFill>
                    <a:latin typeface="Playfair Display"/>
                    <a:ea typeface="Playfair Display"/>
                    <a:cs typeface="Playfair Display"/>
                    <a:sym typeface="Playfair Display"/>
                  </a:rPr>
                  <a:t>Barista Espresso</a:t>
                </a:r>
                <a:endParaRPr b="1" sz="1500">
                  <a:solidFill>
                    <a:srgbClr val="2C1E16"/>
                  </a:solidFill>
                  <a:latin typeface="Playfair Display"/>
                  <a:ea typeface="Playfair Display"/>
                  <a:cs typeface="Playfair Display"/>
                  <a:sym typeface="Playfair Display"/>
                </a:endParaRPr>
              </a:p>
              <a:p>
                <a:pPr indent="0" lvl="0" marL="0" rtl="0" algn="l">
                  <a:spcBef>
                    <a:spcPts val="900"/>
                  </a:spcBef>
                  <a:spcAft>
                    <a:spcPts val="0"/>
                  </a:spcAft>
                  <a:buNone/>
                </a:pPr>
                <a:r>
                  <a:rPr b="1" lang="en" sz="2200">
                    <a:solidFill>
                      <a:srgbClr val="C05A3E"/>
                    </a:solidFill>
                    <a:latin typeface="Playfair Display"/>
                    <a:ea typeface="Playfair Display"/>
                    <a:cs typeface="Playfair Display"/>
                    <a:sym typeface="Playfair Display"/>
                  </a:rPr>
                  <a:t>$91,406.20</a:t>
                </a:r>
                <a:endParaRPr b="1" sz="2200">
                  <a:solidFill>
                    <a:srgbClr val="C05A3E"/>
                  </a:solidFill>
                  <a:latin typeface="Playfair Display"/>
                  <a:ea typeface="Playfair Display"/>
                  <a:cs typeface="Playfair Display"/>
                  <a:sym typeface="Playfair Display"/>
                </a:endParaRPr>
              </a:p>
              <a:p>
                <a:pPr indent="0" lvl="0" marL="0" rtl="0" algn="l">
                  <a:spcBef>
                    <a:spcPts val="300"/>
                  </a:spcBef>
                  <a:spcAft>
                    <a:spcPts val="0"/>
                  </a:spcAft>
                  <a:buNone/>
                </a:pPr>
                <a:r>
                  <a:rPr b="1" lang="en" sz="1000">
                    <a:solidFill>
                      <a:srgbClr val="5A4634"/>
                    </a:solidFill>
                    <a:latin typeface="Lato"/>
                    <a:ea typeface="Lato"/>
                    <a:cs typeface="Lato"/>
                    <a:sym typeface="Lato"/>
                  </a:rPr>
                  <a:t>Total Revenue</a:t>
                </a:r>
                <a:endParaRPr b="1" sz="1000">
                  <a:solidFill>
                    <a:srgbClr val="5A4634"/>
                  </a:solidFill>
                  <a:latin typeface="Lato"/>
                  <a:ea typeface="Lato"/>
                  <a:cs typeface="Lato"/>
                  <a:sym typeface="Lato"/>
                </a:endParaRPr>
              </a:p>
              <a:p>
                <a:pPr indent="0" lvl="0" marL="0" rtl="0" algn="l">
                  <a:spcBef>
                    <a:spcPts val="600"/>
                  </a:spcBef>
                  <a:spcAft>
                    <a:spcPts val="0"/>
                  </a:spcAft>
                  <a:buNone/>
                </a:pPr>
                <a:r>
                  <a:rPr b="0" lang="en" sz="1000">
                    <a:solidFill>
                      <a:srgbClr val="5A4634"/>
                    </a:solidFill>
                    <a:latin typeface="Lato"/>
                    <a:ea typeface="Lato"/>
                    <a:cs typeface="Lato"/>
                    <a:sym typeface="Lato"/>
                  </a:rPr>
                  <a:t>Leads the entire product portfolio as our highest revenue driver.</a:t>
                </a:r>
                <a:endParaRPr b="0" sz="1000">
                  <a:solidFill>
                    <a:srgbClr val="5A4634"/>
                  </a:solidFill>
                  <a:latin typeface="Lato"/>
                  <a:ea typeface="Lato"/>
                  <a:cs typeface="Lato"/>
                  <a:sym typeface="Lato"/>
                </a:endParaRPr>
              </a:p>
            </p:txBody>
          </p:sp>
        </p:grpSp>
        <p:grpSp>
          <p:nvGrpSpPr>
            <p:cNvPr id="270" name="Google Shape;270;p18"/>
            <p:cNvGrpSpPr/>
            <p:nvPr/>
          </p:nvGrpSpPr>
          <p:grpSpPr>
            <a:xfrm>
              <a:off x="2095500" y="0"/>
              <a:ext cx="1905000" cy="2476500"/>
              <a:chOff x="0" y="0"/>
              <a:chExt cx="1905000" cy="2476500"/>
            </a:xfrm>
          </p:grpSpPr>
          <p:sp>
            <p:nvSpPr>
              <p:cNvPr id="271" name="Google Shape;271;p18"/>
              <p:cNvSpPr/>
              <p:nvPr/>
            </p:nvSpPr>
            <p:spPr>
              <a:xfrm>
                <a:off x="0" y="0"/>
                <a:ext cx="1905000" cy="2476500"/>
              </a:xfrm>
              <a:prstGeom prst="roundRect">
                <a:avLst>
                  <a:gd fmla="val 4000" name="adj"/>
                </a:avLst>
              </a:prstGeom>
              <a:solidFill>
                <a:srgbClr val="FFFFFF"/>
              </a:solidFill>
              <a:ln cap="flat" cmpd="sng" w="14300">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18"/>
              <p:cNvSpPr/>
              <p:nvPr/>
            </p:nvSpPr>
            <p:spPr>
              <a:xfrm>
                <a:off x="0" y="0"/>
                <a:ext cx="1905000" cy="57300"/>
              </a:xfrm>
              <a:prstGeom prst="roundRect">
                <a:avLst>
                  <a:gd fmla="val 33333" name="adj"/>
                </a:avLst>
              </a:prstGeom>
              <a:solidFill>
                <a:srgbClr val="D4A37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18"/>
              <p:cNvSpPr txBox="1"/>
              <p:nvPr/>
            </p:nvSpPr>
            <p:spPr>
              <a:xfrm>
                <a:off x="152400" y="190500"/>
                <a:ext cx="16002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2C1E16"/>
                    </a:solidFill>
                    <a:highlight>
                      <a:srgbClr val="EADDCD"/>
                    </a:highlight>
                    <a:latin typeface="Lato"/>
                    <a:ea typeface="Lato"/>
                    <a:cs typeface="Lato"/>
                    <a:sym typeface="Lato"/>
                  </a:rPr>
                  <a:t>#2 Performer</a:t>
                </a:r>
                <a:endParaRPr/>
              </a:p>
              <a:p>
                <a:pPr indent="0" lvl="0" marL="0" rtl="0" algn="l">
                  <a:spcBef>
                    <a:spcPts val="0"/>
                  </a:spcBef>
                  <a:spcAft>
                    <a:spcPts val="0"/>
                  </a:spcAft>
                  <a:buNone/>
                </a:pPr>
                <a:r>
                  <a:rPr b="1" lang="en" sz="1500">
                    <a:solidFill>
                      <a:srgbClr val="2C1E16"/>
                    </a:solidFill>
                    <a:latin typeface="Playfair Display"/>
                    <a:ea typeface="Playfair Display"/>
                    <a:cs typeface="Playfair Display"/>
                    <a:sym typeface="Playfair Display"/>
                  </a:rPr>
                  <a:t>Brewed Chai Tea</a:t>
                </a:r>
                <a:endParaRPr b="1" sz="1500">
                  <a:solidFill>
                    <a:srgbClr val="2C1E16"/>
                  </a:solidFill>
                  <a:latin typeface="Playfair Display"/>
                  <a:ea typeface="Playfair Display"/>
                  <a:cs typeface="Playfair Display"/>
                  <a:sym typeface="Playfair Display"/>
                </a:endParaRPr>
              </a:p>
              <a:p>
                <a:pPr indent="0" lvl="0" marL="0" rtl="0" algn="l">
                  <a:spcBef>
                    <a:spcPts val="900"/>
                  </a:spcBef>
                  <a:spcAft>
                    <a:spcPts val="0"/>
                  </a:spcAft>
                  <a:buNone/>
                </a:pPr>
                <a:r>
                  <a:rPr b="1" lang="en" sz="2200">
                    <a:solidFill>
                      <a:srgbClr val="D4A373"/>
                    </a:solidFill>
                    <a:latin typeface="Playfair Display"/>
                    <a:ea typeface="Playfair Display"/>
                    <a:cs typeface="Playfair Display"/>
                    <a:sym typeface="Playfair Display"/>
                  </a:rPr>
                  <a:t>$77,081.90</a:t>
                </a:r>
                <a:endParaRPr b="1" sz="2200">
                  <a:solidFill>
                    <a:srgbClr val="D4A373"/>
                  </a:solidFill>
                  <a:latin typeface="Playfair Display"/>
                  <a:ea typeface="Playfair Display"/>
                  <a:cs typeface="Playfair Display"/>
                  <a:sym typeface="Playfair Display"/>
                </a:endParaRPr>
              </a:p>
              <a:p>
                <a:pPr indent="0" lvl="0" marL="0" rtl="0" algn="l">
                  <a:spcBef>
                    <a:spcPts val="300"/>
                  </a:spcBef>
                  <a:spcAft>
                    <a:spcPts val="0"/>
                  </a:spcAft>
                  <a:buNone/>
                </a:pPr>
                <a:r>
                  <a:rPr b="1" lang="en" sz="1000">
                    <a:solidFill>
                      <a:srgbClr val="5A4634"/>
                    </a:solidFill>
                    <a:latin typeface="Lato"/>
                    <a:ea typeface="Lato"/>
                    <a:cs typeface="Lato"/>
                    <a:sym typeface="Lato"/>
                  </a:rPr>
                  <a:t>Total Revenue</a:t>
                </a:r>
                <a:endParaRPr b="1" sz="1000">
                  <a:solidFill>
                    <a:srgbClr val="5A4634"/>
                  </a:solidFill>
                  <a:latin typeface="Lato"/>
                  <a:ea typeface="Lato"/>
                  <a:cs typeface="Lato"/>
                  <a:sym typeface="Lato"/>
                </a:endParaRPr>
              </a:p>
              <a:p>
                <a:pPr indent="0" lvl="0" marL="0" rtl="0" algn="l">
                  <a:spcBef>
                    <a:spcPts val="600"/>
                  </a:spcBef>
                  <a:spcAft>
                    <a:spcPts val="0"/>
                  </a:spcAft>
                  <a:buNone/>
                </a:pPr>
                <a:r>
                  <a:rPr b="0" lang="en" sz="1000">
                    <a:solidFill>
                      <a:srgbClr val="5A4634"/>
                    </a:solidFill>
                    <a:latin typeface="Lato"/>
                    <a:ea typeface="Lato"/>
                    <a:cs typeface="Lato"/>
                    <a:sym typeface="Lato"/>
                  </a:rPr>
                  <a:t>Our second strongest performer across all core categories.</a:t>
                </a:r>
                <a:endParaRPr b="0" sz="1000">
                  <a:solidFill>
                    <a:srgbClr val="5A4634"/>
                  </a:solidFill>
                  <a:latin typeface="Lato"/>
                  <a:ea typeface="Lato"/>
                  <a:cs typeface="Lato"/>
                  <a:sym typeface="Lato"/>
                </a:endParaRPr>
              </a:p>
            </p:txBody>
          </p:sp>
        </p:grpSp>
        <p:grpSp>
          <p:nvGrpSpPr>
            <p:cNvPr id="274" name="Google Shape;274;p18"/>
            <p:cNvGrpSpPr/>
            <p:nvPr/>
          </p:nvGrpSpPr>
          <p:grpSpPr>
            <a:xfrm>
              <a:off x="4191000" y="0"/>
              <a:ext cx="1905000" cy="2476500"/>
              <a:chOff x="0" y="0"/>
              <a:chExt cx="1905000" cy="2476500"/>
            </a:xfrm>
          </p:grpSpPr>
          <p:sp>
            <p:nvSpPr>
              <p:cNvPr id="275" name="Google Shape;275;p18"/>
              <p:cNvSpPr/>
              <p:nvPr/>
            </p:nvSpPr>
            <p:spPr>
              <a:xfrm>
                <a:off x="0" y="0"/>
                <a:ext cx="1905000" cy="2476500"/>
              </a:xfrm>
              <a:prstGeom prst="roundRect">
                <a:avLst>
                  <a:gd fmla="val 4000" name="adj"/>
                </a:avLst>
              </a:prstGeom>
              <a:solidFill>
                <a:srgbClr val="FFFFFF"/>
              </a:solidFill>
              <a:ln cap="flat" cmpd="sng" w="14300">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18"/>
              <p:cNvSpPr/>
              <p:nvPr/>
            </p:nvSpPr>
            <p:spPr>
              <a:xfrm>
                <a:off x="0" y="0"/>
                <a:ext cx="1905000" cy="57300"/>
              </a:xfrm>
              <a:prstGeom prst="roundRect">
                <a:avLst>
                  <a:gd fmla="val 33333" name="adj"/>
                </a:avLst>
              </a:pr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18"/>
              <p:cNvSpPr txBox="1"/>
              <p:nvPr/>
            </p:nvSpPr>
            <p:spPr>
              <a:xfrm>
                <a:off x="152400" y="190500"/>
                <a:ext cx="16002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2C1E16"/>
                    </a:solidFill>
                    <a:highlight>
                      <a:srgbClr val="EADDCD"/>
                    </a:highlight>
                    <a:latin typeface="Lato"/>
                    <a:ea typeface="Lato"/>
                    <a:cs typeface="Lato"/>
                    <a:sym typeface="Lato"/>
                  </a:rPr>
                  <a:t>#3 Performer</a:t>
                </a:r>
                <a:endParaRPr/>
              </a:p>
              <a:p>
                <a:pPr indent="0" lvl="0" marL="0" rtl="0" algn="l">
                  <a:spcBef>
                    <a:spcPts val="0"/>
                  </a:spcBef>
                  <a:spcAft>
                    <a:spcPts val="0"/>
                  </a:spcAft>
                  <a:buNone/>
                </a:pPr>
                <a:r>
                  <a:rPr b="1" lang="en" sz="1500">
                    <a:solidFill>
                      <a:srgbClr val="2C1E16"/>
                    </a:solidFill>
                    <a:latin typeface="Playfair Display"/>
                    <a:ea typeface="Playfair Display"/>
                    <a:cs typeface="Playfair Display"/>
                    <a:sym typeface="Playfair Display"/>
                  </a:rPr>
                  <a:t>Hot Chocolate</a:t>
                </a:r>
                <a:endParaRPr b="1" sz="1500">
                  <a:solidFill>
                    <a:srgbClr val="2C1E16"/>
                  </a:solidFill>
                  <a:latin typeface="Playfair Display"/>
                  <a:ea typeface="Playfair Display"/>
                  <a:cs typeface="Playfair Display"/>
                  <a:sym typeface="Playfair Display"/>
                </a:endParaRPr>
              </a:p>
              <a:p>
                <a:pPr indent="0" lvl="0" marL="0" rtl="0" algn="l">
                  <a:spcBef>
                    <a:spcPts val="900"/>
                  </a:spcBef>
                  <a:spcAft>
                    <a:spcPts val="0"/>
                  </a:spcAft>
                  <a:buNone/>
                </a:pPr>
                <a:r>
                  <a:rPr b="1" lang="en" sz="2200">
                    <a:solidFill>
                      <a:srgbClr val="2C1E16"/>
                    </a:solidFill>
                    <a:latin typeface="Playfair Display"/>
                    <a:ea typeface="Playfair Display"/>
                    <a:cs typeface="Playfair Display"/>
                    <a:sym typeface="Playfair Display"/>
                  </a:rPr>
                  <a:t>$72,416.00</a:t>
                </a:r>
                <a:endParaRPr b="1" sz="2200">
                  <a:solidFill>
                    <a:srgbClr val="2C1E16"/>
                  </a:solidFill>
                  <a:latin typeface="Playfair Display"/>
                  <a:ea typeface="Playfair Display"/>
                  <a:cs typeface="Playfair Display"/>
                  <a:sym typeface="Playfair Display"/>
                </a:endParaRPr>
              </a:p>
              <a:p>
                <a:pPr indent="0" lvl="0" marL="0" rtl="0" algn="l">
                  <a:spcBef>
                    <a:spcPts val="300"/>
                  </a:spcBef>
                  <a:spcAft>
                    <a:spcPts val="0"/>
                  </a:spcAft>
                  <a:buNone/>
                </a:pPr>
                <a:r>
                  <a:rPr b="1" lang="en" sz="1000">
                    <a:solidFill>
                      <a:srgbClr val="5A4634"/>
                    </a:solidFill>
                    <a:latin typeface="Lato"/>
                    <a:ea typeface="Lato"/>
                    <a:cs typeface="Lato"/>
                    <a:sym typeface="Lato"/>
                  </a:rPr>
                  <a:t>Total Revenue</a:t>
                </a:r>
                <a:endParaRPr b="1" sz="1000">
                  <a:solidFill>
                    <a:srgbClr val="5A4634"/>
                  </a:solidFill>
                  <a:latin typeface="Lato"/>
                  <a:ea typeface="Lato"/>
                  <a:cs typeface="Lato"/>
                  <a:sym typeface="Lato"/>
                </a:endParaRPr>
              </a:p>
              <a:p>
                <a:pPr indent="0" lvl="0" marL="0" rtl="0" algn="l">
                  <a:spcBef>
                    <a:spcPts val="600"/>
                  </a:spcBef>
                  <a:spcAft>
                    <a:spcPts val="0"/>
                  </a:spcAft>
                  <a:buNone/>
                </a:pPr>
                <a:r>
                  <a:rPr b="0" lang="en" sz="1000">
                    <a:solidFill>
                      <a:srgbClr val="5A4634"/>
                    </a:solidFill>
                    <a:latin typeface="Lato"/>
                    <a:ea typeface="Lato"/>
                    <a:cs typeface="Lato"/>
                    <a:sym typeface="Lato"/>
                  </a:rPr>
                  <a:t>Commands a massive share of sales volume daily.</a:t>
                </a:r>
                <a:endParaRPr b="0" sz="1000">
                  <a:solidFill>
                    <a:srgbClr val="5A4634"/>
                  </a:solidFill>
                  <a:latin typeface="Lato"/>
                  <a:ea typeface="Lato"/>
                  <a:cs typeface="Lato"/>
                  <a:sym typeface="Lato"/>
                </a:endParaRPr>
              </a:p>
            </p:txBody>
          </p:sp>
        </p:grpSp>
        <p:grpSp>
          <p:nvGrpSpPr>
            <p:cNvPr id="278" name="Google Shape;278;p18"/>
            <p:cNvGrpSpPr/>
            <p:nvPr/>
          </p:nvGrpSpPr>
          <p:grpSpPr>
            <a:xfrm>
              <a:off x="6286500" y="0"/>
              <a:ext cx="1905000" cy="2476500"/>
              <a:chOff x="0" y="0"/>
              <a:chExt cx="1905000" cy="2476500"/>
            </a:xfrm>
          </p:grpSpPr>
          <p:sp>
            <p:nvSpPr>
              <p:cNvPr id="279" name="Google Shape;279;p18"/>
              <p:cNvSpPr/>
              <p:nvPr/>
            </p:nvSpPr>
            <p:spPr>
              <a:xfrm>
                <a:off x="0" y="0"/>
                <a:ext cx="1905000" cy="2476500"/>
              </a:xfrm>
              <a:prstGeom prst="roundRect">
                <a:avLst>
                  <a:gd fmla="val 4000" name="adj"/>
                </a:avLst>
              </a:prstGeom>
              <a:solidFill>
                <a:srgbClr val="FFFFFF"/>
              </a:solidFill>
              <a:ln cap="flat" cmpd="sng" w="14300">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18"/>
              <p:cNvSpPr/>
              <p:nvPr/>
            </p:nvSpPr>
            <p:spPr>
              <a:xfrm>
                <a:off x="0" y="0"/>
                <a:ext cx="1905000" cy="57300"/>
              </a:xfrm>
              <a:prstGeom prst="roundRect">
                <a:avLst>
                  <a:gd fmla="val 33333" name="adj"/>
                </a:avLst>
              </a:prstGeom>
              <a:solidFill>
                <a:srgbClr val="7A8B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18"/>
              <p:cNvSpPr txBox="1"/>
              <p:nvPr/>
            </p:nvSpPr>
            <p:spPr>
              <a:xfrm>
                <a:off x="152400" y="190500"/>
                <a:ext cx="16002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2C1E16"/>
                    </a:solidFill>
                    <a:highlight>
                      <a:srgbClr val="EADDCD"/>
                    </a:highlight>
                    <a:latin typeface="Lato"/>
                    <a:ea typeface="Lato"/>
                    <a:cs typeface="Lato"/>
                    <a:sym typeface="Lato"/>
                  </a:rPr>
                  <a:t>#4 Performer</a:t>
                </a:r>
                <a:endParaRPr/>
              </a:p>
              <a:p>
                <a:pPr indent="0" lvl="0" marL="0" rtl="0" algn="l">
                  <a:spcBef>
                    <a:spcPts val="0"/>
                  </a:spcBef>
                  <a:spcAft>
                    <a:spcPts val="0"/>
                  </a:spcAft>
                  <a:buNone/>
                </a:pPr>
                <a:r>
                  <a:rPr b="1" lang="en" sz="1500">
                    <a:solidFill>
                      <a:srgbClr val="2C1E16"/>
                    </a:solidFill>
                    <a:latin typeface="Playfair Display"/>
                    <a:ea typeface="Playfair Display"/>
                    <a:cs typeface="Playfair Display"/>
                    <a:sym typeface="Playfair Display"/>
                  </a:rPr>
                  <a:t>Gourmet Brewed Coffee</a:t>
                </a:r>
                <a:endParaRPr b="1" sz="1500">
                  <a:solidFill>
                    <a:srgbClr val="2C1E16"/>
                  </a:solidFill>
                  <a:latin typeface="Playfair Display"/>
                  <a:ea typeface="Playfair Display"/>
                  <a:cs typeface="Playfair Display"/>
                  <a:sym typeface="Playfair Display"/>
                </a:endParaRPr>
              </a:p>
              <a:p>
                <a:pPr indent="0" lvl="0" marL="0" rtl="0" algn="l">
                  <a:spcBef>
                    <a:spcPts val="900"/>
                  </a:spcBef>
                  <a:spcAft>
                    <a:spcPts val="0"/>
                  </a:spcAft>
                  <a:buNone/>
                </a:pPr>
                <a:r>
                  <a:rPr b="1" lang="en" sz="2200">
                    <a:solidFill>
                      <a:srgbClr val="7A8B76"/>
                    </a:solidFill>
                    <a:latin typeface="Playfair Display"/>
                    <a:ea typeface="Playfair Display"/>
                    <a:cs typeface="Playfair Display"/>
                    <a:sym typeface="Playfair Display"/>
                  </a:rPr>
                  <a:t>$70,034.60</a:t>
                </a:r>
                <a:endParaRPr b="1" sz="2200">
                  <a:solidFill>
                    <a:srgbClr val="7A8B76"/>
                  </a:solidFill>
                  <a:latin typeface="Playfair Display"/>
                  <a:ea typeface="Playfair Display"/>
                  <a:cs typeface="Playfair Display"/>
                  <a:sym typeface="Playfair Display"/>
                </a:endParaRPr>
              </a:p>
              <a:p>
                <a:pPr indent="0" lvl="0" marL="0" rtl="0" algn="l">
                  <a:spcBef>
                    <a:spcPts val="300"/>
                  </a:spcBef>
                  <a:spcAft>
                    <a:spcPts val="0"/>
                  </a:spcAft>
                  <a:buNone/>
                </a:pPr>
                <a:r>
                  <a:rPr b="1" lang="en" sz="1000">
                    <a:solidFill>
                      <a:srgbClr val="5A4634"/>
                    </a:solidFill>
                    <a:latin typeface="Lato"/>
                    <a:ea typeface="Lato"/>
                    <a:cs typeface="Lato"/>
                    <a:sym typeface="Lato"/>
                  </a:rPr>
                  <a:t>Total Revenue</a:t>
                </a:r>
                <a:endParaRPr b="1" sz="1000">
                  <a:solidFill>
                    <a:srgbClr val="5A4634"/>
                  </a:solidFill>
                  <a:latin typeface="Lato"/>
                  <a:ea typeface="Lato"/>
                  <a:cs typeface="Lato"/>
                  <a:sym typeface="Lato"/>
                </a:endParaRPr>
              </a:p>
              <a:p>
                <a:pPr indent="0" lvl="0" marL="0" rtl="0" algn="l">
                  <a:spcBef>
                    <a:spcPts val="600"/>
                  </a:spcBef>
                  <a:spcAft>
                    <a:spcPts val="0"/>
                  </a:spcAft>
                  <a:buNone/>
                </a:pPr>
                <a:r>
                  <a:rPr b="0" lang="en" sz="1000">
                    <a:solidFill>
                      <a:srgbClr val="5A4634"/>
                    </a:solidFill>
                    <a:latin typeface="Lato"/>
                    <a:ea typeface="Lato"/>
                    <a:cs typeface="Lato"/>
                    <a:sym typeface="Lato"/>
                  </a:rPr>
                  <a:t>Closely follows as a key foundational pillar of overall volume.</a:t>
                </a:r>
                <a:endParaRPr b="0" sz="1000">
                  <a:solidFill>
                    <a:srgbClr val="5A4634"/>
                  </a:solidFill>
                  <a:latin typeface="Lato"/>
                  <a:ea typeface="Lato"/>
                  <a:cs typeface="Lato"/>
                  <a:sym typeface="Lato"/>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grpSp>
        <p:nvGrpSpPr>
          <p:cNvPr id="286" name="Google Shape;286;p19"/>
          <p:cNvGrpSpPr/>
          <p:nvPr/>
        </p:nvGrpSpPr>
        <p:grpSpPr>
          <a:xfrm>
            <a:off x="0" y="0"/>
            <a:ext cx="9144000" cy="5143500"/>
            <a:chOff x="0" y="0"/>
            <a:chExt cx="9144000" cy="5143500"/>
          </a:xfrm>
        </p:grpSpPr>
        <p:sp>
          <p:nvSpPr>
            <p:cNvPr id="287" name="Google Shape;287;p19"/>
            <p:cNvSpPr/>
            <p:nvPr/>
          </p:nvSpPr>
          <p:spPr>
            <a:xfrm>
              <a:off x="0" y="0"/>
              <a:ext cx="9144000" cy="5143500"/>
            </a:xfrm>
            <a:prstGeom prst="rect">
              <a:avLst/>
            </a:prstGeom>
            <a:solidFill>
              <a:srgbClr val="F9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19"/>
            <p:cNvSpPr/>
            <p:nvPr/>
          </p:nvSpPr>
          <p:spPr>
            <a:xfrm>
              <a:off x="0" y="0"/>
              <a:ext cx="2667000" cy="5143500"/>
            </a:xfrm>
            <a:prstGeom prst="rect">
              <a:avLst/>
            </a:prstGeom>
            <a:solidFill>
              <a:srgbClr val="EADDC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89" name="Google Shape;289;p19"/>
            <p:cNvGrpSpPr/>
            <p:nvPr/>
          </p:nvGrpSpPr>
          <p:grpSpPr>
            <a:xfrm>
              <a:off x="304800" y="114300"/>
              <a:ext cx="457320" cy="342960"/>
              <a:chOff x="95250" y="-95250"/>
              <a:chExt cx="571650" cy="428700"/>
            </a:xfrm>
          </p:grpSpPr>
          <p:sp>
            <p:nvSpPr>
              <p:cNvPr id="290" name="Google Shape;290;p19"/>
              <p:cNvSpPr/>
              <p:nvPr/>
            </p:nvSpPr>
            <p:spPr>
              <a:xfrm>
                <a:off x="95250" y="95250"/>
                <a:ext cx="476400" cy="238200"/>
              </a:xfrm>
              <a:custGeom>
                <a:rect b="b" l="l" r="r" t="t"/>
                <a:pathLst>
                  <a:path extrusionOk="0" h="120000" w="120000">
                    <a:moveTo>
                      <a:pt x="0" y="0"/>
                    </a:moveTo>
                    <a:cubicBezTo>
                      <a:pt x="0" y="72000"/>
                      <a:pt x="24000" y="120000"/>
                      <a:pt x="60000" y="120000"/>
                    </a:cubicBezTo>
                    <a:cubicBezTo>
                      <a:pt x="96000" y="120000"/>
                      <a:pt x="120000" y="72000"/>
                      <a:pt x="120000" y="0"/>
                    </a:cubicBezTo>
                    <a:lnTo>
                      <a:pt x="0" y="0"/>
                    </a:lnTo>
                    <a:close/>
                  </a:path>
                </a:pathLst>
              </a:cu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19"/>
              <p:cNvSpPr/>
              <p:nvPr/>
            </p:nvSpPr>
            <p:spPr>
              <a:xfrm>
                <a:off x="571500" y="142875"/>
                <a:ext cx="95400" cy="162000"/>
              </a:xfrm>
              <a:custGeom>
                <a:rect b="b" l="l" r="r" t="t"/>
                <a:pathLst>
                  <a:path extrusionOk="0" h="120000" w="120000">
                    <a:moveTo>
                      <a:pt x="0" y="0"/>
                    </a:moveTo>
                    <a:cubicBezTo>
                      <a:pt x="96000" y="0"/>
                      <a:pt x="120000" y="35294"/>
                      <a:pt x="120000" y="70588"/>
                    </a:cubicBezTo>
                    <a:cubicBezTo>
                      <a:pt x="120000" y="105882"/>
                      <a:pt x="60000" y="120000"/>
                      <a:pt x="0" y="120000"/>
                    </a:cubicBezTo>
                  </a:path>
                </a:pathLst>
              </a:custGeom>
              <a:solidFill>
                <a:srgbClr val="000000">
                  <a:alpha val="0"/>
                </a:srgbClr>
              </a:solidFill>
              <a:ln cap="flat" cmpd="sng" w="38100">
                <a:solidFill>
                  <a:srgbClr val="2C1E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19"/>
              <p:cNvSpPr/>
              <p:nvPr/>
            </p:nvSpPr>
            <p:spPr>
              <a:xfrm>
                <a:off x="295275" y="152400"/>
                <a:ext cx="76200" cy="76200"/>
              </a:xfrm>
              <a:prstGeom prst="ellipse">
                <a:avLst/>
              </a:prstGeom>
              <a:solidFill>
                <a:srgbClr val="F9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19"/>
              <p:cNvSpPr/>
              <p:nvPr/>
            </p:nvSpPr>
            <p:spPr>
              <a:xfrm>
                <a:off x="238125" y="-95250"/>
                <a:ext cx="190500" cy="95400"/>
              </a:xfrm>
              <a:custGeom>
                <a:rect b="b" l="l" r="r" t="t"/>
                <a:pathLst>
                  <a:path extrusionOk="0" h="120000" w="120000">
                    <a:moveTo>
                      <a:pt x="0" y="120000"/>
                    </a:moveTo>
                    <a:quadBezTo>
                      <a:pt x="30000" y="0"/>
                      <a:pt x="60000" y="120000"/>
                    </a:quadBezTo>
                    <a:lnTo>
                      <a:pt x="120000" y="120000"/>
                    </a:lnTo>
                  </a:path>
                </a:pathLst>
              </a:custGeom>
              <a:solidFill>
                <a:srgbClr val="000000">
                  <a:alpha val="0"/>
                </a:srgbClr>
              </a:solidFill>
              <a:ln cap="flat" cmpd="sng" w="28575">
                <a:solidFill>
                  <a:srgbClr val="D4A37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sp>
        <p:nvSpPr>
          <p:cNvPr id="294" name="Google Shape;294;p19"/>
          <p:cNvSpPr txBox="1"/>
          <p:nvPr/>
        </p:nvSpPr>
        <p:spPr>
          <a:xfrm>
            <a:off x="285750" y="809625"/>
            <a:ext cx="2095500" cy="400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C05A3E"/>
                </a:solidFill>
                <a:latin typeface="Lato"/>
                <a:ea typeface="Lato"/>
                <a:cs typeface="Lato"/>
                <a:sym typeface="Lato"/>
              </a:rPr>
              <a:t>Executive Summary</a:t>
            </a:r>
            <a:endParaRPr b="1" sz="1400">
              <a:solidFill>
                <a:srgbClr val="C05A3E"/>
              </a:solidFill>
              <a:latin typeface="Lato"/>
              <a:ea typeface="Lato"/>
              <a:cs typeface="Lato"/>
              <a:sym typeface="Lato"/>
            </a:endParaRPr>
          </a:p>
          <a:p>
            <a:pPr indent="0" lvl="0" marL="0" rtl="0" algn="l">
              <a:spcBef>
                <a:spcPts val="900"/>
              </a:spcBef>
              <a:spcAft>
                <a:spcPts val="0"/>
              </a:spcAft>
              <a:buNone/>
            </a:pPr>
            <a:r>
              <a:rPr b="0" lang="en" sz="1100">
                <a:solidFill>
                  <a:srgbClr val="5A4634"/>
                </a:solidFill>
                <a:latin typeface="Lato"/>
                <a:ea typeface="Lato"/>
                <a:cs typeface="Lato"/>
                <a:sym typeface="Lato"/>
              </a:rPr>
              <a:t>Sales timing patterns reveal a heavy reliance on morning routines and weekday commuters.</a:t>
            </a:r>
            <a:endParaRPr b="0" sz="1100">
              <a:solidFill>
                <a:srgbClr val="5A4634"/>
              </a:solidFill>
              <a:latin typeface="Lato"/>
              <a:ea typeface="Lato"/>
              <a:cs typeface="Lato"/>
              <a:sym typeface="Lato"/>
            </a:endParaRPr>
          </a:p>
          <a:p>
            <a:pPr indent="0" lvl="0" marL="0" rtl="0" algn="l">
              <a:spcBef>
                <a:spcPts val="1125"/>
              </a:spcBef>
              <a:spcAft>
                <a:spcPts val="750"/>
              </a:spcAft>
              <a:buNone/>
            </a:pPr>
            <a:r>
              <a:rPr b="0" i="1" lang="en" sz="1100">
                <a:solidFill>
                  <a:srgbClr val="2C1E16"/>
                </a:solidFill>
                <a:latin typeface="Lato"/>
                <a:ea typeface="Lato"/>
                <a:cs typeface="Lato"/>
                <a:sym typeface="Lato"/>
              </a:rPr>
              <a:t>"Weekday commuters represent the foundational driver of total sales volume, with peak performance during morning operational dayparts."</a:t>
            </a:r>
            <a:endParaRPr b="0" i="1" sz="1100">
              <a:solidFill>
                <a:srgbClr val="2C1E16"/>
              </a:solidFill>
              <a:latin typeface="Lato"/>
              <a:ea typeface="Lato"/>
              <a:cs typeface="Lato"/>
              <a:sym typeface="Lato"/>
            </a:endParaRPr>
          </a:p>
        </p:txBody>
      </p:sp>
      <p:grpSp>
        <p:nvGrpSpPr>
          <p:cNvPr id="295" name="Google Shape;295;p19"/>
          <p:cNvGrpSpPr/>
          <p:nvPr/>
        </p:nvGrpSpPr>
        <p:grpSpPr>
          <a:xfrm>
            <a:off x="2952750" y="285750"/>
            <a:ext cx="5810400" cy="4524450"/>
            <a:chOff x="0" y="0"/>
            <a:chExt cx="5810400" cy="4524450"/>
          </a:xfrm>
        </p:grpSpPr>
        <p:sp>
          <p:nvSpPr>
            <p:cNvPr id="296" name="Google Shape;296;p19"/>
            <p:cNvSpPr txBox="1"/>
            <p:nvPr/>
          </p:nvSpPr>
          <p:spPr>
            <a:xfrm>
              <a:off x="0" y="0"/>
              <a:ext cx="58104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00">
                  <a:solidFill>
                    <a:srgbClr val="2C1E16"/>
                  </a:solidFill>
                  <a:latin typeface="Playfair Display"/>
                  <a:ea typeface="Playfair Display"/>
                  <a:cs typeface="Playfair Display"/>
                  <a:sym typeface="Playfair Display"/>
                </a:rPr>
                <a:t>Morning dayparts and weekday operations dominate total sales volume.</a:t>
              </a:r>
              <a:endParaRPr b="1" sz="2200">
                <a:solidFill>
                  <a:srgbClr val="2C1E16"/>
                </a:solidFill>
                <a:latin typeface="Playfair Display"/>
                <a:ea typeface="Playfair Display"/>
                <a:cs typeface="Playfair Display"/>
                <a:sym typeface="Playfair Display"/>
              </a:endParaRPr>
            </a:p>
          </p:txBody>
        </p:sp>
        <p:cxnSp>
          <p:nvCxnSpPr>
            <p:cNvPr id="297" name="Google Shape;297;p19"/>
            <p:cNvCxnSpPr/>
            <p:nvPr/>
          </p:nvCxnSpPr>
          <p:spPr>
            <a:xfrm>
              <a:off x="0" y="762000"/>
              <a:ext cx="5810400" cy="0"/>
            </a:xfrm>
            <a:prstGeom prst="straightConnector1">
              <a:avLst/>
            </a:prstGeom>
            <a:solidFill>
              <a:srgbClr val="FFFFFF"/>
            </a:solidFill>
            <a:ln cap="flat" cmpd="sng" w="14300">
              <a:solidFill>
                <a:srgbClr val="D4A373"/>
              </a:solidFill>
              <a:prstDash val="solid"/>
              <a:round/>
              <a:headEnd len="sm" w="sm" type="none"/>
              <a:tailEnd len="sm" w="sm" type="none"/>
            </a:ln>
          </p:spPr>
        </p:cxnSp>
        <p:grpSp>
          <p:nvGrpSpPr>
            <p:cNvPr id="298" name="Google Shape;298;p19"/>
            <p:cNvGrpSpPr/>
            <p:nvPr/>
          </p:nvGrpSpPr>
          <p:grpSpPr>
            <a:xfrm>
              <a:off x="0" y="904875"/>
              <a:ext cx="5810400" cy="1571550"/>
              <a:chOff x="0" y="0"/>
              <a:chExt cx="5810400" cy="1571550"/>
            </a:xfrm>
          </p:grpSpPr>
          <p:sp>
            <p:nvSpPr>
              <p:cNvPr id="299" name="Google Shape;299;p19"/>
              <p:cNvSpPr txBox="1"/>
              <p:nvPr/>
            </p:nvSpPr>
            <p:spPr>
              <a:xfrm>
                <a:off x="0" y="0"/>
                <a:ext cx="58104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C05A3E"/>
                    </a:solidFill>
                    <a:latin typeface="Lato"/>
                    <a:ea typeface="Lato"/>
                    <a:cs typeface="Lato"/>
                    <a:sym typeface="Lato"/>
                  </a:rPr>
                  <a:t>Revenue by Daypart Breakdown</a:t>
                </a:r>
                <a:endParaRPr b="1" sz="1100">
                  <a:solidFill>
                    <a:srgbClr val="C05A3E"/>
                  </a:solidFill>
                  <a:latin typeface="Lato"/>
                  <a:ea typeface="Lato"/>
                  <a:cs typeface="Lato"/>
                  <a:sym typeface="Lato"/>
                </a:endParaRPr>
              </a:p>
            </p:txBody>
          </p:sp>
          <p:grpSp>
            <p:nvGrpSpPr>
              <p:cNvPr id="300" name="Google Shape;300;p19"/>
              <p:cNvGrpSpPr/>
              <p:nvPr/>
            </p:nvGrpSpPr>
            <p:grpSpPr>
              <a:xfrm>
                <a:off x="0" y="285750"/>
                <a:ext cx="1809600" cy="1285800"/>
                <a:chOff x="0" y="0"/>
                <a:chExt cx="1809600" cy="1285800"/>
              </a:xfrm>
            </p:grpSpPr>
            <p:sp>
              <p:nvSpPr>
                <p:cNvPr id="301" name="Google Shape;301;p19"/>
                <p:cNvSpPr/>
                <p:nvPr/>
              </p:nvSpPr>
              <p:spPr>
                <a:xfrm>
                  <a:off x="0" y="0"/>
                  <a:ext cx="1809600" cy="1285800"/>
                </a:xfrm>
                <a:prstGeom prst="roundRect">
                  <a:avLst>
                    <a:gd fmla="val 5925" name="adj"/>
                  </a:avLst>
                </a:pr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19"/>
                <p:cNvSpPr txBox="1"/>
                <p:nvPr/>
              </p:nvSpPr>
              <p:spPr>
                <a:xfrm>
                  <a:off x="142875" y="142875"/>
                  <a:ext cx="1524000" cy="10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D4A373"/>
                      </a:solidFill>
                      <a:latin typeface="Lato"/>
                      <a:ea typeface="Lato"/>
                      <a:cs typeface="Lato"/>
                      <a:sym typeface="Lato"/>
                    </a:rPr>
                    <a:t>Morning</a:t>
                  </a:r>
                  <a:endParaRPr b="1" sz="1000">
                    <a:solidFill>
                      <a:srgbClr val="D4A373"/>
                    </a:solidFill>
                    <a:latin typeface="Lato"/>
                    <a:ea typeface="Lato"/>
                    <a:cs typeface="Lato"/>
                    <a:sym typeface="Lato"/>
                  </a:endParaRPr>
                </a:p>
                <a:p>
                  <a:pPr indent="0" lvl="0" marL="0" rtl="0" algn="l">
                    <a:spcBef>
                      <a:spcPts val="375"/>
                    </a:spcBef>
                    <a:spcAft>
                      <a:spcPts val="0"/>
                    </a:spcAft>
                    <a:buNone/>
                  </a:pPr>
                  <a:r>
                    <a:rPr b="1" lang="en" sz="2600">
                      <a:solidFill>
                        <a:srgbClr val="F9F6F0"/>
                      </a:solidFill>
                      <a:latin typeface="Playfair Display"/>
                      <a:ea typeface="Playfair Display"/>
                      <a:cs typeface="Playfair Display"/>
                      <a:sym typeface="Playfair Display"/>
                    </a:rPr>
                    <a:t>$388,289</a:t>
                  </a:r>
                  <a:endParaRPr b="1" sz="2600">
                    <a:solidFill>
                      <a:srgbClr val="F9F6F0"/>
                    </a:solidFill>
                    <a:latin typeface="Playfair Display"/>
                    <a:ea typeface="Playfair Display"/>
                    <a:cs typeface="Playfair Display"/>
                    <a:sym typeface="Playfair Display"/>
                  </a:endParaRPr>
                </a:p>
                <a:p>
                  <a:pPr indent="0" lvl="0" marL="0" rtl="0" algn="l">
                    <a:spcBef>
                      <a:spcPts val="375"/>
                    </a:spcBef>
                    <a:spcAft>
                      <a:spcPts val="750"/>
                    </a:spcAft>
                    <a:buNone/>
                  </a:pPr>
                  <a:r>
                    <a:rPr b="0" lang="en" sz="900">
                      <a:solidFill>
                        <a:srgbClr val="EADDCD"/>
                      </a:solidFill>
                      <a:latin typeface="Lato"/>
                      <a:ea typeface="Lato"/>
                      <a:cs typeface="Lato"/>
                      <a:sym typeface="Lato"/>
                    </a:rPr>
                    <a:t>Vast majority driver</a:t>
                  </a:r>
                  <a:endParaRPr b="0" sz="900">
                    <a:solidFill>
                      <a:srgbClr val="EADDCD"/>
                    </a:solidFill>
                    <a:latin typeface="Lato"/>
                    <a:ea typeface="Lato"/>
                    <a:cs typeface="Lato"/>
                    <a:sym typeface="Lato"/>
                  </a:endParaRPr>
                </a:p>
              </p:txBody>
            </p:sp>
          </p:grpSp>
          <p:grpSp>
            <p:nvGrpSpPr>
              <p:cNvPr id="303" name="Google Shape;303;p19"/>
              <p:cNvGrpSpPr/>
              <p:nvPr/>
            </p:nvGrpSpPr>
            <p:grpSpPr>
              <a:xfrm>
                <a:off x="1952625" y="285750"/>
                <a:ext cx="1809600" cy="1285800"/>
                <a:chOff x="0" y="0"/>
                <a:chExt cx="1809600" cy="1285800"/>
              </a:xfrm>
            </p:grpSpPr>
            <p:sp>
              <p:nvSpPr>
                <p:cNvPr id="304" name="Google Shape;304;p19"/>
                <p:cNvSpPr/>
                <p:nvPr/>
              </p:nvSpPr>
              <p:spPr>
                <a:xfrm>
                  <a:off x="0" y="0"/>
                  <a:ext cx="1809600" cy="1285800"/>
                </a:xfrm>
                <a:prstGeom prst="roundRect">
                  <a:avLst>
                    <a:gd fmla="val 5925" name="adj"/>
                  </a:avLst>
                </a:prstGeom>
                <a:solidFill>
                  <a:srgbClr val="FFFFFF"/>
                </a:solidFill>
                <a:ln cap="flat" cmpd="sng" w="9525">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19"/>
                <p:cNvSpPr txBox="1"/>
                <p:nvPr/>
              </p:nvSpPr>
              <p:spPr>
                <a:xfrm>
                  <a:off x="142875" y="142875"/>
                  <a:ext cx="1524000" cy="10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5A4634"/>
                      </a:solidFill>
                      <a:latin typeface="Lato"/>
                      <a:ea typeface="Lato"/>
                      <a:cs typeface="Lato"/>
                      <a:sym typeface="Lato"/>
                    </a:rPr>
                    <a:t>Afternoon</a:t>
                  </a:r>
                  <a:endParaRPr b="1" sz="1000">
                    <a:solidFill>
                      <a:srgbClr val="5A4634"/>
                    </a:solidFill>
                    <a:latin typeface="Lato"/>
                    <a:ea typeface="Lato"/>
                    <a:cs typeface="Lato"/>
                    <a:sym typeface="Lato"/>
                  </a:endParaRPr>
                </a:p>
                <a:p>
                  <a:pPr indent="0" lvl="0" marL="0" rtl="0" algn="l">
                    <a:spcBef>
                      <a:spcPts val="375"/>
                    </a:spcBef>
                    <a:spcAft>
                      <a:spcPts val="0"/>
                    </a:spcAft>
                    <a:buNone/>
                  </a:pPr>
                  <a:r>
                    <a:rPr b="1" lang="en" sz="2600">
                      <a:solidFill>
                        <a:srgbClr val="2C1E16"/>
                      </a:solidFill>
                      <a:latin typeface="Playfair Display"/>
                      <a:ea typeface="Playfair Display"/>
                      <a:cs typeface="Playfair Display"/>
                      <a:sym typeface="Playfair Display"/>
                    </a:rPr>
                    <a:t>$244,855</a:t>
                  </a:r>
                  <a:endParaRPr b="1" sz="2600">
                    <a:solidFill>
                      <a:srgbClr val="2C1E16"/>
                    </a:solidFill>
                    <a:latin typeface="Playfair Display"/>
                    <a:ea typeface="Playfair Display"/>
                    <a:cs typeface="Playfair Display"/>
                    <a:sym typeface="Playfair Display"/>
                  </a:endParaRPr>
                </a:p>
                <a:p>
                  <a:pPr indent="0" lvl="0" marL="0" rtl="0" algn="l">
                    <a:spcBef>
                      <a:spcPts val="375"/>
                    </a:spcBef>
                    <a:spcAft>
                      <a:spcPts val="750"/>
                    </a:spcAft>
                    <a:buNone/>
                  </a:pPr>
                  <a:r>
                    <a:rPr b="0" lang="en" sz="900">
                      <a:solidFill>
                        <a:srgbClr val="5A4634"/>
                      </a:solidFill>
                      <a:latin typeface="Lato"/>
                      <a:ea typeface="Lato"/>
                      <a:cs typeface="Lato"/>
                      <a:sym typeface="Lato"/>
                    </a:rPr>
                    <a:t>Remains strong</a:t>
                  </a:r>
                  <a:endParaRPr b="0" sz="900">
                    <a:solidFill>
                      <a:srgbClr val="5A4634"/>
                    </a:solidFill>
                    <a:latin typeface="Lato"/>
                    <a:ea typeface="Lato"/>
                    <a:cs typeface="Lato"/>
                    <a:sym typeface="Lato"/>
                  </a:endParaRPr>
                </a:p>
              </p:txBody>
            </p:sp>
          </p:grpSp>
          <p:grpSp>
            <p:nvGrpSpPr>
              <p:cNvPr id="306" name="Google Shape;306;p19"/>
              <p:cNvGrpSpPr/>
              <p:nvPr/>
            </p:nvGrpSpPr>
            <p:grpSpPr>
              <a:xfrm>
                <a:off x="3905250" y="285750"/>
                <a:ext cx="1809600" cy="1285800"/>
                <a:chOff x="0" y="0"/>
                <a:chExt cx="1809600" cy="1285800"/>
              </a:xfrm>
            </p:grpSpPr>
            <p:sp>
              <p:nvSpPr>
                <p:cNvPr id="307" name="Google Shape;307;p19"/>
                <p:cNvSpPr/>
                <p:nvPr/>
              </p:nvSpPr>
              <p:spPr>
                <a:xfrm>
                  <a:off x="0" y="0"/>
                  <a:ext cx="1809600" cy="1285800"/>
                </a:xfrm>
                <a:prstGeom prst="roundRect">
                  <a:avLst>
                    <a:gd fmla="val 5925" name="adj"/>
                  </a:avLst>
                </a:prstGeom>
                <a:solidFill>
                  <a:srgbClr val="FFFFFF"/>
                </a:solidFill>
                <a:ln cap="flat" cmpd="sng" w="9525">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19"/>
                <p:cNvSpPr txBox="1"/>
                <p:nvPr/>
              </p:nvSpPr>
              <p:spPr>
                <a:xfrm>
                  <a:off x="142875" y="142875"/>
                  <a:ext cx="1524000" cy="10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5A4634"/>
                      </a:solidFill>
                      <a:latin typeface="Lato"/>
                      <a:ea typeface="Lato"/>
                      <a:cs typeface="Lato"/>
                      <a:sym typeface="Lato"/>
                    </a:rPr>
                    <a:t>Evening</a:t>
                  </a:r>
                  <a:endParaRPr b="1" sz="1000">
                    <a:solidFill>
                      <a:srgbClr val="5A4634"/>
                    </a:solidFill>
                    <a:latin typeface="Lato"/>
                    <a:ea typeface="Lato"/>
                    <a:cs typeface="Lato"/>
                    <a:sym typeface="Lato"/>
                  </a:endParaRPr>
                </a:p>
                <a:p>
                  <a:pPr indent="0" lvl="0" marL="0" rtl="0" algn="l">
                    <a:spcBef>
                      <a:spcPts val="375"/>
                    </a:spcBef>
                    <a:spcAft>
                      <a:spcPts val="0"/>
                    </a:spcAft>
                    <a:buNone/>
                  </a:pPr>
                  <a:r>
                    <a:rPr b="1" lang="en" sz="2400">
                      <a:solidFill>
                        <a:srgbClr val="C05A3E"/>
                      </a:solidFill>
                      <a:latin typeface="Playfair Display"/>
                      <a:ea typeface="Playfair Display"/>
                      <a:cs typeface="Playfair Display"/>
                      <a:sym typeface="Playfair Display"/>
                    </a:rPr>
                    <a:t>$65,668.50</a:t>
                  </a:r>
                  <a:endParaRPr b="1" sz="2400">
                    <a:solidFill>
                      <a:srgbClr val="C05A3E"/>
                    </a:solidFill>
                    <a:latin typeface="Playfair Display"/>
                    <a:ea typeface="Playfair Display"/>
                    <a:cs typeface="Playfair Display"/>
                    <a:sym typeface="Playfair Display"/>
                  </a:endParaRPr>
                </a:p>
                <a:p>
                  <a:pPr indent="0" lvl="0" marL="0" rtl="0" algn="l">
                    <a:spcBef>
                      <a:spcPts val="375"/>
                    </a:spcBef>
                    <a:spcAft>
                      <a:spcPts val="750"/>
                    </a:spcAft>
                    <a:buNone/>
                  </a:pPr>
                  <a:r>
                    <a:rPr b="0" lang="en" sz="900">
                      <a:solidFill>
                        <a:srgbClr val="C05A3E"/>
                      </a:solidFill>
                      <a:latin typeface="Lato"/>
                      <a:ea typeface="Lato"/>
                      <a:cs typeface="Lato"/>
                      <a:sym typeface="Lato"/>
                    </a:rPr>
                    <a:t>Significant drop</a:t>
                  </a:r>
                  <a:endParaRPr b="0" sz="900">
                    <a:solidFill>
                      <a:srgbClr val="C05A3E"/>
                    </a:solidFill>
                    <a:latin typeface="Lato"/>
                    <a:ea typeface="Lato"/>
                    <a:cs typeface="Lato"/>
                    <a:sym typeface="Lato"/>
                  </a:endParaRPr>
                </a:p>
              </p:txBody>
            </p:sp>
          </p:grpSp>
        </p:grpSp>
        <p:grpSp>
          <p:nvGrpSpPr>
            <p:cNvPr id="309" name="Google Shape;309;p19"/>
            <p:cNvGrpSpPr/>
            <p:nvPr/>
          </p:nvGrpSpPr>
          <p:grpSpPr>
            <a:xfrm>
              <a:off x="0" y="2667000"/>
              <a:ext cx="5810400" cy="1857450"/>
              <a:chOff x="0" y="0"/>
              <a:chExt cx="5810400" cy="1857450"/>
            </a:xfrm>
          </p:grpSpPr>
          <p:sp>
            <p:nvSpPr>
              <p:cNvPr id="310" name="Google Shape;310;p19"/>
              <p:cNvSpPr txBox="1"/>
              <p:nvPr/>
            </p:nvSpPr>
            <p:spPr>
              <a:xfrm>
                <a:off x="0" y="0"/>
                <a:ext cx="58104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C05A3E"/>
                    </a:solidFill>
                    <a:latin typeface="Lato"/>
                    <a:ea typeface="Lato"/>
                    <a:cs typeface="Lato"/>
                    <a:sym typeface="Lato"/>
                  </a:rPr>
                  <a:t>Operational Split: Commuter Traffic Impact</a:t>
                </a:r>
                <a:endParaRPr b="1" sz="1100">
                  <a:solidFill>
                    <a:srgbClr val="C05A3E"/>
                  </a:solidFill>
                  <a:latin typeface="Lato"/>
                  <a:ea typeface="Lato"/>
                  <a:cs typeface="Lato"/>
                  <a:sym typeface="Lato"/>
                </a:endParaRPr>
              </a:p>
            </p:txBody>
          </p:sp>
          <p:grpSp>
            <p:nvGrpSpPr>
              <p:cNvPr id="311" name="Google Shape;311;p19"/>
              <p:cNvGrpSpPr/>
              <p:nvPr/>
            </p:nvGrpSpPr>
            <p:grpSpPr>
              <a:xfrm>
                <a:off x="0" y="285750"/>
                <a:ext cx="2809800" cy="1571700"/>
                <a:chOff x="0" y="0"/>
                <a:chExt cx="2809800" cy="1571700"/>
              </a:xfrm>
            </p:grpSpPr>
            <p:sp>
              <p:nvSpPr>
                <p:cNvPr id="312" name="Google Shape;312;p19"/>
                <p:cNvSpPr/>
                <p:nvPr/>
              </p:nvSpPr>
              <p:spPr>
                <a:xfrm>
                  <a:off x="0" y="0"/>
                  <a:ext cx="2809800" cy="1571700"/>
                </a:xfrm>
                <a:prstGeom prst="roundRect">
                  <a:avLst>
                    <a:gd fmla="val 4848" name="adj"/>
                  </a:avLst>
                </a:prstGeom>
                <a:solidFill>
                  <a:srgbClr val="EADDC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19"/>
                <p:cNvSpPr txBox="1"/>
                <p:nvPr/>
              </p:nvSpPr>
              <p:spPr>
                <a:xfrm>
                  <a:off x="190500" y="142875"/>
                  <a:ext cx="2428800" cy="12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5A4634"/>
                      </a:solidFill>
                      <a:latin typeface="Lato"/>
                      <a:ea typeface="Lato"/>
                      <a:cs typeface="Lato"/>
                      <a:sym typeface="Lato"/>
                    </a:rPr>
                    <a:t>Weekdays (Mon - Fri)</a:t>
                  </a:r>
                  <a:endParaRPr b="1" sz="1000">
                    <a:solidFill>
                      <a:srgbClr val="5A4634"/>
                    </a:solidFill>
                    <a:latin typeface="Lato"/>
                    <a:ea typeface="Lato"/>
                    <a:cs typeface="Lato"/>
                    <a:sym typeface="Lato"/>
                  </a:endParaRPr>
                </a:p>
                <a:p>
                  <a:pPr indent="0" lvl="0" marL="0" rtl="0" algn="l">
                    <a:spcBef>
                      <a:spcPts val="150"/>
                    </a:spcBef>
                    <a:spcAft>
                      <a:spcPts val="0"/>
                    </a:spcAft>
                    <a:buNone/>
                  </a:pPr>
                  <a:r>
                    <a:rPr b="1" lang="en" sz="3400">
                      <a:solidFill>
                        <a:srgbClr val="C05A3E"/>
                      </a:solidFill>
                      <a:latin typeface="Playfair Display"/>
                      <a:ea typeface="Playfair Display"/>
                      <a:cs typeface="Playfair Display"/>
                      <a:sym typeface="Playfair Display"/>
                    </a:rPr>
                    <a:t>$503,588</a:t>
                  </a:r>
                  <a:endParaRPr b="1" sz="3400">
                    <a:solidFill>
                      <a:srgbClr val="C05A3E"/>
                    </a:solidFill>
                    <a:latin typeface="Playfair Display"/>
                    <a:ea typeface="Playfair Display"/>
                    <a:cs typeface="Playfair Display"/>
                    <a:sym typeface="Playfair Display"/>
                  </a:endParaRPr>
                </a:p>
                <a:p>
                  <a:pPr indent="0" lvl="0" marL="0" rtl="0" algn="l">
                    <a:spcBef>
                      <a:spcPts val="150"/>
                    </a:spcBef>
                    <a:spcAft>
                      <a:spcPts val="0"/>
                    </a:spcAft>
                    <a:buNone/>
                  </a:pPr>
                  <a:r>
                    <a:rPr b="0" lang="en" sz="1000">
                      <a:solidFill>
                        <a:srgbClr val="2C1E16"/>
                      </a:solidFill>
                      <a:latin typeface="Lato"/>
                      <a:ea typeface="Lato"/>
                      <a:cs typeface="Lato"/>
                      <a:sym typeface="Lato"/>
                    </a:rPr>
                    <a:t>Primary revenue engine powered by commuter routines.</a:t>
                  </a:r>
                  <a:endParaRPr b="0" sz="1000">
                    <a:solidFill>
                      <a:srgbClr val="2C1E16"/>
                    </a:solidFill>
                    <a:latin typeface="Lato"/>
                    <a:ea typeface="Lato"/>
                    <a:cs typeface="Lato"/>
                    <a:sym typeface="Lato"/>
                  </a:endParaRPr>
                </a:p>
              </p:txBody>
            </p:sp>
          </p:grpSp>
          <p:grpSp>
            <p:nvGrpSpPr>
              <p:cNvPr id="314" name="Google Shape;314;p19"/>
              <p:cNvGrpSpPr/>
              <p:nvPr/>
            </p:nvGrpSpPr>
            <p:grpSpPr>
              <a:xfrm>
                <a:off x="2952750" y="285750"/>
                <a:ext cx="2762400" cy="1571700"/>
                <a:chOff x="0" y="0"/>
                <a:chExt cx="2762400" cy="1571700"/>
              </a:xfrm>
            </p:grpSpPr>
            <p:sp>
              <p:nvSpPr>
                <p:cNvPr id="315" name="Google Shape;315;p19"/>
                <p:cNvSpPr/>
                <p:nvPr/>
              </p:nvSpPr>
              <p:spPr>
                <a:xfrm>
                  <a:off x="0" y="0"/>
                  <a:ext cx="2762400" cy="1571700"/>
                </a:xfrm>
                <a:prstGeom prst="roundRect">
                  <a:avLst>
                    <a:gd fmla="val 4848" name="adj"/>
                  </a:avLst>
                </a:prstGeom>
                <a:solidFill>
                  <a:srgbClr val="FFFFFF"/>
                </a:solidFill>
                <a:ln cap="flat" cmpd="sng" w="9525">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19"/>
                <p:cNvSpPr txBox="1"/>
                <p:nvPr/>
              </p:nvSpPr>
              <p:spPr>
                <a:xfrm>
                  <a:off x="190500" y="142875"/>
                  <a:ext cx="2381400" cy="12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5A4634"/>
                      </a:solidFill>
                      <a:latin typeface="Lato"/>
                      <a:ea typeface="Lato"/>
                      <a:cs typeface="Lato"/>
                      <a:sym typeface="Lato"/>
                    </a:rPr>
                    <a:t>Weekends (Sat - Sun)</a:t>
                  </a:r>
                  <a:endParaRPr b="1" sz="1000">
                    <a:solidFill>
                      <a:srgbClr val="5A4634"/>
                    </a:solidFill>
                    <a:latin typeface="Lato"/>
                    <a:ea typeface="Lato"/>
                    <a:cs typeface="Lato"/>
                    <a:sym typeface="Lato"/>
                  </a:endParaRPr>
                </a:p>
                <a:p>
                  <a:pPr indent="0" lvl="0" marL="0" rtl="0" algn="l">
                    <a:spcBef>
                      <a:spcPts val="150"/>
                    </a:spcBef>
                    <a:spcAft>
                      <a:spcPts val="0"/>
                    </a:spcAft>
                    <a:buNone/>
                  </a:pPr>
                  <a:r>
                    <a:rPr b="1" lang="en" sz="3400">
                      <a:solidFill>
                        <a:srgbClr val="5A4634"/>
                      </a:solidFill>
                      <a:latin typeface="Playfair Display"/>
                      <a:ea typeface="Playfair Display"/>
                      <a:cs typeface="Playfair Display"/>
                      <a:sym typeface="Playfair Display"/>
                    </a:rPr>
                    <a:t>$195,225</a:t>
                  </a:r>
                  <a:endParaRPr b="1" sz="3400">
                    <a:solidFill>
                      <a:srgbClr val="5A4634"/>
                    </a:solidFill>
                    <a:latin typeface="Playfair Display"/>
                    <a:ea typeface="Playfair Display"/>
                    <a:cs typeface="Playfair Display"/>
                    <a:sym typeface="Playfair Display"/>
                  </a:endParaRPr>
                </a:p>
                <a:p>
                  <a:pPr indent="0" lvl="0" marL="0" rtl="0" algn="l">
                    <a:spcBef>
                      <a:spcPts val="150"/>
                    </a:spcBef>
                    <a:spcAft>
                      <a:spcPts val="0"/>
                    </a:spcAft>
                    <a:buNone/>
                  </a:pPr>
                  <a:r>
                    <a:rPr b="0" lang="en" sz="1000">
                      <a:solidFill>
                        <a:srgbClr val="5A4634"/>
                      </a:solidFill>
                      <a:latin typeface="Lato"/>
                      <a:ea typeface="Lato"/>
                      <a:cs typeface="Lato"/>
                      <a:sym typeface="Lato"/>
                    </a:rPr>
                    <a:t>Secondary volume emphasizing off-peak leisure traffic.</a:t>
                  </a:r>
                  <a:endParaRPr b="0" sz="1000">
                    <a:solidFill>
                      <a:srgbClr val="5A4634"/>
                    </a:solidFill>
                    <a:latin typeface="Lato"/>
                    <a:ea typeface="Lato"/>
                    <a:cs typeface="Lato"/>
                    <a:sym typeface="Lato"/>
                  </a:endParaRPr>
                </a:p>
              </p:txBody>
            </p:sp>
          </p:gr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grpSp>
        <p:nvGrpSpPr>
          <p:cNvPr id="321" name="Google Shape;321;p20"/>
          <p:cNvGrpSpPr/>
          <p:nvPr/>
        </p:nvGrpSpPr>
        <p:grpSpPr>
          <a:xfrm>
            <a:off x="476250" y="238125"/>
            <a:ext cx="8191500" cy="457200"/>
            <a:chOff x="0" y="0"/>
            <a:chExt cx="8191500" cy="457200"/>
          </a:xfrm>
        </p:grpSpPr>
        <p:sp>
          <p:nvSpPr>
            <p:cNvPr id="322" name="Google Shape;322;p20"/>
            <p:cNvSpPr txBox="1"/>
            <p:nvPr/>
          </p:nvSpPr>
          <p:spPr>
            <a:xfrm>
              <a:off x="0" y="0"/>
              <a:ext cx="8191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200">
                  <a:solidFill>
                    <a:srgbClr val="2C1E16"/>
                  </a:solidFill>
                  <a:latin typeface="Playfair Display"/>
                  <a:ea typeface="Playfair Display"/>
                  <a:cs typeface="Playfair Display"/>
                  <a:sym typeface="Playfair Display"/>
                </a:rPr>
                <a:t>Low Performing Products</a:t>
              </a:r>
              <a:endParaRPr b="1" sz="2200">
                <a:solidFill>
                  <a:srgbClr val="2C1E16"/>
                </a:solidFill>
                <a:latin typeface="Playfair Display"/>
                <a:ea typeface="Playfair Display"/>
                <a:cs typeface="Playfair Display"/>
                <a:sym typeface="Playfair Display"/>
              </a:endParaRPr>
            </a:p>
          </p:txBody>
        </p:sp>
        <p:cxnSp>
          <p:nvCxnSpPr>
            <p:cNvPr id="323" name="Google Shape;323;p20"/>
            <p:cNvCxnSpPr/>
            <p:nvPr/>
          </p:nvCxnSpPr>
          <p:spPr>
            <a:xfrm>
              <a:off x="0" y="457200"/>
              <a:ext cx="8191500" cy="0"/>
            </a:xfrm>
            <a:prstGeom prst="straightConnector1">
              <a:avLst/>
            </a:prstGeom>
            <a:solidFill>
              <a:srgbClr val="FFFFFF"/>
            </a:solidFill>
            <a:ln cap="flat" cmpd="sng" w="19050">
              <a:solidFill>
                <a:srgbClr val="D4A373"/>
              </a:solidFill>
              <a:prstDash val="solid"/>
              <a:round/>
              <a:headEnd len="sm" w="sm" type="none"/>
              <a:tailEnd len="sm" w="sm" type="none"/>
            </a:ln>
          </p:spPr>
        </p:cxnSp>
      </p:grpSp>
      <p:grpSp>
        <p:nvGrpSpPr>
          <p:cNvPr id="324" name="Google Shape;324;p20"/>
          <p:cNvGrpSpPr/>
          <p:nvPr/>
        </p:nvGrpSpPr>
        <p:grpSpPr>
          <a:xfrm>
            <a:off x="476250" y="838200"/>
            <a:ext cx="8191500" cy="552600"/>
            <a:chOff x="0" y="0"/>
            <a:chExt cx="8191500" cy="552600"/>
          </a:xfrm>
        </p:grpSpPr>
        <p:sp>
          <p:nvSpPr>
            <p:cNvPr id="325" name="Google Shape;325;p20"/>
            <p:cNvSpPr/>
            <p:nvPr/>
          </p:nvSpPr>
          <p:spPr>
            <a:xfrm>
              <a:off x="0" y="0"/>
              <a:ext cx="8191500" cy="552600"/>
            </a:xfrm>
            <a:prstGeom prst="roundRect">
              <a:avLst>
                <a:gd fmla="val 10344" name="adj"/>
              </a:avLst>
            </a:prstGeom>
            <a:solidFill>
              <a:srgbClr val="EADDCD">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20"/>
            <p:cNvSpPr txBox="1"/>
            <p:nvPr/>
          </p:nvSpPr>
          <p:spPr>
            <a:xfrm>
              <a:off x="171450" y="0"/>
              <a:ext cx="7848600" cy="55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2C1E16"/>
                  </a:solidFill>
                  <a:latin typeface="Lato"/>
                  <a:ea typeface="Lato"/>
                  <a:cs typeface="Lato"/>
                  <a:sym typeface="Lato"/>
                </a:rPr>
                <a:t>While top-tier products thrive, several of our 29 menu categories underperform significantly. The SKUs below consume inventory space and operational focus while providing minimal return to the $698,812 total revenue baseline.</a:t>
              </a:r>
              <a:endParaRPr b="0" sz="1050">
                <a:solidFill>
                  <a:srgbClr val="2C1E16"/>
                </a:solidFill>
                <a:latin typeface="Lato"/>
                <a:ea typeface="Lato"/>
                <a:cs typeface="Lato"/>
                <a:sym typeface="Lato"/>
              </a:endParaRPr>
            </a:p>
          </p:txBody>
        </p:sp>
      </p:grpSp>
      <p:grpSp>
        <p:nvGrpSpPr>
          <p:cNvPr id="327" name="Google Shape;327;p20"/>
          <p:cNvGrpSpPr/>
          <p:nvPr/>
        </p:nvGrpSpPr>
        <p:grpSpPr>
          <a:xfrm>
            <a:off x="476250" y="1543050"/>
            <a:ext cx="2552700" cy="2667000"/>
            <a:chOff x="0" y="0"/>
            <a:chExt cx="2552700" cy="2667000"/>
          </a:xfrm>
        </p:grpSpPr>
        <p:sp>
          <p:nvSpPr>
            <p:cNvPr id="328" name="Google Shape;328;p20"/>
            <p:cNvSpPr/>
            <p:nvPr/>
          </p:nvSpPr>
          <p:spPr>
            <a:xfrm>
              <a:off x="0" y="0"/>
              <a:ext cx="2552700" cy="2667000"/>
            </a:xfrm>
            <a:prstGeom prst="roundRect">
              <a:avLst>
                <a:gd fmla="val 2985" name="adj"/>
              </a:avLst>
            </a:prstGeom>
            <a:solidFill>
              <a:srgbClr val="FFFFFF"/>
            </a:solidFill>
            <a:ln cap="flat" cmpd="sng" w="19050">
              <a:solidFill>
                <a:srgbClr val="C05A3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20"/>
            <p:cNvSpPr/>
            <p:nvPr/>
          </p:nvSpPr>
          <p:spPr>
            <a:xfrm>
              <a:off x="0" y="0"/>
              <a:ext cx="2552700" cy="57300"/>
            </a:xfrm>
            <a:prstGeom prst="roundRect">
              <a:avLst>
                <a:gd fmla="val 50000" name="adj"/>
              </a:avLst>
            </a:prstGeom>
            <a:solidFill>
              <a:srgbClr val="C05A3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20"/>
            <p:cNvSpPr/>
            <p:nvPr/>
          </p:nvSpPr>
          <p:spPr>
            <a:xfrm>
              <a:off x="190500" y="209550"/>
              <a:ext cx="1409700" cy="228600"/>
            </a:xfrm>
            <a:prstGeom prst="roundRect">
              <a:avLst>
                <a:gd fmla="val 50000" name="adj"/>
              </a:avLst>
            </a:prstGeom>
            <a:solidFill>
              <a:srgbClr val="FDF2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20"/>
            <p:cNvSpPr txBox="1"/>
            <p:nvPr/>
          </p:nvSpPr>
          <p:spPr>
            <a:xfrm>
              <a:off x="285750" y="209550"/>
              <a:ext cx="12192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C05A3E"/>
                  </a:solidFill>
                  <a:latin typeface="Lato"/>
                  <a:ea typeface="Lato"/>
                  <a:cs typeface="Lato"/>
                  <a:sym typeface="Lato"/>
                </a:rPr>
                <a:t>LOWEST PERFORMER</a:t>
              </a:r>
              <a:endParaRPr b="1" sz="850">
                <a:solidFill>
                  <a:srgbClr val="C05A3E"/>
                </a:solidFill>
                <a:latin typeface="Lato"/>
                <a:ea typeface="Lato"/>
                <a:cs typeface="Lato"/>
                <a:sym typeface="Lato"/>
              </a:endParaRPr>
            </a:p>
          </p:txBody>
        </p:sp>
        <p:sp>
          <p:nvSpPr>
            <p:cNvPr id="332" name="Google Shape;332;p20"/>
            <p:cNvSpPr txBox="1"/>
            <p:nvPr/>
          </p:nvSpPr>
          <p:spPr>
            <a:xfrm>
              <a:off x="190500" y="552450"/>
              <a:ext cx="2171700" cy="18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2C1E16"/>
                  </a:solidFill>
                  <a:latin typeface="Playfair Display"/>
                  <a:ea typeface="Playfair Display"/>
                  <a:cs typeface="Playfair Display"/>
                  <a:sym typeface="Playfair Display"/>
                </a:rPr>
                <a:t>Green Beans</a:t>
              </a:r>
              <a:endParaRPr b="1" sz="1800">
                <a:solidFill>
                  <a:srgbClr val="2C1E16"/>
                </a:solidFill>
                <a:latin typeface="Playfair Display"/>
                <a:ea typeface="Playfair Display"/>
                <a:cs typeface="Playfair Display"/>
                <a:sym typeface="Playfair Display"/>
              </a:endParaRPr>
            </a:p>
            <a:p>
              <a:pPr indent="0" lvl="0" marL="0" rtl="0" algn="l">
                <a:spcBef>
                  <a:spcPts val="1200"/>
                </a:spcBef>
                <a:spcAft>
                  <a:spcPts val="0"/>
                </a:spcAft>
                <a:buNone/>
              </a:pPr>
              <a:r>
                <a:rPr b="1" lang="en" sz="3200">
                  <a:solidFill>
                    <a:srgbClr val="C05A3E"/>
                  </a:solidFill>
                  <a:latin typeface="Playfair Display"/>
                  <a:ea typeface="Playfair Display"/>
                  <a:cs typeface="Playfair Display"/>
                  <a:sym typeface="Playfair Display"/>
                </a:rPr>
                <a:t>$1,340.00</a:t>
              </a:r>
              <a:endParaRPr b="1" sz="3200">
                <a:solidFill>
                  <a:srgbClr val="C05A3E"/>
                </a:solidFill>
                <a:latin typeface="Playfair Display"/>
                <a:ea typeface="Playfair Display"/>
                <a:cs typeface="Playfair Display"/>
                <a:sym typeface="Playfair Display"/>
              </a:endParaRPr>
            </a:p>
            <a:p>
              <a:pPr indent="0" lvl="0" marL="0" rtl="0" algn="l">
                <a:spcBef>
                  <a:spcPts val="200"/>
                </a:spcBef>
                <a:spcAft>
                  <a:spcPts val="0"/>
                </a:spcAft>
                <a:buNone/>
              </a:pPr>
              <a:r>
                <a:rPr b="1" lang="en" sz="950">
                  <a:solidFill>
                    <a:srgbClr val="5A4634"/>
                  </a:solidFill>
                  <a:latin typeface="Lato"/>
                  <a:ea typeface="Lato"/>
                  <a:cs typeface="Lato"/>
                  <a:sym typeface="Lato"/>
                </a:rPr>
                <a:t>Total Sales</a:t>
              </a:r>
              <a:endParaRPr b="1" sz="950">
                <a:solidFill>
                  <a:srgbClr val="5A4634"/>
                </a:solidFill>
                <a:latin typeface="Lato"/>
                <a:ea typeface="Lato"/>
                <a:cs typeface="Lato"/>
                <a:sym typeface="Lato"/>
              </a:endParaRPr>
            </a:p>
            <a:p>
              <a:pPr indent="0" lvl="0" marL="0" rtl="0" algn="l">
                <a:spcBef>
                  <a:spcPts val="1600"/>
                </a:spcBef>
                <a:spcAft>
                  <a:spcPts val="0"/>
                </a:spcAft>
                <a:buNone/>
              </a:pPr>
              <a:r>
                <a:rPr b="0" lang="en" sz="950">
                  <a:solidFill>
                    <a:srgbClr val="5A4634"/>
                  </a:solidFill>
                  <a:latin typeface="Lato"/>
                  <a:ea typeface="Lato"/>
                  <a:cs typeface="Lato"/>
                  <a:sym typeface="Lato"/>
                </a:rPr>
                <a:t>Consumes inventory space and operational focus with the lowest overall revenue contribution.</a:t>
              </a:r>
              <a:endParaRPr b="0" sz="950">
                <a:solidFill>
                  <a:srgbClr val="5A4634"/>
                </a:solidFill>
                <a:latin typeface="Lato"/>
                <a:ea typeface="Lato"/>
                <a:cs typeface="Lato"/>
                <a:sym typeface="Lato"/>
              </a:endParaRPr>
            </a:p>
          </p:txBody>
        </p:sp>
      </p:grpSp>
      <p:grpSp>
        <p:nvGrpSpPr>
          <p:cNvPr id="333" name="Google Shape;333;p20"/>
          <p:cNvGrpSpPr/>
          <p:nvPr/>
        </p:nvGrpSpPr>
        <p:grpSpPr>
          <a:xfrm>
            <a:off x="3295650" y="1543050"/>
            <a:ext cx="2552700" cy="2667000"/>
            <a:chOff x="0" y="0"/>
            <a:chExt cx="2552700" cy="2667000"/>
          </a:xfrm>
        </p:grpSpPr>
        <p:sp>
          <p:nvSpPr>
            <p:cNvPr id="334" name="Google Shape;334;p20"/>
            <p:cNvSpPr/>
            <p:nvPr/>
          </p:nvSpPr>
          <p:spPr>
            <a:xfrm>
              <a:off x="0" y="0"/>
              <a:ext cx="2552700" cy="2667000"/>
            </a:xfrm>
            <a:prstGeom prst="roundRect">
              <a:avLst>
                <a:gd fmla="val 2985" name="adj"/>
              </a:avLst>
            </a:prstGeom>
            <a:solidFill>
              <a:srgbClr val="FFFFFF"/>
            </a:solidFill>
            <a:ln cap="flat" cmpd="sng" w="14300">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20"/>
            <p:cNvSpPr/>
            <p:nvPr/>
          </p:nvSpPr>
          <p:spPr>
            <a:xfrm>
              <a:off x="0" y="0"/>
              <a:ext cx="2552700" cy="57300"/>
            </a:xfrm>
            <a:prstGeom prst="roundRect">
              <a:avLst>
                <a:gd fmla="val 50000" name="adj"/>
              </a:avLst>
            </a:prstGeom>
            <a:solidFill>
              <a:srgbClr val="D4A37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20"/>
            <p:cNvSpPr/>
            <p:nvPr/>
          </p:nvSpPr>
          <p:spPr>
            <a:xfrm>
              <a:off x="190500" y="209550"/>
              <a:ext cx="1314600" cy="228600"/>
            </a:xfrm>
            <a:prstGeom prst="roundRect">
              <a:avLst>
                <a:gd fmla="val 50000" name="adj"/>
              </a:avLst>
            </a:prstGeom>
            <a:solidFill>
              <a:srgbClr val="F7F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20"/>
            <p:cNvSpPr txBox="1"/>
            <p:nvPr/>
          </p:nvSpPr>
          <p:spPr>
            <a:xfrm>
              <a:off x="285750" y="209550"/>
              <a:ext cx="11241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5A4634"/>
                  </a:solidFill>
                  <a:latin typeface="Lato"/>
                  <a:ea typeface="Lato"/>
                  <a:cs typeface="Lato"/>
                  <a:sym typeface="Lato"/>
                </a:rPr>
                <a:t>LOW CONTRIBUTOR</a:t>
              </a:r>
              <a:endParaRPr b="1" sz="850">
                <a:solidFill>
                  <a:srgbClr val="5A4634"/>
                </a:solidFill>
                <a:latin typeface="Lato"/>
                <a:ea typeface="Lato"/>
                <a:cs typeface="Lato"/>
                <a:sym typeface="Lato"/>
              </a:endParaRPr>
            </a:p>
          </p:txBody>
        </p:sp>
        <p:sp>
          <p:nvSpPr>
            <p:cNvPr id="338" name="Google Shape;338;p20"/>
            <p:cNvSpPr txBox="1"/>
            <p:nvPr/>
          </p:nvSpPr>
          <p:spPr>
            <a:xfrm>
              <a:off x="190500" y="552450"/>
              <a:ext cx="2171700" cy="18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2C1E16"/>
                  </a:solidFill>
                  <a:latin typeface="Playfair Display"/>
                  <a:ea typeface="Playfair Display"/>
                  <a:cs typeface="Playfair Display"/>
                  <a:sym typeface="Playfair Display"/>
                </a:rPr>
                <a:t>Green Tea</a:t>
              </a:r>
              <a:endParaRPr b="1" sz="1800">
                <a:solidFill>
                  <a:srgbClr val="2C1E16"/>
                </a:solidFill>
                <a:latin typeface="Playfair Display"/>
                <a:ea typeface="Playfair Display"/>
                <a:cs typeface="Playfair Display"/>
                <a:sym typeface="Playfair Display"/>
              </a:endParaRPr>
            </a:p>
            <a:p>
              <a:pPr indent="0" lvl="0" marL="0" rtl="0" algn="l">
                <a:spcBef>
                  <a:spcPts val="1200"/>
                </a:spcBef>
                <a:spcAft>
                  <a:spcPts val="0"/>
                </a:spcAft>
                <a:buNone/>
              </a:pPr>
              <a:r>
                <a:rPr b="1" lang="en" sz="3200">
                  <a:solidFill>
                    <a:srgbClr val="2C1E16"/>
                  </a:solidFill>
                  <a:latin typeface="Playfair Display"/>
                  <a:ea typeface="Playfair Display"/>
                  <a:cs typeface="Playfair Display"/>
                  <a:sym typeface="Playfair Display"/>
                </a:rPr>
                <a:t>$1,470.75</a:t>
              </a:r>
              <a:endParaRPr b="1" sz="3200">
                <a:solidFill>
                  <a:srgbClr val="2C1E16"/>
                </a:solidFill>
                <a:latin typeface="Playfair Display"/>
                <a:ea typeface="Playfair Display"/>
                <a:cs typeface="Playfair Display"/>
                <a:sym typeface="Playfair Display"/>
              </a:endParaRPr>
            </a:p>
            <a:p>
              <a:pPr indent="0" lvl="0" marL="0" rtl="0" algn="l">
                <a:spcBef>
                  <a:spcPts val="200"/>
                </a:spcBef>
                <a:spcAft>
                  <a:spcPts val="0"/>
                </a:spcAft>
                <a:buNone/>
              </a:pPr>
              <a:r>
                <a:rPr b="1" lang="en" sz="950">
                  <a:solidFill>
                    <a:srgbClr val="5A4634"/>
                  </a:solidFill>
                  <a:latin typeface="Lato"/>
                  <a:ea typeface="Lato"/>
                  <a:cs typeface="Lato"/>
                  <a:sym typeface="Lato"/>
                </a:rPr>
                <a:t>Total Sales</a:t>
              </a:r>
              <a:endParaRPr b="1" sz="950">
                <a:solidFill>
                  <a:srgbClr val="5A4634"/>
                </a:solidFill>
                <a:latin typeface="Lato"/>
                <a:ea typeface="Lato"/>
                <a:cs typeface="Lato"/>
                <a:sym typeface="Lato"/>
              </a:endParaRPr>
            </a:p>
            <a:p>
              <a:pPr indent="0" lvl="0" marL="0" rtl="0" algn="l">
                <a:spcBef>
                  <a:spcPts val="1600"/>
                </a:spcBef>
                <a:spcAft>
                  <a:spcPts val="0"/>
                </a:spcAft>
                <a:buNone/>
              </a:pPr>
              <a:r>
                <a:rPr b="0" lang="en" sz="950">
                  <a:solidFill>
                    <a:srgbClr val="5A4634"/>
                  </a:solidFill>
                  <a:latin typeface="Lato"/>
                  <a:ea typeface="Lato"/>
                  <a:cs typeface="Lato"/>
                  <a:sym typeface="Lato"/>
                </a:rPr>
                <a:t>Generates minimal return compared to higher-performing tea categories across store locations.</a:t>
              </a:r>
              <a:endParaRPr b="0" sz="950">
                <a:solidFill>
                  <a:srgbClr val="5A4634"/>
                </a:solidFill>
                <a:latin typeface="Lato"/>
                <a:ea typeface="Lato"/>
                <a:cs typeface="Lato"/>
                <a:sym typeface="Lato"/>
              </a:endParaRPr>
            </a:p>
          </p:txBody>
        </p:sp>
      </p:grpSp>
      <p:grpSp>
        <p:nvGrpSpPr>
          <p:cNvPr id="339" name="Google Shape;339;p20"/>
          <p:cNvGrpSpPr/>
          <p:nvPr/>
        </p:nvGrpSpPr>
        <p:grpSpPr>
          <a:xfrm>
            <a:off x="6115050" y="1543050"/>
            <a:ext cx="2552700" cy="2667000"/>
            <a:chOff x="0" y="0"/>
            <a:chExt cx="2552700" cy="2667000"/>
          </a:xfrm>
        </p:grpSpPr>
        <p:sp>
          <p:nvSpPr>
            <p:cNvPr id="340" name="Google Shape;340;p20"/>
            <p:cNvSpPr/>
            <p:nvPr/>
          </p:nvSpPr>
          <p:spPr>
            <a:xfrm>
              <a:off x="0" y="0"/>
              <a:ext cx="2552700" cy="2667000"/>
            </a:xfrm>
            <a:prstGeom prst="roundRect">
              <a:avLst>
                <a:gd fmla="val 2985" name="adj"/>
              </a:avLst>
            </a:prstGeom>
            <a:solidFill>
              <a:srgbClr val="FFFFFF"/>
            </a:solidFill>
            <a:ln cap="flat" cmpd="sng" w="14300">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20"/>
            <p:cNvSpPr/>
            <p:nvPr/>
          </p:nvSpPr>
          <p:spPr>
            <a:xfrm>
              <a:off x="0" y="0"/>
              <a:ext cx="2552700" cy="57300"/>
            </a:xfrm>
            <a:prstGeom prst="roundRect">
              <a:avLst>
                <a:gd fmla="val 50000" name="adj"/>
              </a:avLst>
            </a:pr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20"/>
            <p:cNvSpPr/>
            <p:nvPr/>
          </p:nvSpPr>
          <p:spPr>
            <a:xfrm>
              <a:off x="190500" y="209550"/>
              <a:ext cx="1314600" cy="228600"/>
            </a:xfrm>
            <a:prstGeom prst="roundRect">
              <a:avLst>
                <a:gd fmla="val 50000" name="adj"/>
              </a:avLst>
            </a:prstGeom>
            <a:solidFill>
              <a:srgbClr val="F7F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20"/>
            <p:cNvSpPr txBox="1"/>
            <p:nvPr/>
          </p:nvSpPr>
          <p:spPr>
            <a:xfrm>
              <a:off x="285750" y="209550"/>
              <a:ext cx="11241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5A4634"/>
                  </a:solidFill>
                  <a:latin typeface="Lato"/>
                  <a:ea typeface="Lato"/>
                  <a:cs typeface="Lato"/>
                  <a:sym typeface="Lato"/>
                </a:rPr>
                <a:t>LOW CONTRIBUTOR</a:t>
              </a:r>
              <a:endParaRPr b="1" sz="850">
                <a:solidFill>
                  <a:srgbClr val="5A4634"/>
                </a:solidFill>
                <a:latin typeface="Lato"/>
                <a:ea typeface="Lato"/>
                <a:cs typeface="Lato"/>
                <a:sym typeface="Lato"/>
              </a:endParaRPr>
            </a:p>
          </p:txBody>
        </p:sp>
        <p:sp>
          <p:nvSpPr>
            <p:cNvPr id="344" name="Google Shape;344;p20"/>
            <p:cNvSpPr txBox="1"/>
            <p:nvPr/>
          </p:nvSpPr>
          <p:spPr>
            <a:xfrm>
              <a:off x="190500" y="552450"/>
              <a:ext cx="2171700" cy="18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2C1E16"/>
                  </a:solidFill>
                  <a:latin typeface="Playfair Display"/>
                  <a:ea typeface="Playfair Display"/>
                  <a:cs typeface="Playfair Display"/>
                  <a:sym typeface="Playfair Display"/>
                </a:rPr>
                <a:t>Organic Chocolate</a:t>
              </a:r>
              <a:endParaRPr b="1" sz="1800">
                <a:solidFill>
                  <a:srgbClr val="2C1E16"/>
                </a:solidFill>
                <a:latin typeface="Playfair Display"/>
                <a:ea typeface="Playfair Display"/>
                <a:cs typeface="Playfair Display"/>
                <a:sym typeface="Playfair Display"/>
              </a:endParaRPr>
            </a:p>
            <a:p>
              <a:pPr indent="0" lvl="0" marL="0" rtl="0" algn="l">
                <a:spcBef>
                  <a:spcPts val="1200"/>
                </a:spcBef>
                <a:spcAft>
                  <a:spcPts val="0"/>
                </a:spcAft>
                <a:buNone/>
              </a:pPr>
              <a:r>
                <a:rPr b="1" lang="en" sz="3200">
                  <a:solidFill>
                    <a:srgbClr val="2C1E16"/>
                  </a:solidFill>
                  <a:latin typeface="Playfair Display"/>
                  <a:ea typeface="Playfair Display"/>
                  <a:cs typeface="Playfair Display"/>
                  <a:sym typeface="Playfair Display"/>
                </a:rPr>
                <a:t>$1,679.60</a:t>
              </a:r>
              <a:endParaRPr b="1" sz="3200">
                <a:solidFill>
                  <a:srgbClr val="2C1E16"/>
                </a:solidFill>
                <a:latin typeface="Playfair Display"/>
                <a:ea typeface="Playfair Display"/>
                <a:cs typeface="Playfair Display"/>
                <a:sym typeface="Playfair Display"/>
              </a:endParaRPr>
            </a:p>
            <a:p>
              <a:pPr indent="0" lvl="0" marL="0" rtl="0" algn="l">
                <a:spcBef>
                  <a:spcPts val="200"/>
                </a:spcBef>
                <a:spcAft>
                  <a:spcPts val="0"/>
                </a:spcAft>
                <a:buNone/>
              </a:pPr>
              <a:r>
                <a:rPr b="1" lang="en" sz="950">
                  <a:solidFill>
                    <a:srgbClr val="5A4634"/>
                  </a:solidFill>
                  <a:latin typeface="Lato"/>
                  <a:ea typeface="Lato"/>
                  <a:cs typeface="Lato"/>
                  <a:sym typeface="Lato"/>
                </a:rPr>
                <a:t>Total Sales</a:t>
              </a:r>
              <a:endParaRPr b="1" sz="950">
                <a:solidFill>
                  <a:srgbClr val="5A4634"/>
                </a:solidFill>
                <a:latin typeface="Lato"/>
                <a:ea typeface="Lato"/>
                <a:cs typeface="Lato"/>
                <a:sym typeface="Lato"/>
              </a:endParaRPr>
            </a:p>
            <a:p>
              <a:pPr indent="0" lvl="0" marL="0" rtl="0" algn="l">
                <a:spcBef>
                  <a:spcPts val="1600"/>
                </a:spcBef>
                <a:spcAft>
                  <a:spcPts val="0"/>
                </a:spcAft>
                <a:buNone/>
              </a:pPr>
              <a:r>
                <a:rPr b="0" lang="en" sz="950">
                  <a:solidFill>
                    <a:srgbClr val="5A4634"/>
                  </a:solidFill>
                  <a:latin typeface="Lato"/>
                  <a:ea typeface="Lato"/>
                  <a:cs typeface="Lato"/>
                  <a:sym typeface="Lato"/>
                </a:rPr>
                <a:t>Lags significantly behind core beverage offerings and main drinking chocolate products.</a:t>
              </a:r>
              <a:endParaRPr b="0" sz="950">
                <a:solidFill>
                  <a:srgbClr val="5A4634"/>
                </a:solidFill>
                <a:latin typeface="Lato"/>
                <a:ea typeface="Lato"/>
                <a:cs typeface="Lato"/>
                <a:sym typeface="Lato"/>
              </a:endParaRPr>
            </a:p>
          </p:txBody>
        </p:sp>
      </p:grpSp>
      <p:grpSp>
        <p:nvGrpSpPr>
          <p:cNvPr id="345" name="Google Shape;345;p20"/>
          <p:cNvGrpSpPr/>
          <p:nvPr/>
        </p:nvGrpSpPr>
        <p:grpSpPr>
          <a:xfrm>
            <a:off x="8348663" y="4387882"/>
            <a:ext cx="371573" cy="257985"/>
            <a:chOff x="95250" y="-63450"/>
            <a:chExt cx="571650" cy="396900"/>
          </a:xfrm>
        </p:grpSpPr>
        <p:sp>
          <p:nvSpPr>
            <p:cNvPr id="346" name="Google Shape;346;p20"/>
            <p:cNvSpPr/>
            <p:nvPr/>
          </p:nvSpPr>
          <p:spPr>
            <a:xfrm>
              <a:off x="95250" y="95250"/>
              <a:ext cx="476400" cy="238200"/>
            </a:xfrm>
            <a:custGeom>
              <a:rect b="b" l="l" r="r" t="t"/>
              <a:pathLst>
                <a:path extrusionOk="0" h="120000" w="120000">
                  <a:moveTo>
                    <a:pt x="0" y="0"/>
                  </a:moveTo>
                  <a:cubicBezTo>
                    <a:pt x="0" y="72002"/>
                    <a:pt x="23999" y="120000"/>
                    <a:pt x="60000" y="120000"/>
                  </a:cubicBezTo>
                  <a:cubicBezTo>
                    <a:pt x="96001" y="120000"/>
                    <a:pt x="120000" y="72002"/>
                    <a:pt x="120000" y="0"/>
                  </a:cubicBezTo>
                  <a:lnTo>
                    <a:pt x="0" y="0"/>
                  </a:lnTo>
                  <a:close/>
                </a:path>
              </a:pathLst>
            </a:cu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0"/>
            <p:cNvSpPr/>
            <p:nvPr/>
          </p:nvSpPr>
          <p:spPr>
            <a:xfrm>
              <a:off x="571500" y="142875"/>
              <a:ext cx="95400" cy="162000"/>
            </a:xfrm>
            <a:custGeom>
              <a:rect b="b" l="l" r="r" t="t"/>
              <a:pathLst>
                <a:path extrusionOk="0" h="120000" w="120000">
                  <a:moveTo>
                    <a:pt x="0" y="0"/>
                  </a:moveTo>
                  <a:cubicBezTo>
                    <a:pt x="96007" y="0"/>
                    <a:pt x="120000" y="35296"/>
                    <a:pt x="120000" y="70592"/>
                  </a:cubicBezTo>
                  <a:cubicBezTo>
                    <a:pt x="120000" y="105889"/>
                    <a:pt x="60000" y="120000"/>
                    <a:pt x="0" y="120000"/>
                  </a:cubicBezTo>
                </a:path>
              </a:pathLst>
            </a:custGeom>
            <a:solidFill>
              <a:srgbClr val="000000">
                <a:alpha val="0"/>
              </a:srgbClr>
            </a:solidFill>
            <a:ln cap="flat" cmpd="sng" w="38100">
              <a:solidFill>
                <a:srgbClr val="2C1E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20"/>
            <p:cNvSpPr/>
            <p:nvPr/>
          </p:nvSpPr>
          <p:spPr>
            <a:xfrm>
              <a:off x="295275" y="152400"/>
              <a:ext cx="76200" cy="76200"/>
            </a:xfrm>
            <a:prstGeom prst="ellipse">
              <a:avLst/>
            </a:prstGeom>
            <a:solidFill>
              <a:srgbClr val="F9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9" name="Google Shape;349;p20"/>
            <p:cNvSpPr/>
            <p:nvPr/>
          </p:nvSpPr>
          <p:spPr>
            <a:xfrm>
              <a:off x="238125" y="-63450"/>
              <a:ext cx="190500" cy="63600"/>
            </a:xfrm>
            <a:custGeom>
              <a:rect b="b" l="l" r="r" t="t"/>
              <a:pathLst>
                <a:path extrusionOk="0" h="120000" w="120000">
                  <a:moveTo>
                    <a:pt x="0" y="120000"/>
                  </a:moveTo>
                  <a:cubicBezTo>
                    <a:pt x="20000" y="0"/>
                    <a:pt x="40000" y="0"/>
                    <a:pt x="60000" y="120000"/>
                  </a:cubicBezTo>
                  <a:lnTo>
                    <a:pt x="120000" y="120000"/>
                  </a:lnTo>
                </a:path>
              </a:pathLst>
            </a:custGeom>
            <a:solidFill>
              <a:srgbClr val="000000">
                <a:alpha val="0"/>
              </a:srgbClr>
            </a:solidFill>
            <a:ln cap="flat" cmpd="sng" w="28575">
              <a:solidFill>
                <a:srgbClr val="D4A37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1"/>
          <p:cNvSpPr/>
          <p:nvPr/>
        </p:nvSpPr>
        <p:spPr>
          <a:xfrm>
            <a:off x="0" y="0"/>
            <a:ext cx="9144000" cy="5143500"/>
          </a:xfrm>
          <a:prstGeom prst="rect">
            <a:avLst/>
          </a:prstGeom>
          <a:solidFill>
            <a:srgbClr val="F9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55" name="Google Shape;355;p21"/>
          <p:cNvCxnSpPr/>
          <p:nvPr/>
        </p:nvCxnSpPr>
        <p:spPr>
          <a:xfrm>
            <a:off x="476250" y="809625"/>
            <a:ext cx="8191500" cy="0"/>
          </a:xfrm>
          <a:prstGeom prst="straightConnector1">
            <a:avLst/>
          </a:prstGeom>
          <a:solidFill>
            <a:srgbClr val="FFFFFF"/>
          </a:solidFill>
          <a:ln cap="flat" cmpd="sng" w="19050">
            <a:solidFill>
              <a:srgbClr val="D4A373"/>
            </a:solidFill>
            <a:prstDash val="solid"/>
            <a:round/>
            <a:headEnd len="sm" w="sm" type="none"/>
            <a:tailEnd len="sm" w="sm" type="none"/>
          </a:ln>
        </p:spPr>
      </p:cxnSp>
      <p:grpSp>
        <p:nvGrpSpPr>
          <p:cNvPr id="356" name="Google Shape;356;p21"/>
          <p:cNvGrpSpPr/>
          <p:nvPr/>
        </p:nvGrpSpPr>
        <p:grpSpPr>
          <a:xfrm>
            <a:off x="8447723" y="4400550"/>
            <a:ext cx="400155" cy="300090"/>
            <a:chOff x="95250" y="-95250"/>
            <a:chExt cx="571650" cy="428700"/>
          </a:xfrm>
        </p:grpSpPr>
        <p:sp>
          <p:nvSpPr>
            <p:cNvPr id="357" name="Google Shape;357;p21"/>
            <p:cNvSpPr/>
            <p:nvPr/>
          </p:nvSpPr>
          <p:spPr>
            <a:xfrm>
              <a:off x="95250" y="95250"/>
              <a:ext cx="476400" cy="238200"/>
            </a:xfrm>
            <a:custGeom>
              <a:rect b="b" l="l" r="r" t="t"/>
              <a:pathLst>
                <a:path extrusionOk="0" h="120000" w="120000">
                  <a:moveTo>
                    <a:pt x="0" y="0"/>
                  </a:moveTo>
                  <a:cubicBezTo>
                    <a:pt x="0" y="72000"/>
                    <a:pt x="24000" y="120000"/>
                    <a:pt x="60000" y="120000"/>
                  </a:cubicBezTo>
                  <a:cubicBezTo>
                    <a:pt x="96000" y="120000"/>
                    <a:pt x="120000" y="72000"/>
                    <a:pt x="120000" y="0"/>
                  </a:cubicBezTo>
                  <a:lnTo>
                    <a:pt x="0" y="0"/>
                  </a:lnTo>
                  <a:close/>
                </a:path>
              </a:pathLst>
            </a:cu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21"/>
            <p:cNvSpPr/>
            <p:nvPr/>
          </p:nvSpPr>
          <p:spPr>
            <a:xfrm>
              <a:off x="571500" y="142875"/>
              <a:ext cx="95400" cy="162000"/>
            </a:xfrm>
            <a:custGeom>
              <a:rect b="b" l="l" r="r" t="t"/>
              <a:pathLst>
                <a:path extrusionOk="0" h="120000" w="120000">
                  <a:moveTo>
                    <a:pt x="0" y="0"/>
                  </a:moveTo>
                  <a:cubicBezTo>
                    <a:pt x="96000" y="0"/>
                    <a:pt x="120000" y="35294"/>
                    <a:pt x="120000" y="70588"/>
                  </a:cubicBezTo>
                  <a:cubicBezTo>
                    <a:pt x="120000" y="105882"/>
                    <a:pt x="60000" y="120000"/>
                    <a:pt x="0" y="120000"/>
                  </a:cubicBezTo>
                </a:path>
              </a:pathLst>
            </a:custGeom>
            <a:solidFill>
              <a:srgbClr val="000000">
                <a:alpha val="0"/>
              </a:srgbClr>
            </a:solidFill>
            <a:ln cap="flat" cmpd="sng" w="38100">
              <a:solidFill>
                <a:srgbClr val="2C1E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21"/>
            <p:cNvSpPr/>
            <p:nvPr/>
          </p:nvSpPr>
          <p:spPr>
            <a:xfrm>
              <a:off x="295275" y="152400"/>
              <a:ext cx="76200" cy="76200"/>
            </a:xfrm>
            <a:prstGeom prst="ellipse">
              <a:avLst/>
            </a:prstGeom>
            <a:solidFill>
              <a:srgbClr val="F9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21"/>
            <p:cNvSpPr/>
            <p:nvPr/>
          </p:nvSpPr>
          <p:spPr>
            <a:xfrm>
              <a:off x="238125" y="-95250"/>
              <a:ext cx="190500" cy="95400"/>
            </a:xfrm>
            <a:custGeom>
              <a:rect b="b" l="l" r="r" t="t"/>
              <a:pathLst>
                <a:path extrusionOk="0" h="120000" w="120000">
                  <a:moveTo>
                    <a:pt x="0" y="120000"/>
                  </a:moveTo>
                  <a:quadBezTo>
                    <a:pt x="30000" y="0"/>
                    <a:pt x="60000" y="120000"/>
                  </a:quadBezTo>
                  <a:lnTo>
                    <a:pt x="120000" y="120000"/>
                  </a:lnTo>
                </a:path>
              </a:pathLst>
            </a:custGeom>
            <a:solidFill>
              <a:srgbClr val="000000">
                <a:alpha val="0"/>
              </a:srgbClr>
            </a:solidFill>
            <a:ln cap="flat" cmpd="sng" w="28575">
              <a:solidFill>
                <a:srgbClr val="D4A37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61" name="Google Shape;361;p21"/>
          <p:cNvSpPr txBox="1"/>
          <p:nvPr/>
        </p:nvSpPr>
        <p:spPr>
          <a:xfrm>
            <a:off x="476250" y="238125"/>
            <a:ext cx="81915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473">
                <a:solidFill>
                  <a:srgbClr val="2C1E16"/>
                </a:solidFill>
                <a:latin typeface="Playfair Display"/>
                <a:ea typeface="Playfair Display"/>
                <a:cs typeface="Playfair Display"/>
                <a:sym typeface="Playfair Display"/>
              </a:rPr>
              <a:t>Evening dayparts and underperforming SKUs offer clear opportunities for strategic growth.</a:t>
            </a:r>
            <a:endParaRPr b="1" sz="1473">
              <a:solidFill>
                <a:srgbClr val="2C1E16"/>
              </a:solidFill>
              <a:latin typeface="Playfair Display"/>
              <a:ea typeface="Playfair Display"/>
              <a:cs typeface="Playfair Display"/>
              <a:sym typeface="Playfair Display"/>
            </a:endParaRPr>
          </a:p>
        </p:txBody>
      </p:sp>
      <p:sp>
        <p:nvSpPr>
          <p:cNvPr id="362" name="Google Shape;362;p21"/>
          <p:cNvSpPr txBox="1"/>
          <p:nvPr/>
        </p:nvSpPr>
        <p:spPr>
          <a:xfrm>
            <a:off x="476250" y="876300"/>
            <a:ext cx="8191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350">
                <a:solidFill>
                  <a:srgbClr val="2C1E16"/>
                </a:solidFill>
                <a:latin typeface="Lato"/>
                <a:ea typeface="Lato"/>
                <a:cs typeface="Lato"/>
                <a:sym typeface="Lato"/>
              </a:rPr>
              <a:t>To expand beyond the </a:t>
            </a:r>
            <a:r>
              <a:rPr b="1" lang="en" sz="1350">
                <a:solidFill>
                  <a:srgbClr val="C05A3E"/>
                </a:solidFill>
                <a:latin typeface="Lato"/>
                <a:ea typeface="Lato"/>
                <a:cs typeface="Lato"/>
                <a:sym typeface="Lato"/>
              </a:rPr>
              <a:t>$698,812 baseline</a:t>
            </a:r>
            <a:r>
              <a:rPr b="1" lang="en" sz="1350">
                <a:solidFill>
                  <a:srgbClr val="2C1E16"/>
                </a:solidFill>
                <a:latin typeface="Lato"/>
                <a:ea typeface="Lato"/>
                <a:cs typeface="Lato"/>
                <a:sym typeface="Lato"/>
              </a:rPr>
              <a:t>, we must address our primary operational gaps:</a:t>
            </a:r>
            <a:endParaRPr b="1" sz="1350">
              <a:solidFill>
                <a:srgbClr val="2C1E16"/>
              </a:solidFill>
              <a:latin typeface="Lato"/>
              <a:ea typeface="Lato"/>
              <a:cs typeface="Lato"/>
              <a:sym typeface="Lato"/>
            </a:endParaRPr>
          </a:p>
        </p:txBody>
      </p:sp>
      <p:grpSp>
        <p:nvGrpSpPr>
          <p:cNvPr id="363" name="Google Shape;363;p21"/>
          <p:cNvGrpSpPr/>
          <p:nvPr/>
        </p:nvGrpSpPr>
        <p:grpSpPr>
          <a:xfrm>
            <a:off x="476250" y="1409700"/>
            <a:ext cx="2552700" cy="2971800"/>
            <a:chOff x="0" y="0"/>
            <a:chExt cx="2552700" cy="2971800"/>
          </a:xfrm>
        </p:grpSpPr>
        <p:sp>
          <p:nvSpPr>
            <p:cNvPr id="364" name="Google Shape;364;p21"/>
            <p:cNvSpPr/>
            <p:nvPr/>
          </p:nvSpPr>
          <p:spPr>
            <a:xfrm>
              <a:off x="0" y="0"/>
              <a:ext cx="2552700" cy="2971800"/>
            </a:xfrm>
            <a:prstGeom prst="roundRect">
              <a:avLst>
                <a:gd fmla="val 3731" name="adj"/>
              </a:avLst>
            </a:prstGeom>
            <a:solidFill>
              <a:srgbClr val="FFFFFF"/>
            </a:solidFill>
            <a:ln cap="flat" cmpd="sng" w="14300">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5" name="Google Shape;365;p21"/>
            <p:cNvSpPr/>
            <p:nvPr/>
          </p:nvSpPr>
          <p:spPr>
            <a:xfrm>
              <a:off x="0" y="0"/>
              <a:ext cx="2552700" cy="57300"/>
            </a:xfrm>
            <a:prstGeom prst="roundRect">
              <a:avLst>
                <a:gd fmla="val 50000" name="adj"/>
              </a:avLst>
            </a:prstGeom>
            <a:solidFill>
              <a:srgbClr val="C05A3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21"/>
            <p:cNvSpPr/>
            <p:nvPr/>
          </p:nvSpPr>
          <p:spPr>
            <a:xfrm>
              <a:off x="190500" y="209550"/>
              <a:ext cx="1333500" cy="228600"/>
            </a:xfrm>
            <a:prstGeom prst="roundRect">
              <a:avLst>
                <a:gd fmla="val 50000" name="adj"/>
              </a:avLst>
            </a:prstGeom>
            <a:solidFill>
              <a:srgbClr val="FDF2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7" name="Google Shape;367;p21"/>
            <p:cNvSpPr txBox="1"/>
            <p:nvPr/>
          </p:nvSpPr>
          <p:spPr>
            <a:xfrm>
              <a:off x="190500" y="209550"/>
              <a:ext cx="1333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C05A3E"/>
                  </a:solidFill>
                  <a:latin typeface="Lato"/>
                  <a:ea typeface="Lato"/>
                  <a:cs typeface="Lato"/>
                  <a:sym typeface="Lato"/>
                </a:rPr>
                <a:t>GAP 01 • EVENING</a:t>
              </a:r>
              <a:endParaRPr b="1" sz="850">
                <a:solidFill>
                  <a:srgbClr val="C05A3E"/>
                </a:solidFill>
                <a:latin typeface="Lato"/>
                <a:ea typeface="Lato"/>
                <a:cs typeface="Lato"/>
                <a:sym typeface="Lato"/>
              </a:endParaRPr>
            </a:p>
          </p:txBody>
        </p:sp>
        <p:sp>
          <p:nvSpPr>
            <p:cNvPr id="368" name="Google Shape;368;p21"/>
            <p:cNvSpPr txBox="1"/>
            <p:nvPr/>
          </p:nvSpPr>
          <p:spPr>
            <a:xfrm>
              <a:off x="190500" y="552450"/>
              <a:ext cx="21717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2C1E16"/>
                  </a:solidFill>
                  <a:latin typeface="Playfair Display"/>
                  <a:ea typeface="Playfair Display"/>
                  <a:cs typeface="Playfair Display"/>
                  <a:sym typeface="Playfair Display"/>
                </a:rPr>
                <a:t>Evening Revenue Optimization</a:t>
              </a:r>
              <a:endParaRPr b="1" sz="1350">
                <a:solidFill>
                  <a:srgbClr val="2C1E16"/>
                </a:solidFill>
                <a:latin typeface="Playfair Display"/>
                <a:ea typeface="Playfair Display"/>
                <a:cs typeface="Playfair Display"/>
                <a:sym typeface="Playfair Display"/>
              </a:endParaRPr>
            </a:p>
            <a:p>
              <a:pPr indent="0" lvl="0" marL="0" rtl="0" algn="l">
                <a:spcBef>
                  <a:spcPts val="1000"/>
                </a:spcBef>
                <a:spcAft>
                  <a:spcPts val="0"/>
                </a:spcAft>
                <a:buNone/>
              </a:pPr>
              <a:r>
                <a:rPr b="1" lang="en" sz="2400">
                  <a:solidFill>
                    <a:srgbClr val="C05A3E"/>
                  </a:solidFill>
                  <a:latin typeface="Playfair Display"/>
                  <a:ea typeface="Playfair Display"/>
                  <a:cs typeface="Playfair Display"/>
                  <a:sym typeface="Playfair Display"/>
                </a:rPr>
                <a:t>$65,668.50</a:t>
              </a:r>
              <a:endParaRPr b="1" sz="2400">
                <a:solidFill>
                  <a:srgbClr val="C05A3E"/>
                </a:solidFill>
                <a:latin typeface="Playfair Display"/>
                <a:ea typeface="Playfair Display"/>
                <a:cs typeface="Playfair Display"/>
                <a:sym typeface="Playfair Display"/>
              </a:endParaRPr>
            </a:p>
            <a:p>
              <a:pPr indent="0" lvl="0" marL="0" rtl="0" algn="l">
                <a:spcBef>
                  <a:spcPts val="200"/>
                </a:spcBef>
                <a:spcAft>
                  <a:spcPts val="0"/>
                </a:spcAft>
                <a:buNone/>
              </a:pPr>
              <a:r>
                <a:rPr b="1" lang="en" sz="900">
                  <a:solidFill>
                    <a:srgbClr val="5A4634"/>
                  </a:solidFill>
                  <a:latin typeface="Lato"/>
                  <a:ea typeface="Lato"/>
                  <a:cs typeface="Lato"/>
                  <a:sym typeface="Lato"/>
                </a:rPr>
                <a:t>Evening Revenue Opportunity</a:t>
              </a:r>
              <a:endParaRPr b="1" sz="900">
                <a:solidFill>
                  <a:srgbClr val="5A4634"/>
                </a:solidFill>
                <a:latin typeface="Lato"/>
                <a:ea typeface="Lato"/>
                <a:cs typeface="Lato"/>
                <a:sym typeface="Lato"/>
              </a:endParaRPr>
            </a:p>
            <a:p>
              <a:pPr indent="0" lvl="0" marL="0" rtl="0" algn="l">
                <a:spcBef>
                  <a:spcPts val="1400"/>
                </a:spcBef>
                <a:spcAft>
                  <a:spcPts val="0"/>
                </a:spcAft>
                <a:buNone/>
              </a:pPr>
              <a:r>
                <a:rPr b="0" lang="en" sz="1050">
                  <a:solidFill>
                    <a:srgbClr val="2C1E16"/>
                  </a:solidFill>
                  <a:latin typeface="Lato"/>
                  <a:ea typeface="Lato"/>
                  <a:cs typeface="Lato"/>
                  <a:sym typeface="Lato"/>
                </a:rPr>
                <a:t>The severe drop to </a:t>
              </a:r>
              <a:r>
                <a:rPr b="1" lang="en" sz="1050">
                  <a:solidFill>
                    <a:srgbClr val="C05A3E"/>
                  </a:solidFill>
                  <a:latin typeface="Lato"/>
                  <a:ea typeface="Lato"/>
                  <a:cs typeface="Lato"/>
                  <a:sym typeface="Lato"/>
                </a:rPr>
                <a:t>$65,668.50</a:t>
              </a:r>
              <a:r>
                <a:rPr b="0" lang="en" sz="1050">
                  <a:solidFill>
                    <a:srgbClr val="2C1E16"/>
                  </a:solidFill>
                  <a:latin typeface="Lato"/>
                  <a:ea typeface="Lato"/>
                  <a:cs typeface="Lato"/>
                  <a:sym typeface="Lato"/>
                </a:rPr>
                <a:t> in evening revenue presents a major opportunity to introduce late-day promotions or menu adjustments.</a:t>
              </a:r>
              <a:endParaRPr b="0" sz="1050">
                <a:solidFill>
                  <a:srgbClr val="2C1E16"/>
                </a:solidFill>
                <a:latin typeface="Lato"/>
                <a:ea typeface="Lato"/>
                <a:cs typeface="Lato"/>
                <a:sym typeface="Lato"/>
              </a:endParaRPr>
            </a:p>
          </p:txBody>
        </p:sp>
      </p:grpSp>
      <p:grpSp>
        <p:nvGrpSpPr>
          <p:cNvPr id="369" name="Google Shape;369;p21"/>
          <p:cNvGrpSpPr/>
          <p:nvPr/>
        </p:nvGrpSpPr>
        <p:grpSpPr>
          <a:xfrm>
            <a:off x="3295650" y="1409700"/>
            <a:ext cx="2552700" cy="2971800"/>
            <a:chOff x="0" y="0"/>
            <a:chExt cx="2552700" cy="2971800"/>
          </a:xfrm>
        </p:grpSpPr>
        <p:sp>
          <p:nvSpPr>
            <p:cNvPr id="370" name="Google Shape;370;p21"/>
            <p:cNvSpPr/>
            <p:nvPr/>
          </p:nvSpPr>
          <p:spPr>
            <a:xfrm>
              <a:off x="0" y="0"/>
              <a:ext cx="2552700" cy="2971800"/>
            </a:xfrm>
            <a:prstGeom prst="roundRect">
              <a:avLst>
                <a:gd fmla="val 3731" name="adj"/>
              </a:avLst>
            </a:prstGeom>
            <a:solidFill>
              <a:srgbClr val="FFFFFF"/>
            </a:solidFill>
            <a:ln cap="flat" cmpd="sng" w="14300">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1" name="Google Shape;371;p21"/>
            <p:cNvSpPr/>
            <p:nvPr/>
          </p:nvSpPr>
          <p:spPr>
            <a:xfrm>
              <a:off x="0" y="0"/>
              <a:ext cx="2552700" cy="57300"/>
            </a:xfrm>
            <a:prstGeom prst="roundRect">
              <a:avLst>
                <a:gd fmla="val 50000" name="adj"/>
              </a:avLst>
            </a:prstGeom>
            <a:solidFill>
              <a:srgbClr val="D4A37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21"/>
            <p:cNvSpPr/>
            <p:nvPr/>
          </p:nvSpPr>
          <p:spPr>
            <a:xfrm>
              <a:off x="190500" y="209550"/>
              <a:ext cx="1333500" cy="228600"/>
            </a:xfrm>
            <a:prstGeom prst="roundRect">
              <a:avLst>
                <a:gd fmla="val 50000" name="adj"/>
              </a:avLst>
            </a:prstGeom>
            <a:solidFill>
              <a:srgbClr val="F7F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21"/>
            <p:cNvSpPr txBox="1"/>
            <p:nvPr/>
          </p:nvSpPr>
          <p:spPr>
            <a:xfrm>
              <a:off x="190500" y="209550"/>
              <a:ext cx="1333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5A4634"/>
                  </a:solidFill>
                  <a:latin typeface="Lato"/>
                  <a:ea typeface="Lato"/>
                  <a:cs typeface="Lato"/>
                  <a:sym typeface="Lato"/>
                </a:rPr>
                <a:t>GAP 02 • MENU</a:t>
              </a:r>
              <a:endParaRPr b="1" sz="850">
                <a:solidFill>
                  <a:srgbClr val="5A4634"/>
                </a:solidFill>
                <a:latin typeface="Lato"/>
                <a:ea typeface="Lato"/>
                <a:cs typeface="Lato"/>
                <a:sym typeface="Lato"/>
              </a:endParaRPr>
            </a:p>
          </p:txBody>
        </p:sp>
        <p:sp>
          <p:nvSpPr>
            <p:cNvPr id="374" name="Google Shape;374;p21"/>
            <p:cNvSpPr txBox="1"/>
            <p:nvPr/>
          </p:nvSpPr>
          <p:spPr>
            <a:xfrm>
              <a:off x="190500" y="552450"/>
              <a:ext cx="21717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2C1E16"/>
                  </a:solidFill>
                  <a:latin typeface="Playfair Display"/>
                  <a:ea typeface="Playfair Display"/>
                  <a:cs typeface="Playfair Display"/>
                  <a:sym typeface="Playfair Display"/>
                </a:rPr>
                <a:t>Menu Category Rationalization</a:t>
              </a:r>
              <a:endParaRPr b="1" sz="1350">
                <a:solidFill>
                  <a:srgbClr val="2C1E16"/>
                </a:solidFill>
                <a:latin typeface="Playfair Display"/>
                <a:ea typeface="Playfair Display"/>
                <a:cs typeface="Playfair Display"/>
                <a:sym typeface="Playfair Display"/>
              </a:endParaRPr>
            </a:p>
            <a:p>
              <a:pPr indent="0" lvl="0" marL="0" rtl="0" algn="l">
                <a:spcBef>
                  <a:spcPts val="1000"/>
                </a:spcBef>
                <a:spcAft>
                  <a:spcPts val="0"/>
                </a:spcAft>
                <a:buNone/>
              </a:pPr>
              <a:r>
                <a:rPr b="1" lang="en" sz="2400">
                  <a:solidFill>
                    <a:srgbClr val="2C1E16"/>
                  </a:solidFill>
                  <a:latin typeface="Playfair Display"/>
                  <a:ea typeface="Playfair Display"/>
                  <a:cs typeface="Playfair Display"/>
                  <a:sym typeface="Playfair Display"/>
                </a:rPr>
                <a:t>29 Categories</a:t>
              </a:r>
              <a:endParaRPr b="1" sz="2400">
                <a:solidFill>
                  <a:srgbClr val="2C1E16"/>
                </a:solidFill>
                <a:latin typeface="Playfair Display"/>
                <a:ea typeface="Playfair Display"/>
                <a:cs typeface="Playfair Display"/>
                <a:sym typeface="Playfair Display"/>
              </a:endParaRPr>
            </a:p>
            <a:p>
              <a:pPr indent="0" lvl="0" marL="0" rtl="0" algn="l">
                <a:spcBef>
                  <a:spcPts val="200"/>
                </a:spcBef>
                <a:spcAft>
                  <a:spcPts val="0"/>
                </a:spcAft>
                <a:buNone/>
              </a:pPr>
              <a:r>
                <a:rPr b="1" lang="en" sz="900">
                  <a:solidFill>
                    <a:srgbClr val="5A4634"/>
                  </a:solidFill>
                  <a:latin typeface="Lato"/>
                  <a:ea typeface="Lato"/>
                  <a:cs typeface="Lato"/>
                  <a:sym typeface="Lato"/>
                </a:rPr>
                <a:t>Lowest SKU: Green Beans ($1,340)</a:t>
              </a:r>
              <a:endParaRPr b="1" sz="900">
                <a:solidFill>
                  <a:srgbClr val="5A4634"/>
                </a:solidFill>
                <a:latin typeface="Lato"/>
                <a:ea typeface="Lato"/>
                <a:cs typeface="Lato"/>
                <a:sym typeface="Lato"/>
              </a:endParaRPr>
            </a:p>
            <a:p>
              <a:pPr indent="0" lvl="0" marL="0" rtl="0" algn="l">
                <a:spcBef>
                  <a:spcPts val="1400"/>
                </a:spcBef>
                <a:spcAft>
                  <a:spcPts val="0"/>
                </a:spcAft>
                <a:buNone/>
              </a:pPr>
              <a:r>
                <a:rPr b="0" lang="en" sz="1050">
                  <a:solidFill>
                    <a:srgbClr val="2C1E16"/>
                  </a:solidFill>
                  <a:latin typeface="Lato"/>
                  <a:ea typeface="Lato"/>
                  <a:cs typeface="Lato"/>
                  <a:sym typeface="Lato"/>
                </a:rPr>
                <a:t>Rationalizing the 29 menu categories by replacing or removing bottom-tier items like Green beans (</a:t>
              </a:r>
              <a:r>
                <a:rPr b="1" lang="en" sz="1050">
                  <a:solidFill>
                    <a:srgbClr val="C05A3E"/>
                  </a:solidFill>
                  <a:latin typeface="Lato"/>
                  <a:ea typeface="Lato"/>
                  <a:cs typeface="Lato"/>
                  <a:sym typeface="Lato"/>
                </a:rPr>
                <a:t>$1,340.00</a:t>
              </a:r>
              <a:r>
                <a:rPr b="0" lang="en" sz="1050">
                  <a:solidFill>
                    <a:srgbClr val="2C1E16"/>
                  </a:solidFill>
                  <a:latin typeface="Lato"/>
                  <a:ea typeface="Lato"/>
                  <a:cs typeface="Lato"/>
                  <a:sym typeface="Lato"/>
                </a:rPr>
                <a:t>) will streamline operations.</a:t>
              </a:r>
              <a:endParaRPr b="0" sz="1050">
                <a:solidFill>
                  <a:srgbClr val="2C1E16"/>
                </a:solidFill>
                <a:latin typeface="Lato"/>
                <a:ea typeface="Lato"/>
                <a:cs typeface="Lato"/>
                <a:sym typeface="Lato"/>
              </a:endParaRPr>
            </a:p>
          </p:txBody>
        </p:sp>
      </p:grpSp>
      <p:grpSp>
        <p:nvGrpSpPr>
          <p:cNvPr id="375" name="Google Shape;375;p21"/>
          <p:cNvGrpSpPr/>
          <p:nvPr/>
        </p:nvGrpSpPr>
        <p:grpSpPr>
          <a:xfrm>
            <a:off x="6115050" y="1409700"/>
            <a:ext cx="2552700" cy="2971800"/>
            <a:chOff x="0" y="0"/>
            <a:chExt cx="2552700" cy="2971800"/>
          </a:xfrm>
        </p:grpSpPr>
        <p:sp>
          <p:nvSpPr>
            <p:cNvPr id="376" name="Google Shape;376;p21"/>
            <p:cNvSpPr/>
            <p:nvPr/>
          </p:nvSpPr>
          <p:spPr>
            <a:xfrm>
              <a:off x="0" y="0"/>
              <a:ext cx="2552700" cy="2971800"/>
            </a:xfrm>
            <a:prstGeom prst="roundRect">
              <a:avLst>
                <a:gd fmla="val 3731" name="adj"/>
              </a:avLst>
            </a:prstGeom>
            <a:solidFill>
              <a:srgbClr val="FFFFFF"/>
            </a:solidFill>
            <a:ln cap="flat" cmpd="sng" w="14300">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7" name="Google Shape;377;p21"/>
            <p:cNvSpPr/>
            <p:nvPr/>
          </p:nvSpPr>
          <p:spPr>
            <a:xfrm>
              <a:off x="0" y="0"/>
              <a:ext cx="2552700" cy="57300"/>
            </a:xfrm>
            <a:prstGeom prst="roundRect">
              <a:avLst>
                <a:gd fmla="val 50000" name="adj"/>
              </a:avLst>
            </a:pr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21"/>
            <p:cNvSpPr/>
            <p:nvPr/>
          </p:nvSpPr>
          <p:spPr>
            <a:xfrm>
              <a:off x="190500" y="209550"/>
              <a:ext cx="1333500" cy="228600"/>
            </a:xfrm>
            <a:prstGeom prst="roundRect">
              <a:avLst>
                <a:gd fmla="val 50000" name="adj"/>
              </a:avLst>
            </a:prstGeom>
            <a:solidFill>
              <a:srgbClr val="F7F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9" name="Google Shape;379;p21"/>
            <p:cNvSpPr txBox="1"/>
            <p:nvPr/>
          </p:nvSpPr>
          <p:spPr>
            <a:xfrm>
              <a:off x="190500" y="209550"/>
              <a:ext cx="1333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5A4634"/>
                  </a:solidFill>
                  <a:latin typeface="Lato"/>
                  <a:ea typeface="Lato"/>
                  <a:cs typeface="Lato"/>
                  <a:sym typeface="Lato"/>
                </a:rPr>
                <a:t>GAP 03 • TRAFFIC</a:t>
              </a:r>
              <a:endParaRPr b="1" sz="850">
                <a:solidFill>
                  <a:srgbClr val="5A4634"/>
                </a:solidFill>
                <a:latin typeface="Lato"/>
                <a:ea typeface="Lato"/>
                <a:cs typeface="Lato"/>
                <a:sym typeface="Lato"/>
              </a:endParaRPr>
            </a:p>
          </p:txBody>
        </p:sp>
        <p:sp>
          <p:nvSpPr>
            <p:cNvPr id="380" name="Google Shape;380;p21"/>
            <p:cNvSpPr txBox="1"/>
            <p:nvPr/>
          </p:nvSpPr>
          <p:spPr>
            <a:xfrm>
              <a:off x="190500" y="552450"/>
              <a:ext cx="21717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2C1E16"/>
                  </a:solidFill>
                  <a:latin typeface="Playfair Display"/>
                  <a:ea typeface="Playfair Display"/>
                  <a:cs typeface="Playfair Display"/>
                  <a:sym typeface="Playfair Display"/>
                </a:rPr>
                <a:t>Weekday Traffic Leverage</a:t>
              </a:r>
              <a:endParaRPr b="1" sz="1350">
                <a:solidFill>
                  <a:srgbClr val="2C1E16"/>
                </a:solidFill>
                <a:latin typeface="Playfair Display"/>
                <a:ea typeface="Playfair Display"/>
                <a:cs typeface="Playfair Display"/>
                <a:sym typeface="Playfair Display"/>
              </a:endParaRPr>
            </a:p>
            <a:p>
              <a:pPr indent="0" lvl="0" marL="0" rtl="0" algn="l">
                <a:spcBef>
                  <a:spcPts val="1000"/>
                </a:spcBef>
                <a:spcAft>
                  <a:spcPts val="0"/>
                </a:spcAft>
                <a:buNone/>
              </a:pPr>
              <a:r>
                <a:rPr b="1" lang="en" sz="2400">
                  <a:solidFill>
                    <a:srgbClr val="2C1E16"/>
                  </a:solidFill>
                  <a:latin typeface="Playfair Display"/>
                  <a:ea typeface="Playfair Display"/>
                  <a:cs typeface="Playfair Display"/>
                  <a:sym typeface="Playfair Display"/>
                </a:rPr>
                <a:t>$503,588</a:t>
              </a:r>
              <a:endParaRPr b="1" sz="2400">
                <a:solidFill>
                  <a:srgbClr val="2C1E16"/>
                </a:solidFill>
                <a:latin typeface="Playfair Display"/>
                <a:ea typeface="Playfair Display"/>
                <a:cs typeface="Playfair Display"/>
                <a:sym typeface="Playfair Display"/>
              </a:endParaRPr>
            </a:p>
            <a:p>
              <a:pPr indent="0" lvl="0" marL="0" rtl="0" algn="l">
                <a:spcBef>
                  <a:spcPts val="200"/>
                </a:spcBef>
                <a:spcAft>
                  <a:spcPts val="0"/>
                </a:spcAft>
                <a:buNone/>
              </a:pPr>
              <a:r>
                <a:rPr b="1" lang="en" sz="900">
                  <a:solidFill>
                    <a:srgbClr val="5A4634"/>
                  </a:solidFill>
                  <a:latin typeface="Lato"/>
                  <a:ea typeface="Lato"/>
                  <a:cs typeface="Lato"/>
                  <a:sym typeface="Lato"/>
                </a:rPr>
                <a:t>Core Commuter Baseline</a:t>
              </a:r>
              <a:endParaRPr b="1" sz="900">
                <a:solidFill>
                  <a:srgbClr val="5A4634"/>
                </a:solidFill>
                <a:latin typeface="Lato"/>
                <a:ea typeface="Lato"/>
                <a:cs typeface="Lato"/>
                <a:sym typeface="Lato"/>
              </a:endParaRPr>
            </a:p>
            <a:p>
              <a:pPr indent="0" lvl="0" marL="0" rtl="0" algn="l">
                <a:spcBef>
                  <a:spcPts val="1400"/>
                </a:spcBef>
                <a:spcAft>
                  <a:spcPts val="0"/>
                </a:spcAft>
                <a:buNone/>
              </a:pPr>
              <a:r>
                <a:rPr b="0" lang="en" sz="1050">
                  <a:solidFill>
                    <a:srgbClr val="2C1E16"/>
                  </a:solidFill>
                  <a:latin typeface="Lato"/>
                  <a:ea typeface="Lato"/>
                  <a:cs typeface="Lato"/>
                  <a:sym typeface="Lato"/>
                </a:rPr>
                <a:t>Leveraging our strong </a:t>
              </a:r>
              <a:r>
                <a:rPr b="1" lang="en" sz="1050">
                  <a:solidFill>
                    <a:srgbClr val="C05A3E"/>
                  </a:solidFill>
                  <a:latin typeface="Lato"/>
                  <a:ea typeface="Lato"/>
                  <a:cs typeface="Lato"/>
                  <a:sym typeface="Lato"/>
                </a:rPr>
                <a:t>$503,588</a:t>
              </a:r>
              <a:r>
                <a:rPr b="0" lang="en" sz="1050">
                  <a:solidFill>
                    <a:srgbClr val="2C1E16"/>
                  </a:solidFill>
                  <a:latin typeface="Lato"/>
                  <a:ea typeface="Lato"/>
                  <a:cs typeface="Lato"/>
                  <a:sym typeface="Lato"/>
                </a:rPr>
                <a:t> weekday traffic to promote these new evening or optimized product initiatives will be key.</a:t>
              </a:r>
              <a:endParaRPr b="0" sz="1050">
                <a:solidFill>
                  <a:srgbClr val="2C1E16"/>
                </a:solidFill>
                <a:latin typeface="Lato"/>
                <a:ea typeface="Lato"/>
                <a:cs typeface="Lato"/>
                <a:sym typeface="La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4" name="Shape 384"/>
        <p:cNvGrpSpPr/>
        <p:nvPr/>
      </p:nvGrpSpPr>
      <p:grpSpPr>
        <a:xfrm>
          <a:off x="0" y="0"/>
          <a:ext cx="0" cy="0"/>
          <a:chOff x="0" y="0"/>
          <a:chExt cx="0" cy="0"/>
        </a:xfrm>
      </p:grpSpPr>
      <p:grpSp>
        <p:nvGrpSpPr>
          <p:cNvPr id="385" name="Google Shape;385;p22"/>
          <p:cNvGrpSpPr/>
          <p:nvPr/>
        </p:nvGrpSpPr>
        <p:grpSpPr>
          <a:xfrm>
            <a:off x="476250" y="238125"/>
            <a:ext cx="8191500" cy="457200"/>
            <a:chOff x="0" y="0"/>
            <a:chExt cx="8191500" cy="457200"/>
          </a:xfrm>
        </p:grpSpPr>
        <p:sp>
          <p:nvSpPr>
            <p:cNvPr id="386" name="Google Shape;386;p22"/>
            <p:cNvSpPr txBox="1"/>
            <p:nvPr/>
          </p:nvSpPr>
          <p:spPr>
            <a:xfrm>
              <a:off x="0" y="0"/>
              <a:ext cx="8191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200">
                  <a:solidFill>
                    <a:srgbClr val="2C1E16"/>
                  </a:solidFill>
                  <a:latin typeface="Playfair Display"/>
                  <a:ea typeface="Playfair Display"/>
                  <a:cs typeface="Playfair Display"/>
                  <a:sym typeface="Playfair Display"/>
                </a:rPr>
                <a:t>Key Operational Problems Identified</a:t>
              </a:r>
              <a:endParaRPr b="1" sz="2200">
                <a:solidFill>
                  <a:srgbClr val="2C1E16"/>
                </a:solidFill>
                <a:latin typeface="Playfair Display"/>
                <a:ea typeface="Playfair Display"/>
                <a:cs typeface="Playfair Display"/>
                <a:sym typeface="Playfair Display"/>
              </a:endParaRPr>
            </a:p>
          </p:txBody>
        </p:sp>
        <p:cxnSp>
          <p:nvCxnSpPr>
            <p:cNvPr id="387" name="Google Shape;387;p22"/>
            <p:cNvCxnSpPr/>
            <p:nvPr/>
          </p:nvCxnSpPr>
          <p:spPr>
            <a:xfrm>
              <a:off x="0" y="457200"/>
              <a:ext cx="8191500" cy="0"/>
            </a:xfrm>
            <a:prstGeom prst="straightConnector1">
              <a:avLst/>
            </a:prstGeom>
            <a:solidFill>
              <a:srgbClr val="FFFFFF"/>
            </a:solidFill>
            <a:ln cap="flat" cmpd="sng" w="19050">
              <a:solidFill>
                <a:srgbClr val="D4A373"/>
              </a:solidFill>
              <a:prstDash val="solid"/>
              <a:round/>
              <a:headEnd len="sm" w="sm" type="none"/>
              <a:tailEnd len="sm" w="sm" type="none"/>
            </a:ln>
          </p:spPr>
        </p:cxnSp>
      </p:grpSp>
      <p:grpSp>
        <p:nvGrpSpPr>
          <p:cNvPr id="388" name="Google Shape;388;p22"/>
          <p:cNvGrpSpPr/>
          <p:nvPr/>
        </p:nvGrpSpPr>
        <p:grpSpPr>
          <a:xfrm>
            <a:off x="476250" y="838200"/>
            <a:ext cx="8191500" cy="476400"/>
            <a:chOff x="0" y="0"/>
            <a:chExt cx="8191500" cy="476400"/>
          </a:xfrm>
        </p:grpSpPr>
        <p:sp>
          <p:nvSpPr>
            <p:cNvPr id="389" name="Google Shape;389;p22"/>
            <p:cNvSpPr/>
            <p:nvPr/>
          </p:nvSpPr>
          <p:spPr>
            <a:xfrm>
              <a:off x="0" y="0"/>
              <a:ext cx="8191500" cy="476400"/>
            </a:xfrm>
            <a:prstGeom prst="roundRect">
              <a:avLst>
                <a:gd fmla="val 12000" name="adj"/>
              </a:avLst>
            </a:prstGeom>
            <a:solidFill>
              <a:srgbClr val="EADDCD">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22"/>
            <p:cNvSpPr txBox="1"/>
            <p:nvPr/>
          </p:nvSpPr>
          <p:spPr>
            <a:xfrm>
              <a:off x="171450" y="0"/>
              <a:ext cx="7848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2C1E16"/>
                  </a:solidFill>
                  <a:latin typeface="Lato"/>
                  <a:ea typeface="Lato"/>
                  <a:cs typeface="Lato"/>
                  <a:sym typeface="Lato"/>
                </a:rPr>
                <a:t>Analyzing baseline sales data across all locations highlights critical operational vulnerabilities and revenue bottlenecks. Addressing these key challenges is essential to driving overall store growth.</a:t>
              </a:r>
              <a:endParaRPr b="0" sz="1050">
                <a:solidFill>
                  <a:srgbClr val="2C1E16"/>
                </a:solidFill>
                <a:latin typeface="Lato"/>
                <a:ea typeface="Lato"/>
                <a:cs typeface="Lato"/>
                <a:sym typeface="Lato"/>
              </a:endParaRPr>
            </a:p>
          </p:txBody>
        </p:sp>
      </p:grpSp>
      <p:grpSp>
        <p:nvGrpSpPr>
          <p:cNvPr id="391" name="Google Shape;391;p22"/>
          <p:cNvGrpSpPr/>
          <p:nvPr/>
        </p:nvGrpSpPr>
        <p:grpSpPr>
          <a:xfrm>
            <a:off x="476250" y="1476375"/>
            <a:ext cx="2552700" cy="2857500"/>
            <a:chOff x="0" y="0"/>
            <a:chExt cx="2552700" cy="2857500"/>
          </a:xfrm>
        </p:grpSpPr>
        <p:sp>
          <p:nvSpPr>
            <p:cNvPr id="392" name="Google Shape;392;p22"/>
            <p:cNvSpPr/>
            <p:nvPr/>
          </p:nvSpPr>
          <p:spPr>
            <a:xfrm>
              <a:off x="0" y="0"/>
              <a:ext cx="2552700" cy="2857500"/>
            </a:xfrm>
            <a:prstGeom prst="roundRect">
              <a:avLst>
                <a:gd fmla="val 2985" name="adj"/>
              </a:avLst>
            </a:prstGeom>
            <a:solidFill>
              <a:srgbClr val="FFFFFF"/>
            </a:solidFill>
            <a:ln cap="flat" cmpd="sng" w="19050">
              <a:solidFill>
                <a:srgbClr val="C05A3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22"/>
            <p:cNvSpPr/>
            <p:nvPr/>
          </p:nvSpPr>
          <p:spPr>
            <a:xfrm>
              <a:off x="0" y="0"/>
              <a:ext cx="2552700" cy="57300"/>
            </a:xfrm>
            <a:prstGeom prst="roundRect">
              <a:avLst>
                <a:gd fmla="val 50000" name="adj"/>
              </a:avLst>
            </a:prstGeom>
            <a:solidFill>
              <a:srgbClr val="C05A3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4" name="Google Shape;394;p22"/>
            <p:cNvSpPr/>
            <p:nvPr/>
          </p:nvSpPr>
          <p:spPr>
            <a:xfrm>
              <a:off x="190500" y="190500"/>
              <a:ext cx="1381200" cy="228600"/>
            </a:xfrm>
            <a:prstGeom prst="roundRect">
              <a:avLst>
                <a:gd fmla="val 50000" name="adj"/>
              </a:avLst>
            </a:prstGeom>
            <a:solidFill>
              <a:srgbClr val="FDF2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5" name="Google Shape;395;p22"/>
            <p:cNvSpPr txBox="1"/>
            <p:nvPr/>
          </p:nvSpPr>
          <p:spPr>
            <a:xfrm>
              <a:off x="190500" y="190500"/>
              <a:ext cx="13812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86">
                  <a:solidFill>
                    <a:srgbClr val="C05A3E"/>
                  </a:solidFill>
                  <a:latin typeface="Lato"/>
                  <a:ea typeface="Lato"/>
                  <a:cs typeface="Lato"/>
                  <a:sym typeface="Lato"/>
                </a:rPr>
                <a:t>PROBLEM 01 • SEASONALITY</a:t>
              </a:r>
              <a:endParaRPr b="1" sz="786">
                <a:solidFill>
                  <a:srgbClr val="C05A3E"/>
                </a:solidFill>
                <a:latin typeface="Lato"/>
                <a:ea typeface="Lato"/>
                <a:cs typeface="Lato"/>
                <a:sym typeface="Lato"/>
              </a:endParaRPr>
            </a:p>
          </p:txBody>
        </p:sp>
        <p:sp>
          <p:nvSpPr>
            <p:cNvPr id="396" name="Google Shape;396;p22"/>
            <p:cNvSpPr txBox="1"/>
            <p:nvPr/>
          </p:nvSpPr>
          <p:spPr>
            <a:xfrm>
              <a:off x="190500" y="533400"/>
              <a:ext cx="2171700" cy="214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2C1E16"/>
                  </a:solidFill>
                  <a:latin typeface="Playfair Display"/>
                  <a:ea typeface="Playfair Display"/>
                  <a:cs typeface="Playfair Display"/>
                  <a:sym typeface="Playfair Display"/>
                </a:rPr>
                <a:t>Summer Sales Slump</a:t>
              </a:r>
              <a:endParaRPr b="1" sz="1350">
                <a:solidFill>
                  <a:srgbClr val="2C1E16"/>
                </a:solidFill>
                <a:latin typeface="Playfair Display"/>
                <a:ea typeface="Playfair Display"/>
                <a:cs typeface="Playfair Display"/>
                <a:sym typeface="Playfair Display"/>
              </a:endParaRPr>
            </a:p>
            <a:p>
              <a:pPr indent="0" lvl="0" marL="0" rtl="0" algn="l">
                <a:spcBef>
                  <a:spcPts val="1000"/>
                </a:spcBef>
                <a:spcAft>
                  <a:spcPts val="0"/>
                </a:spcAft>
                <a:buNone/>
              </a:pPr>
              <a:r>
                <a:rPr b="1" lang="en" sz="2400">
                  <a:solidFill>
                    <a:srgbClr val="C05A3E"/>
                  </a:solidFill>
                  <a:latin typeface="Playfair Display"/>
                  <a:ea typeface="Playfair Display"/>
                  <a:cs typeface="Playfair Display"/>
                  <a:sym typeface="Playfair Display"/>
                </a:rPr>
                <a:t>Seasonal Dip</a:t>
              </a:r>
              <a:endParaRPr b="1" sz="2400">
                <a:solidFill>
                  <a:srgbClr val="C05A3E"/>
                </a:solidFill>
                <a:latin typeface="Playfair Display"/>
                <a:ea typeface="Playfair Display"/>
                <a:cs typeface="Playfair Display"/>
                <a:sym typeface="Playfair Display"/>
              </a:endParaRPr>
            </a:p>
            <a:p>
              <a:pPr indent="0" lvl="0" marL="0" rtl="0" algn="l">
                <a:spcBef>
                  <a:spcPts val="200"/>
                </a:spcBef>
                <a:spcAft>
                  <a:spcPts val="0"/>
                </a:spcAft>
                <a:buNone/>
              </a:pPr>
              <a:r>
                <a:rPr b="1" lang="en" sz="900">
                  <a:solidFill>
                    <a:srgbClr val="5A4634"/>
                  </a:solidFill>
                  <a:latin typeface="Lato"/>
                  <a:ea typeface="Lato"/>
                  <a:cs typeface="Lato"/>
                  <a:sym typeface="Lato"/>
                </a:rPr>
                <a:t>Hot Beverage Decline</a:t>
              </a:r>
              <a:endParaRPr b="1" sz="900">
                <a:solidFill>
                  <a:srgbClr val="5A4634"/>
                </a:solidFill>
                <a:latin typeface="Lato"/>
                <a:ea typeface="Lato"/>
                <a:cs typeface="Lato"/>
                <a:sym typeface="Lato"/>
              </a:endParaRPr>
            </a:p>
            <a:p>
              <a:pPr indent="0" lvl="0" marL="0" rtl="0" algn="l">
                <a:spcBef>
                  <a:spcPts val="1400"/>
                </a:spcBef>
                <a:spcAft>
                  <a:spcPts val="0"/>
                </a:spcAft>
                <a:buNone/>
              </a:pPr>
              <a:r>
                <a:rPr b="0" lang="en" sz="1050">
                  <a:solidFill>
                    <a:srgbClr val="2C1E16"/>
                  </a:solidFill>
                  <a:latin typeface="Lato"/>
                  <a:ea typeface="Lato"/>
                  <a:cs typeface="Lato"/>
                  <a:sym typeface="Lato"/>
                </a:rPr>
                <a:t>Warm summer weather causes a noticeable drop in core hot beverage demand, exposing a lack of iced and seasonal beverage alternatives.</a:t>
              </a:r>
              <a:endParaRPr b="0" sz="1050">
                <a:solidFill>
                  <a:srgbClr val="2C1E16"/>
                </a:solidFill>
                <a:latin typeface="Lato"/>
                <a:ea typeface="Lato"/>
                <a:cs typeface="Lato"/>
                <a:sym typeface="Lato"/>
              </a:endParaRPr>
            </a:p>
          </p:txBody>
        </p:sp>
      </p:grpSp>
      <p:grpSp>
        <p:nvGrpSpPr>
          <p:cNvPr id="397" name="Google Shape;397;p22"/>
          <p:cNvGrpSpPr/>
          <p:nvPr/>
        </p:nvGrpSpPr>
        <p:grpSpPr>
          <a:xfrm>
            <a:off x="3295650" y="1476375"/>
            <a:ext cx="2552700" cy="2857500"/>
            <a:chOff x="0" y="0"/>
            <a:chExt cx="2552700" cy="2857500"/>
          </a:xfrm>
        </p:grpSpPr>
        <p:sp>
          <p:nvSpPr>
            <p:cNvPr id="398" name="Google Shape;398;p22"/>
            <p:cNvSpPr/>
            <p:nvPr/>
          </p:nvSpPr>
          <p:spPr>
            <a:xfrm>
              <a:off x="0" y="0"/>
              <a:ext cx="2552700" cy="2857500"/>
            </a:xfrm>
            <a:prstGeom prst="roundRect">
              <a:avLst>
                <a:gd fmla="val 2985" name="adj"/>
              </a:avLst>
            </a:prstGeom>
            <a:solidFill>
              <a:srgbClr val="FFFFFF"/>
            </a:solidFill>
            <a:ln cap="flat" cmpd="sng" w="14300">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22"/>
            <p:cNvSpPr/>
            <p:nvPr/>
          </p:nvSpPr>
          <p:spPr>
            <a:xfrm>
              <a:off x="0" y="0"/>
              <a:ext cx="2552700" cy="57300"/>
            </a:xfrm>
            <a:prstGeom prst="roundRect">
              <a:avLst>
                <a:gd fmla="val 50000" name="adj"/>
              </a:avLst>
            </a:prstGeom>
            <a:solidFill>
              <a:srgbClr val="D4A37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0" name="Google Shape;400;p22"/>
            <p:cNvSpPr/>
            <p:nvPr/>
          </p:nvSpPr>
          <p:spPr>
            <a:xfrm>
              <a:off x="190500" y="190500"/>
              <a:ext cx="1285800" cy="228600"/>
            </a:xfrm>
            <a:prstGeom prst="roundRect">
              <a:avLst>
                <a:gd fmla="val 50000" name="adj"/>
              </a:avLst>
            </a:prstGeom>
            <a:solidFill>
              <a:srgbClr val="F7F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22"/>
            <p:cNvSpPr txBox="1"/>
            <p:nvPr/>
          </p:nvSpPr>
          <p:spPr>
            <a:xfrm>
              <a:off x="190500" y="190500"/>
              <a:ext cx="12858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5A4634"/>
                  </a:solidFill>
                  <a:latin typeface="Lato"/>
                  <a:ea typeface="Lato"/>
                  <a:cs typeface="Lato"/>
                  <a:sym typeface="Lato"/>
                </a:rPr>
                <a:t>PROBLEM 02 • DAYPART</a:t>
              </a:r>
              <a:endParaRPr b="1" sz="850">
                <a:solidFill>
                  <a:srgbClr val="5A4634"/>
                </a:solidFill>
                <a:latin typeface="Lato"/>
                <a:ea typeface="Lato"/>
                <a:cs typeface="Lato"/>
                <a:sym typeface="Lato"/>
              </a:endParaRPr>
            </a:p>
          </p:txBody>
        </p:sp>
        <p:sp>
          <p:nvSpPr>
            <p:cNvPr id="402" name="Google Shape;402;p22"/>
            <p:cNvSpPr txBox="1"/>
            <p:nvPr/>
          </p:nvSpPr>
          <p:spPr>
            <a:xfrm>
              <a:off x="190500" y="533400"/>
              <a:ext cx="2171700" cy="214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2C1E16"/>
                  </a:solidFill>
                  <a:latin typeface="Playfair Display"/>
                  <a:ea typeface="Playfair Display"/>
                  <a:cs typeface="Playfair Display"/>
                  <a:sym typeface="Playfair Display"/>
                </a:rPr>
                <a:t>Evening Volume Drop</a:t>
              </a:r>
              <a:endParaRPr b="1" sz="1350">
                <a:solidFill>
                  <a:srgbClr val="2C1E16"/>
                </a:solidFill>
                <a:latin typeface="Playfair Display"/>
                <a:ea typeface="Playfair Display"/>
                <a:cs typeface="Playfair Display"/>
                <a:sym typeface="Playfair Display"/>
              </a:endParaRPr>
            </a:p>
            <a:p>
              <a:pPr indent="0" lvl="0" marL="0" rtl="0" algn="l">
                <a:spcBef>
                  <a:spcPts val="1000"/>
                </a:spcBef>
                <a:spcAft>
                  <a:spcPts val="0"/>
                </a:spcAft>
                <a:buNone/>
              </a:pPr>
              <a:r>
                <a:rPr b="1" lang="en" sz="2400">
                  <a:solidFill>
                    <a:srgbClr val="2C1E16"/>
                  </a:solidFill>
                  <a:latin typeface="Playfair Display"/>
                  <a:ea typeface="Playfair Display"/>
                  <a:cs typeface="Playfair Display"/>
                  <a:sym typeface="Playfair Display"/>
                </a:rPr>
                <a:t>$65,668.50</a:t>
              </a:r>
              <a:endParaRPr b="1" sz="2400">
                <a:solidFill>
                  <a:srgbClr val="2C1E16"/>
                </a:solidFill>
                <a:latin typeface="Playfair Display"/>
                <a:ea typeface="Playfair Display"/>
                <a:cs typeface="Playfair Display"/>
                <a:sym typeface="Playfair Display"/>
              </a:endParaRPr>
            </a:p>
            <a:p>
              <a:pPr indent="0" lvl="0" marL="0" rtl="0" algn="l">
                <a:spcBef>
                  <a:spcPts val="200"/>
                </a:spcBef>
                <a:spcAft>
                  <a:spcPts val="0"/>
                </a:spcAft>
                <a:buNone/>
              </a:pPr>
              <a:r>
                <a:rPr b="1" lang="en" sz="900">
                  <a:solidFill>
                    <a:srgbClr val="5A4634"/>
                  </a:solidFill>
                  <a:latin typeface="Lato"/>
                  <a:ea typeface="Lato"/>
                  <a:cs typeface="Lato"/>
                  <a:sym typeface="Lato"/>
                </a:rPr>
                <a:t>Only 9.4% of Total Sales</a:t>
              </a:r>
              <a:endParaRPr b="1" sz="900">
                <a:solidFill>
                  <a:srgbClr val="5A4634"/>
                </a:solidFill>
                <a:latin typeface="Lato"/>
                <a:ea typeface="Lato"/>
                <a:cs typeface="Lato"/>
                <a:sym typeface="Lato"/>
              </a:endParaRPr>
            </a:p>
            <a:p>
              <a:pPr indent="0" lvl="0" marL="0" rtl="0" algn="l">
                <a:spcBef>
                  <a:spcPts val="1400"/>
                </a:spcBef>
                <a:spcAft>
                  <a:spcPts val="0"/>
                </a:spcAft>
                <a:buNone/>
              </a:pPr>
              <a:r>
                <a:rPr b="0" lang="en" sz="1050">
                  <a:solidFill>
                    <a:srgbClr val="2C1E16"/>
                  </a:solidFill>
                  <a:latin typeface="Lato"/>
                  <a:ea typeface="Lato"/>
                  <a:cs typeface="Lato"/>
                  <a:sym typeface="Lato"/>
                </a:rPr>
                <a:t>A severe falloff in late-day foot traffic leads to underutilized store capacity and high operational overhead during evening hours.</a:t>
              </a:r>
              <a:endParaRPr b="0" sz="1050">
                <a:solidFill>
                  <a:srgbClr val="2C1E16"/>
                </a:solidFill>
                <a:latin typeface="Lato"/>
                <a:ea typeface="Lato"/>
                <a:cs typeface="Lato"/>
                <a:sym typeface="Lato"/>
              </a:endParaRPr>
            </a:p>
          </p:txBody>
        </p:sp>
      </p:grpSp>
      <p:grpSp>
        <p:nvGrpSpPr>
          <p:cNvPr id="403" name="Google Shape;403;p22"/>
          <p:cNvGrpSpPr/>
          <p:nvPr/>
        </p:nvGrpSpPr>
        <p:grpSpPr>
          <a:xfrm>
            <a:off x="6115050" y="1476375"/>
            <a:ext cx="2552700" cy="2857500"/>
            <a:chOff x="0" y="0"/>
            <a:chExt cx="2552700" cy="2857500"/>
          </a:xfrm>
        </p:grpSpPr>
        <p:sp>
          <p:nvSpPr>
            <p:cNvPr id="404" name="Google Shape;404;p22"/>
            <p:cNvSpPr/>
            <p:nvPr/>
          </p:nvSpPr>
          <p:spPr>
            <a:xfrm>
              <a:off x="0" y="0"/>
              <a:ext cx="2552700" cy="2857500"/>
            </a:xfrm>
            <a:prstGeom prst="roundRect">
              <a:avLst>
                <a:gd fmla="val 2985" name="adj"/>
              </a:avLst>
            </a:prstGeom>
            <a:solidFill>
              <a:srgbClr val="FFFFFF"/>
            </a:solidFill>
            <a:ln cap="flat" cmpd="sng" w="14300">
              <a:solidFill>
                <a:srgbClr val="EADDC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22"/>
            <p:cNvSpPr/>
            <p:nvPr/>
          </p:nvSpPr>
          <p:spPr>
            <a:xfrm>
              <a:off x="0" y="0"/>
              <a:ext cx="2552700" cy="57300"/>
            </a:xfrm>
            <a:prstGeom prst="roundRect">
              <a:avLst>
                <a:gd fmla="val 50000" name="adj"/>
              </a:avLst>
            </a:pr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6" name="Google Shape;406;p22"/>
            <p:cNvSpPr/>
            <p:nvPr/>
          </p:nvSpPr>
          <p:spPr>
            <a:xfrm>
              <a:off x="190500" y="190500"/>
              <a:ext cx="1190700" cy="228600"/>
            </a:xfrm>
            <a:prstGeom prst="roundRect">
              <a:avLst>
                <a:gd fmla="val 50000" name="adj"/>
              </a:avLst>
            </a:prstGeom>
            <a:solidFill>
              <a:srgbClr val="F7F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22"/>
            <p:cNvSpPr txBox="1"/>
            <p:nvPr/>
          </p:nvSpPr>
          <p:spPr>
            <a:xfrm>
              <a:off x="190500" y="190500"/>
              <a:ext cx="11907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5A4634"/>
                  </a:solidFill>
                  <a:latin typeface="Lato"/>
                  <a:ea typeface="Lato"/>
                  <a:cs typeface="Lato"/>
                  <a:sym typeface="Lato"/>
                </a:rPr>
                <a:t>PROBLEM 03 • MENU</a:t>
              </a:r>
              <a:endParaRPr b="1" sz="850">
                <a:solidFill>
                  <a:srgbClr val="5A4634"/>
                </a:solidFill>
                <a:latin typeface="Lato"/>
                <a:ea typeface="Lato"/>
                <a:cs typeface="Lato"/>
                <a:sym typeface="Lato"/>
              </a:endParaRPr>
            </a:p>
          </p:txBody>
        </p:sp>
        <p:sp>
          <p:nvSpPr>
            <p:cNvPr id="408" name="Google Shape;408;p22"/>
            <p:cNvSpPr txBox="1"/>
            <p:nvPr/>
          </p:nvSpPr>
          <p:spPr>
            <a:xfrm>
              <a:off x="190500" y="533400"/>
              <a:ext cx="2171700" cy="214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2C1E16"/>
                  </a:solidFill>
                  <a:latin typeface="Playfair Display"/>
                  <a:ea typeface="Playfair Display"/>
                  <a:cs typeface="Playfair Display"/>
                  <a:sym typeface="Playfair Display"/>
                </a:rPr>
                <a:t>Underperforming SKUs</a:t>
              </a:r>
              <a:endParaRPr b="1" sz="1350">
                <a:solidFill>
                  <a:srgbClr val="2C1E16"/>
                </a:solidFill>
                <a:latin typeface="Playfair Display"/>
                <a:ea typeface="Playfair Display"/>
                <a:cs typeface="Playfair Display"/>
                <a:sym typeface="Playfair Display"/>
              </a:endParaRPr>
            </a:p>
            <a:p>
              <a:pPr indent="0" lvl="0" marL="0" rtl="0" algn="l">
                <a:spcBef>
                  <a:spcPts val="1000"/>
                </a:spcBef>
                <a:spcAft>
                  <a:spcPts val="0"/>
                </a:spcAft>
                <a:buNone/>
              </a:pPr>
              <a:r>
                <a:rPr b="1" lang="en" sz="2400">
                  <a:solidFill>
                    <a:srgbClr val="2C1E16"/>
                  </a:solidFill>
                  <a:latin typeface="Playfair Display"/>
                  <a:ea typeface="Playfair Display"/>
                  <a:cs typeface="Playfair Display"/>
                  <a:sym typeface="Playfair Display"/>
                </a:rPr>
                <a:t>29 Categories</a:t>
              </a:r>
              <a:endParaRPr b="1" sz="2400">
                <a:solidFill>
                  <a:srgbClr val="2C1E16"/>
                </a:solidFill>
                <a:latin typeface="Playfair Display"/>
                <a:ea typeface="Playfair Display"/>
                <a:cs typeface="Playfair Display"/>
                <a:sym typeface="Playfair Display"/>
              </a:endParaRPr>
            </a:p>
            <a:p>
              <a:pPr indent="0" lvl="0" marL="0" rtl="0" algn="l">
                <a:spcBef>
                  <a:spcPts val="200"/>
                </a:spcBef>
                <a:spcAft>
                  <a:spcPts val="0"/>
                </a:spcAft>
                <a:buNone/>
              </a:pPr>
              <a:r>
                <a:rPr b="1" lang="en" sz="900">
                  <a:solidFill>
                    <a:srgbClr val="5A4634"/>
                  </a:solidFill>
                  <a:latin typeface="Lato"/>
                  <a:ea typeface="Lato"/>
                  <a:cs typeface="Lato"/>
                  <a:sym typeface="Lato"/>
                </a:rPr>
                <a:t>Bottom SKUs &lt; $1.5K Revenue</a:t>
              </a:r>
              <a:endParaRPr b="1" sz="900">
                <a:solidFill>
                  <a:srgbClr val="5A4634"/>
                </a:solidFill>
                <a:latin typeface="Lato"/>
                <a:ea typeface="Lato"/>
                <a:cs typeface="Lato"/>
                <a:sym typeface="Lato"/>
              </a:endParaRPr>
            </a:p>
            <a:p>
              <a:pPr indent="0" lvl="0" marL="0" rtl="0" algn="l">
                <a:spcBef>
                  <a:spcPts val="1400"/>
                </a:spcBef>
                <a:spcAft>
                  <a:spcPts val="0"/>
                </a:spcAft>
                <a:buNone/>
              </a:pPr>
              <a:r>
                <a:rPr b="0" lang="en" sz="1050">
                  <a:solidFill>
                    <a:srgbClr val="2C1E16"/>
                  </a:solidFill>
                  <a:latin typeface="Lato"/>
                  <a:ea typeface="Lato"/>
                  <a:cs typeface="Lato"/>
                  <a:sym typeface="Lato"/>
                </a:rPr>
                <a:t>Over-extended product offerings like Green Beans ($1,340) tie up inventory capital and complicate store execution.</a:t>
              </a:r>
              <a:endParaRPr b="0" sz="1050">
                <a:solidFill>
                  <a:srgbClr val="2C1E16"/>
                </a:solidFill>
                <a:latin typeface="Lato"/>
                <a:ea typeface="Lato"/>
                <a:cs typeface="Lato"/>
                <a:sym typeface="Lato"/>
              </a:endParaRPr>
            </a:p>
          </p:txBody>
        </p:sp>
      </p:grpSp>
      <p:grpSp>
        <p:nvGrpSpPr>
          <p:cNvPr id="409" name="Google Shape;409;p22"/>
          <p:cNvGrpSpPr/>
          <p:nvPr/>
        </p:nvGrpSpPr>
        <p:grpSpPr>
          <a:xfrm>
            <a:off x="8447723" y="4422810"/>
            <a:ext cx="400155" cy="277830"/>
            <a:chOff x="95250" y="-63450"/>
            <a:chExt cx="571650" cy="396900"/>
          </a:xfrm>
        </p:grpSpPr>
        <p:sp>
          <p:nvSpPr>
            <p:cNvPr id="410" name="Google Shape;410;p22"/>
            <p:cNvSpPr/>
            <p:nvPr/>
          </p:nvSpPr>
          <p:spPr>
            <a:xfrm>
              <a:off x="95250" y="95250"/>
              <a:ext cx="476400" cy="238200"/>
            </a:xfrm>
            <a:custGeom>
              <a:rect b="b" l="l" r="r" t="t"/>
              <a:pathLst>
                <a:path extrusionOk="0" h="120000" w="120000">
                  <a:moveTo>
                    <a:pt x="0" y="0"/>
                  </a:moveTo>
                  <a:cubicBezTo>
                    <a:pt x="0" y="72002"/>
                    <a:pt x="23999" y="120000"/>
                    <a:pt x="60000" y="120000"/>
                  </a:cubicBezTo>
                  <a:cubicBezTo>
                    <a:pt x="96001" y="120000"/>
                    <a:pt x="120000" y="72002"/>
                    <a:pt x="120000" y="0"/>
                  </a:cubicBezTo>
                  <a:lnTo>
                    <a:pt x="0" y="0"/>
                  </a:lnTo>
                  <a:close/>
                </a:path>
              </a:pathLst>
            </a:cu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22"/>
            <p:cNvSpPr/>
            <p:nvPr/>
          </p:nvSpPr>
          <p:spPr>
            <a:xfrm>
              <a:off x="571500" y="142875"/>
              <a:ext cx="95400" cy="162000"/>
            </a:xfrm>
            <a:custGeom>
              <a:rect b="b" l="l" r="r" t="t"/>
              <a:pathLst>
                <a:path extrusionOk="0" h="120000" w="120000">
                  <a:moveTo>
                    <a:pt x="0" y="0"/>
                  </a:moveTo>
                  <a:cubicBezTo>
                    <a:pt x="96007" y="0"/>
                    <a:pt x="120000" y="35296"/>
                    <a:pt x="120000" y="70592"/>
                  </a:cubicBezTo>
                  <a:cubicBezTo>
                    <a:pt x="120000" y="105889"/>
                    <a:pt x="60000" y="120000"/>
                    <a:pt x="0" y="120000"/>
                  </a:cubicBezTo>
                </a:path>
              </a:pathLst>
            </a:custGeom>
            <a:solidFill>
              <a:srgbClr val="000000"/>
            </a:solidFill>
            <a:ln cap="flat" cmpd="sng" w="38100">
              <a:solidFill>
                <a:srgbClr val="2C1E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22"/>
            <p:cNvSpPr/>
            <p:nvPr/>
          </p:nvSpPr>
          <p:spPr>
            <a:xfrm>
              <a:off x="295275" y="152400"/>
              <a:ext cx="76200" cy="76200"/>
            </a:xfrm>
            <a:prstGeom prst="ellipse">
              <a:avLst/>
            </a:prstGeom>
            <a:solidFill>
              <a:srgbClr val="F9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3" name="Google Shape;413;p22"/>
            <p:cNvSpPr/>
            <p:nvPr/>
          </p:nvSpPr>
          <p:spPr>
            <a:xfrm>
              <a:off x="238125" y="-63450"/>
              <a:ext cx="190500" cy="63600"/>
            </a:xfrm>
            <a:custGeom>
              <a:rect b="b" l="l" r="r" t="t"/>
              <a:pathLst>
                <a:path extrusionOk="0" h="120000" w="120000">
                  <a:moveTo>
                    <a:pt x="0" y="120000"/>
                  </a:moveTo>
                  <a:cubicBezTo>
                    <a:pt x="20000" y="0"/>
                    <a:pt x="40000" y="0"/>
                    <a:pt x="60000" y="120000"/>
                  </a:cubicBezTo>
                  <a:lnTo>
                    <a:pt x="120000" y="120000"/>
                  </a:lnTo>
                </a:path>
              </a:pathLst>
            </a:custGeom>
            <a:solidFill>
              <a:srgbClr val="000000"/>
            </a:solidFill>
            <a:ln cap="flat" cmpd="sng" w="28575">
              <a:solidFill>
                <a:srgbClr val="D4A37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7" name="Shape 417"/>
        <p:cNvGrpSpPr/>
        <p:nvPr/>
      </p:nvGrpSpPr>
      <p:grpSpPr>
        <a:xfrm>
          <a:off x="0" y="0"/>
          <a:ext cx="0" cy="0"/>
          <a:chOff x="0" y="0"/>
          <a:chExt cx="0" cy="0"/>
        </a:xfrm>
      </p:grpSpPr>
      <p:grpSp>
        <p:nvGrpSpPr>
          <p:cNvPr id="418" name="Google Shape;418;p23"/>
          <p:cNvGrpSpPr/>
          <p:nvPr/>
        </p:nvGrpSpPr>
        <p:grpSpPr>
          <a:xfrm>
            <a:off x="476250" y="238125"/>
            <a:ext cx="8191500" cy="457200"/>
            <a:chOff x="0" y="0"/>
            <a:chExt cx="8191500" cy="457200"/>
          </a:xfrm>
        </p:grpSpPr>
        <p:sp>
          <p:nvSpPr>
            <p:cNvPr id="419" name="Google Shape;419;p23"/>
            <p:cNvSpPr txBox="1"/>
            <p:nvPr/>
          </p:nvSpPr>
          <p:spPr>
            <a:xfrm>
              <a:off x="0" y="0"/>
              <a:ext cx="8191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2200">
                  <a:solidFill>
                    <a:srgbClr val="2C1E16"/>
                  </a:solidFill>
                  <a:latin typeface="Playfair Display"/>
                  <a:ea typeface="Playfair Display"/>
                  <a:cs typeface="Playfair Display"/>
                  <a:sym typeface="Playfair Display"/>
                </a:rPr>
                <a:t>Strategic Solutions &amp; Growth Suggestions</a:t>
              </a:r>
              <a:endParaRPr b="1" i="0" sz="2200">
                <a:solidFill>
                  <a:srgbClr val="2C1E16"/>
                </a:solidFill>
                <a:latin typeface="Playfair Display"/>
                <a:ea typeface="Playfair Display"/>
                <a:cs typeface="Playfair Display"/>
                <a:sym typeface="Playfair Display"/>
              </a:endParaRPr>
            </a:p>
          </p:txBody>
        </p:sp>
        <p:cxnSp>
          <p:nvCxnSpPr>
            <p:cNvPr id="420" name="Google Shape;420;p23"/>
            <p:cNvCxnSpPr/>
            <p:nvPr/>
          </p:nvCxnSpPr>
          <p:spPr>
            <a:xfrm>
              <a:off x="0" y="457200"/>
              <a:ext cx="8191500" cy="0"/>
            </a:xfrm>
            <a:prstGeom prst="straightConnector1">
              <a:avLst/>
            </a:prstGeom>
            <a:solidFill>
              <a:srgbClr val="FFFFFF"/>
            </a:solidFill>
            <a:ln cap="flat" cmpd="sng" w="19050">
              <a:solidFill>
                <a:srgbClr val="D4A373"/>
              </a:solidFill>
              <a:prstDash val="solid"/>
              <a:round/>
              <a:headEnd len="sm" w="sm" type="none"/>
              <a:tailEnd len="sm" w="sm" type="none"/>
            </a:ln>
          </p:spPr>
        </p:cxnSp>
      </p:grpSp>
      <p:grpSp>
        <p:nvGrpSpPr>
          <p:cNvPr id="421" name="Google Shape;421;p23"/>
          <p:cNvGrpSpPr/>
          <p:nvPr/>
        </p:nvGrpSpPr>
        <p:grpSpPr>
          <a:xfrm>
            <a:off x="476250" y="838200"/>
            <a:ext cx="8191500" cy="476400"/>
            <a:chOff x="0" y="0"/>
            <a:chExt cx="8191500" cy="476400"/>
          </a:xfrm>
        </p:grpSpPr>
        <p:sp>
          <p:nvSpPr>
            <p:cNvPr id="422" name="Google Shape;422;p23"/>
            <p:cNvSpPr/>
            <p:nvPr/>
          </p:nvSpPr>
          <p:spPr>
            <a:xfrm>
              <a:off x="0" y="0"/>
              <a:ext cx="8191500" cy="476400"/>
            </a:xfrm>
            <a:prstGeom prst="roundRect">
              <a:avLst>
                <a:gd fmla="val 16000" name="adj"/>
              </a:avLst>
            </a:prstGeom>
            <a:solidFill>
              <a:srgbClr val="EADDCD">
                <a:alpha val="4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3" name="Google Shape;423;p23"/>
            <p:cNvSpPr txBox="1"/>
            <p:nvPr/>
          </p:nvSpPr>
          <p:spPr>
            <a:xfrm>
              <a:off x="171450" y="0"/>
              <a:ext cx="78486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1018" u="none" strike="noStrike">
                  <a:solidFill>
                    <a:srgbClr val="2C1E16"/>
                  </a:solidFill>
                  <a:latin typeface="Lato"/>
                  <a:ea typeface="Lato"/>
                  <a:cs typeface="Lato"/>
                  <a:sym typeface="Lato"/>
                </a:rPr>
                <a:t>To unlock new revenue streams and address operational gaps, we propose diversifying seasonal menu items, expanding product availability to stores where items are currently missing, expanding physical footprint, and capitalizing on broader customer demographics.</a:t>
              </a:r>
              <a:endParaRPr b="0" i="0" sz="1018" u="none" strike="noStrike">
                <a:solidFill>
                  <a:srgbClr val="2C1E16"/>
                </a:solidFill>
                <a:latin typeface="Lato"/>
                <a:ea typeface="Lato"/>
                <a:cs typeface="Lato"/>
                <a:sym typeface="Lato"/>
              </a:endParaRPr>
            </a:p>
          </p:txBody>
        </p:sp>
      </p:grpSp>
      <p:grpSp>
        <p:nvGrpSpPr>
          <p:cNvPr id="424" name="Google Shape;424;p23"/>
          <p:cNvGrpSpPr/>
          <p:nvPr/>
        </p:nvGrpSpPr>
        <p:grpSpPr>
          <a:xfrm>
            <a:off x="466725" y="1466850"/>
            <a:ext cx="2571900" cy="2952900"/>
            <a:chOff x="-9525" y="-9525"/>
            <a:chExt cx="2571900" cy="2952900"/>
          </a:xfrm>
        </p:grpSpPr>
        <p:pic>
          <p:nvPicPr>
            <p:cNvPr id="425" name="Google Shape;425;p23"/>
            <p:cNvPicPr preferRelativeResize="0"/>
            <p:nvPr/>
          </p:nvPicPr>
          <p:blipFill rotWithShape="1">
            <a:blip r:embed="rId4">
              <a:alphaModFix/>
            </a:blip>
            <a:srcRect b="0" l="0" r="0" t="0"/>
            <a:stretch/>
          </p:blipFill>
          <p:spPr>
            <a:xfrm>
              <a:off x="-9525" y="-9525"/>
              <a:ext cx="2571900" cy="2952900"/>
            </a:xfrm>
            <a:prstGeom prst="rect">
              <a:avLst/>
            </a:prstGeom>
            <a:noFill/>
            <a:ln>
              <a:noFill/>
            </a:ln>
          </p:spPr>
        </p:pic>
        <p:sp>
          <p:nvSpPr>
            <p:cNvPr id="426" name="Google Shape;426;p23"/>
            <p:cNvSpPr/>
            <p:nvPr/>
          </p:nvSpPr>
          <p:spPr>
            <a:xfrm>
              <a:off x="0" y="0"/>
              <a:ext cx="2552700" cy="57300"/>
            </a:xfrm>
            <a:prstGeom prst="roundRect">
              <a:avLst>
                <a:gd fmla="val 50000" name="adj"/>
              </a:avLst>
            </a:prstGeom>
            <a:solidFill>
              <a:srgbClr val="C05A3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7" name="Google Shape;427;p23"/>
            <p:cNvSpPr/>
            <p:nvPr/>
          </p:nvSpPr>
          <p:spPr>
            <a:xfrm>
              <a:off x="171450" y="171450"/>
              <a:ext cx="1485900" cy="228600"/>
            </a:xfrm>
            <a:prstGeom prst="roundRect">
              <a:avLst>
                <a:gd fmla="val 50000" name="adj"/>
              </a:avLst>
            </a:prstGeom>
            <a:solidFill>
              <a:srgbClr val="C05A3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8" name="Google Shape;428;p23"/>
            <p:cNvSpPr txBox="1"/>
            <p:nvPr/>
          </p:nvSpPr>
          <p:spPr>
            <a:xfrm>
              <a:off x="171450" y="171450"/>
              <a:ext cx="14859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FFFFFF"/>
                  </a:solidFill>
                  <a:latin typeface="Lato"/>
                  <a:ea typeface="Lato"/>
                  <a:cs typeface="Lato"/>
                  <a:sym typeface="Lato"/>
                </a:rPr>
                <a:t>SOLUTION 01 • PRODUCT</a:t>
              </a:r>
              <a:endParaRPr b="1" sz="800">
                <a:solidFill>
                  <a:srgbClr val="FFFFFF"/>
                </a:solidFill>
                <a:latin typeface="Lato"/>
                <a:ea typeface="Lato"/>
                <a:cs typeface="Lato"/>
                <a:sym typeface="Lato"/>
              </a:endParaRPr>
            </a:p>
          </p:txBody>
        </p:sp>
        <p:sp>
          <p:nvSpPr>
            <p:cNvPr id="429" name="Google Shape;429;p23"/>
            <p:cNvSpPr txBox="1"/>
            <p:nvPr/>
          </p:nvSpPr>
          <p:spPr>
            <a:xfrm>
              <a:off x="171450" y="514350"/>
              <a:ext cx="2209800" cy="2247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300" u="none" strike="noStrike">
                  <a:solidFill>
                    <a:srgbClr val="2C1E16"/>
                  </a:solidFill>
                  <a:latin typeface="Playfair Display"/>
                  <a:ea typeface="Playfair Display"/>
                  <a:cs typeface="Playfair Display"/>
                  <a:sym typeface="Playfair Display"/>
                </a:rPr>
                <a:t>Seasonal Cold Beverages &amp; Ice Cream</a:t>
              </a:r>
              <a:endParaRPr b="1" i="0" sz="1300" u="none" strike="noStrike">
                <a:solidFill>
                  <a:srgbClr val="2C1E16"/>
                </a:solidFill>
                <a:latin typeface="Playfair Display"/>
                <a:ea typeface="Playfair Display"/>
                <a:cs typeface="Playfair Display"/>
                <a:sym typeface="Playfair Display"/>
              </a:endParaRPr>
            </a:p>
            <a:p>
              <a:pPr indent="0" lvl="0" marL="0" rtl="0" algn="l">
                <a:spcBef>
                  <a:spcPts val="1000"/>
                </a:spcBef>
                <a:spcAft>
                  <a:spcPts val="0"/>
                </a:spcAft>
                <a:buNone/>
              </a:pPr>
              <a:r>
                <a:rPr b="1" i="0" lang="en" sz="2200" u="none" strike="noStrike">
                  <a:solidFill>
                    <a:srgbClr val="C05A3E"/>
                  </a:solidFill>
                  <a:latin typeface="Playfair Display"/>
                  <a:ea typeface="Playfair Display"/>
                  <a:cs typeface="Playfair Display"/>
                  <a:sym typeface="Playfair Display"/>
                </a:rPr>
                <a:t>Iced &amp; Frozen Treats</a:t>
              </a:r>
              <a:endParaRPr b="1" i="0" sz="1300" u="none" strike="noStrike">
                <a:solidFill>
                  <a:srgbClr val="2C1E16"/>
                </a:solidFill>
                <a:latin typeface="Playfair Display"/>
                <a:ea typeface="Playfair Display"/>
                <a:cs typeface="Playfair Display"/>
                <a:sym typeface="Playfair Display"/>
              </a:endParaRPr>
            </a:p>
            <a:p>
              <a:pPr indent="0" lvl="0" marL="0" rtl="0" algn="l">
                <a:spcBef>
                  <a:spcPts val="200"/>
                </a:spcBef>
                <a:spcAft>
                  <a:spcPts val="0"/>
                </a:spcAft>
                <a:buNone/>
              </a:pPr>
              <a:r>
                <a:rPr b="1" i="0" lang="en" sz="850" u="none" strike="noStrike">
                  <a:solidFill>
                    <a:srgbClr val="5A4634"/>
                  </a:solidFill>
                  <a:latin typeface="Lato"/>
                  <a:ea typeface="Lato"/>
                  <a:cs typeface="Lato"/>
                  <a:sym typeface="Lato"/>
                </a:rPr>
                <a:t>TARGET MARKET: EVERYONE</a:t>
              </a:r>
              <a:endParaRPr b="1" i="0" sz="850" u="none" strike="noStrike">
                <a:solidFill>
                  <a:srgbClr val="2C1E16"/>
                </a:solidFill>
                <a:latin typeface="Playfair Display"/>
                <a:ea typeface="Playfair Display"/>
                <a:cs typeface="Playfair Display"/>
                <a:sym typeface="Playfair Display"/>
              </a:endParaRPr>
            </a:p>
            <a:p>
              <a:pPr indent="0" lvl="0" marL="0" rtl="0" algn="l">
                <a:spcBef>
                  <a:spcPts val="1000"/>
                </a:spcBef>
                <a:spcAft>
                  <a:spcPts val="0"/>
                </a:spcAft>
                <a:buNone/>
              </a:pPr>
              <a:r>
                <a:rPr b="0" i="0" lang="en" sz="1000" u="none" strike="noStrike">
                  <a:solidFill>
                    <a:srgbClr val="2C1E16"/>
                  </a:solidFill>
                  <a:latin typeface="Lato"/>
                  <a:ea typeface="Lato"/>
                  <a:cs typeface="Lato"/>
                  <a:sym typeface="Lato"/>
                </a:rPr>
                <a:t>Introduce seasonal cold drinks and ice cream while adding popular products to store locations where they are not currently available.</a:t>
              </a:r>
              <a:endParaRPr b="1" i="0" sz="1000" u="none" strike="noStrike">
                <a:solidFill>
                  <a:srgbClr val="2C1E16"/>
                </a:solidFill>
                <a:latin typeface="Playfair Display"/>
                <a:ea typeface="Playfair Display"/>
                <a:cs typeface="Playfair Display"/>
                <a:sym typeface="Playfair Display"/>
              </a:endParaRPr>
            </a:p>
          </p:txBody>
        </p:sp>
      </p:grpSp>
      <p:grpSp>
        <p:nvGrpSpPr>
          <p:cNvPr id="430" name="Google Shape;430;p23"/>
          <p:cNvGrpSpPr/>
          <p:nvPr/>
        </p:nvGrpSpPr>
        <p:grpSpPr>
          <a:xfrm>
            <a:off x="3286125" y="1466850"/>
            <a:ext cx="2571900" cy="2952900"/>
            <a:chOff x="-9525" y="-9525"/>
            <a:chExt cx="2571900" cy="2952900"/>
          </a:xfrm>
        </p:grpSpPr>
        <p:pic>
          <p:nvPicPr>
            <p:cNvPr id="431" name="Google Shape;431;p23"/>
            <p:cNvPicPr preferRelativeResize="0"/>
            <p:nvPr/>
          </p:nvPicPr>
          <p:blipFill rotWithShape="1">
            <a:blip r:embed="rId5">
              <a:alphaModFix/>
            </a:blip>
            <a:srcRect b="0" l="0" r="0" t="0"/>
            <a:stretch/>
          </p:blipFill>
          <p:spPr>
            <a:xfrm>
              <a:off x="-9525" y="-9525"/>
              <a:ext cx="2571900" cy="2952900"/>
            </a:xfrm>
            <a:prstGeom prst="rect">
              <a:avLst/>
            </a:prstGeom>
            <a:noFill/>
            <a:ln>
              <a:noFill/>
            </a:ln>
          </p:spPr>
        </p:pic>
        <p:sp>
          <p:nvSpPr>
            <p:cNvPr id="432" name="Google Shape;432;p23"/>
            <p:cNvSpPr/>
            <p:nvPr/>
          </p:nvSpPr>
          <p:spPr>
            <a:xfrm>
              <a:off x="0" y="0"/>
              <a:ext cx="2552700" cy="57300"/>
            </a:xfrm>
            <a:prstGeom prst="roundRect">
              <a:avLst>
                <a:gd fmla="val 50000" name="adj"/>
              </a:avLst>
            </a:prstGeom>
            <a:solidFill>
              <a:srgbClr val="D4A37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3" name="Google Shape;433;p23"/>
            <p:cNvSpPr/>
            <p:nvPr/>
          </p:nvSpPr>
          <p:spPr>
            <a:xfrm>
              <a:off x="171450" y="171450"/>
              <a:ext cx="1543200" cy="228600"/>
            </a:xfrm>
            <a:prstGeom prst="roundRect">
              <a:avLst>
                <a:gd fmla="val 50000" name="adj"/>
              </a:avLst>
            </a:prstGeom>
            <a:solidFill>
              <a:srgbClr val="D4A37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23"/>
            <p:cNvSpPr txBox="1"/>
            <p:nvPr/>
          </p:nvSpPr>
          <p:spPr>
            <a:xfrm>
              <a:off x="171450" y="171450"/>
              <a:ext cx="15432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FFFFFF"/>
                  </a:solidFill>
                  <a:latin typeface="Lato"/>
                  <a:ea typeface="Lato"/>
                  <a:cs typeface="Lato"/>
                  <a:sym typeface="Lato"/>
                </a:rPr>
                <a:t>SOLUTION 02 • EXPANSION</a:t>
              </a:r>
              <a:endParaRPr b="1" sz="800">
                <a:solidFill>
                  <a:srgbClr val="FFFFFF"/>
                </a:solidFill>
                <a:latin typeface="Lato"/>
                <a:ea typeface="Lato"/>
                <a:cs typeface="Lato"/>
                <a:sym typeface="Lato"/>
              </a:endParaRPr>
            </a:p>
          </p:txBody>
        </p:sp>
        <p:sp>
          <p:nvSpPr>
            <p:cNvPr id="435" name="Google Shape;435;p23"/>
            <p:cNvSpPr txBox="1"/>
            <p:nvPr/>
          </p:nvSpPr>
          <p:spPr>
            <a:xfrm>
              <a:off x="171450" y="514350"/>
              <a:ext cx="2209800" cy="2247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300">
                  <a:solidFill>
                    <a:srgbClr val="2C1E16"/>
                  </a:solidFill>
                  <a:latin typeface="Playfair Display"/>
                  <a:ea typeface="Playfair Display"/>
                  <a:cs typeface="Playfair Display"/>
                  <a:sym typeface="Playfair Display"/>
                </a:rPr>
                <a:t>Store Network Growth</a:t>
              </a:r>
              <a:endParaRPr b="1" i="0" sz="1300">
                <a:solidFill>
                  <a:srgbClr val="2C1E16"/>
                </a:solidFill>
                <a:latin typeface="Playfair Display"/>
                <a:ea typeface="Playfair Display"/>
                <a:cs typeface="Playfair Display"/>
                <a:sym typeface="Playfair Display"/>
              </a:endParaRPr>
            </a:p>
            <a:p>
              <a:pPr indent="0" lvl="0" marL="0" rtl="0" algn="l">
                <a:spcBef>
                  <a:spcPts val="1000"/>
                </a:spcBef>
                <a:spcAft>
                  <a:spcPts val="0"/>
                </a:spcAft>
                <a:buNone/>
              </a:pPr>
              <a:r>
                <a:rPr b="1" i="0" lang="en" sz="2200">
                  <a:solidFill>
                    <a:srgbClr val="2C1E16"/>
                  </a:solidFill>
                  <a:latin typeface="Playfair Display"/>
                  <a:ea typeface="Playfair Display"/>
                  <a:cs typeface="Playfair Display"/>
                  <a:sym typeface="Playfair Display"/>
                </a:rPr>
                <a:t>Open 1–2 Stores</a:t>
              </a:r>
              <a:endParaRPr b="1" i="0" sz="1300">
                <a:solidFill>
                  <a:srgbClr val="2C1E16"/>
                </a:solidFill>
                <a:latin typeface="Playfair Display"/>
                <a:ea typeface="Playfair Display"/>
                <a:cs typeface="Playfair Display"/>
                <a:sym typeface="Playfair Display"/>
              </a:endParaRPr>
            </a:p>
            <a:p>
              <a:pPr indent="0" lvl="0" marL="0" rtl="0" algn="l">
                <a:spcBef>
                  <a:spcPts val="200"/>
                </a:spcBef>
                <a:spcAft>
                  <a:spcPts val="0"/>
                </a:spcAft>
                <a:buNone/>
              </a:pPr>
              <a:r>
                <a:rPr b="1" i="0" lang="en" sz="850">
                  <a:solidFill>
                    <a:srgbClr val="5A4634"/>
                  </a:solidFill>
                  <a:latin typeface="Lato"/>
                  <a:ea typeface="Lato"/>
                  <a:cs typeface="Lato"/>
                  <a:sym typeface="Lato"/>
                </a:rPr>
                <a:t>STRATEGIC LOCATION EXPANSION</a:t>
              </a:r>
              <a:endParaRPr b="1" i="0" sz="850">
                <a:solidFill>
                  <a:srgbClr val="2C1E16"/>
                </a:solidFill>
                <a:latin typeface="Playfair Display"/>
                <a:ea typeface="Playfair Display"/>
                <a:cs typeface="Playfair Display"/>
                <a:sym typeface="Playfair Display"/>
              </a:endParaRPr>
            </a:p>
            <a:p>
              <a:pPr indent="0" lvl="0" marL="0" rtl="0" algn="l">
                <a:spcBef>
                  <a:spcPts val="1000"/>
                </a:spcBef>
                <a:spcAft>
                  <a:spcPts val="0"/>
                </a:spcAft>
                <a:buNone/>
              </a:pPr>
              <a:r>
                <a:rPr b="0" i="0" lang="en" sz="1000">
                  <a:solidFill>
                    <a:srgbClr val="2C1E16"/>
                  </a:solidFill>
                  <a:latin typeface="Lato"/>
                  <a:ea typeface="Lato"/>
                  <a:cs typeface="Lato"/>
                  <a:sym typeface="Lato"/>
                </a:rPr>
                <a:t>Expand business operations by opening 1 to 2 new store locations in high-traffic commuter areas to replicate our proven weekday revenue engine.</a:t>
              </a:r>
              <a:endParaRPr b="1" i="0" sz="1000">
                <a:solidFill>
                  <a:srgbClr val="2C1E16"/>
                </a:solidFill>
                <a:latin typeface="Playfair Display"/>
                <a:ea typeface="Playfair Display"/>
                <a:cs typeface="Playfair Display"/>
                <a:sym typeface="Playfair Display"/>
              </a:endParaRPr>
            </a:p>
          </p:txBody>
        </p:sp>
      </p:grpSp>
      <p:grpSp>
        <p:nvGrpSpPr>
          <p:cNvPr id="436" name="Google Shape;436;p23"/>
          <p:cNvGrpSpPr/>
          <p:nvPr/>
        </p:nvGrpSpPr>
        <p:grpSpPr>
          <a:xfrm>
            <a:off x="6105525" y="1466850"/>
            <a:ext cx="2571900" cy="2952900"/>
            <a:chOff x="-9525" y="-9525"/>
            <a:chExt cx="2571900" cy="2952900"/>
          </a:xfrm>
        </p:grpSpPr>
        <p:pic>
          <p:nvPicPr>
            <p:cNvPr id="437" name="Google Shape;437;p23"/>
            <p:cNvPicPr preferRelativeResize="0"/>
            <p:nvPr/>
          </p:nvPicPr>
          <p:blipFill rotWithShape="1">
            <a:blip r:embed="rId6">
              <a:alphaModFix/>
            </a:blip>
            <a:srcRect b="0" l="0" r="0" t="0"/>
            <a:stretch/>
          </p:blipFill>
          <p:spPr>
            <a:xfrm>
              <a:off x="-9525" y="-9525"/>
              <a:ext cx="2571900" cy="2952900"/>
            </a:xfrm>
            <a:prstGeom prst="rect">
              <a:avLst/>
            </a:prstGeom>
            <a:noFill/>
            <a:ln>
              <a:noFill/>
            </a:ln>
          </p:spPr>
        </p:pic>
        <p:sp>
          <p:nvSpPr>
            <p:cNvPr id="438" name="Google Shape;438;p23"/>
            <p:cNvSpPr/>
            <p:nvPr/>
          </p:nvSpPr>
          <p:spPr>
            <a:xfrm>
              <a:off x="0" y="0"/>
              <a:ext cx="2552700" cy="57300"/>
            </a:xfrm>
            <a:prstGeom prst="roundRect">
              <a:avLst>
                <a:gd fmla="val 50000" name="adj"/>
              </a:avLst>
            </a:pr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9" name="Google Shape;439;p23"/>
            <p:cNvSpPr/>
            <p:nvPr/>
          </p:nvSpPr>
          <p:spPr>
            <a:xfrm>
              <a:off x="171450" y="171450"/>
              <a:ext cx="1485900" cy="228600"/>
            </a:xfrm>
            <a:prstGeom prst="roundRect">
              <a:avLst>
                <a:gd fmla="val 50000" name="adj"/>
              </a:avLst>
            </a:pr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23"/>
            <p:cNvSpPr txBox="1"/>
            <p:nvPr/>
          </p:nvSpPr>
          <p:spPr>
            <a:xfrm>
              <a:off x="171450" y="171450"/>
              <a:ext cx="14859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FFFFFF"/>
                  </a:solidFill>
                  <a:latin typeface="Lato"/>
                  <a:ea typeface="Lato"/>
                  <a:cs typeface="Lato"/>
                  <a:sym typeface="Lato"/>
                </a:rPr>
                <a:t>SOLUTION 03 • DAYPART</a:t>
              </a:r>
              <a:endParaRPr b="1" sz="800">
                <a:solidFill>
                  <a:srgbClr val="FFFFFF"/>
                </a:solidFill>
                <a:latin typeface="Lato"/>
                <a:ea typeface="Lato"/>
                <a:cs typeface="Lato"/>
                <a:sym typeface="Lato"/>
              </a:endParaRPr>
            </a:p>
          </p:txBody>
        </p:sp>
        <p:sp>
          <p:nvSpPr>
            <p:cNvPr id="441" name="Google Shape;441;p23"/>
            <p:cNvSpPr txBox="1"/>
            <p:nvPr/>
          </p:nvSpPr>
          <p:spPr>
            <a:xfrm>
              <a:off x="171450" y="514350"/>
              <a:ext cx="2209800" cy="2247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300">
                  <a:solidFill>
                    <a:srgbClr val="2C1E16"/>
                  </a:solidFill>
                  <a:latin typeface="Playfair Display"/>
                  <a:ea typeface="Playfair Display"/>
                  <a:cs typeface="Playfair Display"/>
                  <a:sym typeface="Playfair Display"/>
                </a:rPr>
                <a:t>Evening &amp; Menu Optimization</a:t>
              </a:r>
              <a:endParaRPr b="1" i="0" sz="1300">
                <a:solidFill>
                  <a:srgbClr val="2C1E16"/>
                </a:solidFill>
                <a:latin typeface="Playfair Display"/>
                <a:ea typeface="Playfair Display"/>
                <a:cs typeface="Playfair Display"/>
                <a:sym typeface="Playfair Display"/>
              </a:endParaRPr>
            </a:p>
            <a:p>
              <a:pPr indent="0" lvl="0" marL="0" rtl="0" algn="l">
                <a:spcBef>
                  <a:spcPts val="1000"/>
                </a:spcBef>
                <a:spcAft>
                  <a:spcPts val="0"/>
                </a:spcAft>
                <a:buNone/>
              </a:pPr>
              <a:r>
                <a:rPr b="1" i="0" lang="en" sz="2200">
                  <a:solidFill>
                    <a:srgbClr val="2C1E16"/>
                  </a:solidFill>
                  <a:latin typeface="Playfair Display"/>
                  <a:ea typeface="Playfair Display"/>
                  <a:cs typeface="Playfair Display"/>
                  <a:sym typeface="Playfair Display"/>
                </a:rPr>
                <a:t>Evening Boost</a:t>
              </a:r>
              <a:endParaRPr b="1" i="0" sz="1300">
                <a:solidFill>
                  <a:srgbClr val="2C1E16"/>
                </a:solidFill>
                <a:latin typeface="Playfair Display"/>
                <a:ea typeface="Playfair Display"/>
                <a:cs typeface="Playfair Display"/>
                <a:sym typeface="Playfair Display"/>
              </a:endParaRPr>
            </a:p>
            <a:p>
              <a:pPr indent="0" lvl="0" marL="0" rtl="0" algn="l">
                <a:spcBef>
                  <a:spcPts val="200"/>
                </a:spcBef>
                <a:spcAft>
                  <a:spcPts val="0"/>
                </a:spcAft>
                <a:buNone/>
              </a:pPr>
              <a:r>
                <a:rPr b="1" i="0" lang="en" sz="850">
                  <a:solidFill>
                    <a:srgbClr val="5A4634"/>
                  </a:solidFill>
                  <a:latin typeface="Lato"/>
                  <a:ea typeface="Lato"/>
                  <a:cs typeface="Lato"/>
                  <a:sym typeface="Lato"/>
                </a:rPr>
                <a:t>MENU RATIONALIZATION</a:t>
              </a:r>
              <a:endParaRPr b="1" i="0" sz="850">
                <a:solidFill>
                  <a:srgbClr val="2C1E16"/>
                </a:solidFill>
                <a:latin typeface="Playfair Display"/>
                <a:ea typeface="Playfair Display"/>
                <a:cs typeface="Playfair Display"/>
                <a:sym typeface="Playfair Display"/>
              </a:endParaRPr>
            </a:p>
            <a:p>
              <a:pPr indent="0" lvl="0" marL="0" rtl="0" algn="l">
                <a:spcBef>
                  <a:spcPts val="1000"/>
                </a:spcBef>
                <a:spcAft>
                  <a:spcPts val="0"/>
                </a:spcAft>
                <a:buNone/>
              </a:pPr>
              <a:r>
                <a:rPr b="0" i="0" lang="en" sz="1000">
                  <a:solidFill>
                    <a:srgbClr val="2C1E16"/>
                  </a:solidFill>
                  <a:latin typeface="Lato"/>
                  <a:ea typeface="Lato"/>
                  <a:cs typeface="Lato"/>
                  <a:sym typeface="Lato"/>
                </a:rPr>
                <a:t>Launch evening-specific promotions and replace low-performing menu categories to maximize store capacity and raise overall profitability.</a:t>
              </a:r>
              <a:endParaRPr b="1" i="0" sz="1000">
                <a:solidFill>
                  <a:srgbClr val="2C1E16"/>
                </a:solidFill>
                <a:latin typeface="Playfair Display"/>
                <a:ea typeface="Playfair Display"/>
                <a:cs typeface="Playfair Display"/>
                <a:sym typeface="Playfair Display"/>
              </a:endParaRPr>
            </a:p>
          </p:txBody>
        </p:sp>
      </p:grpSp>
      <p:grpSp>
        <p:nvGrpSpPr>
          <p:cNvPr id="442" name="Google Shape;442;p23"/>
          <p:cNvGrpSpPr/>
          <p:nvPr/>
        </p:nvGrpSpPr>
        <p:grpSpPr>
          <a:xfrm>
            <a:off x="8447723" y="4422810"/>
            <a:ext cx="400155" cy="277830"/>
            <a:chOff x="95250" y="-63450"/>
            <a:chExt cx="571650" cy="396900"/>
          </a:xfrm>
        </p:grpSpPr>
        <p:sp>
          <p:nvSpPr>
            <p:cNvPr id="443" name="Google Shape;443;p23"/>
            <p:cNvSpPr/>
            <p:nvPr/>
          </p:nvSpPr>
          <p:spPr>
            <a:xfrm>
              <a:off x="95250" y="95250"/>
              <a:ext cx="476400" cy="238200"/>
            </a:xfrm>
            <a:custGeom>
              <a:rect b="b" l="l" r="r" t="t"/>
              <a:pathLst>
                <a:path extrusionOk="0" h="120000" w="120000">
                  <a:moveTo>
                    <a:pt x="0" y="0"/>
                  </a:moveTo>
                  <a:cubicBezTo>
                    <a:pt x="0" y="72002"/>
                    <a:pt x="23999" y="120000"/>
                    <a:pt x="60000" y="120000"/>
                  </a:cubicBezTo>
                  <a:cubicBezTo>
                    <a:pt x="96001" y="120000"/>
                    <a:pt x="120000" y="72002"/>
                    <a:pt x="120000" y="0"/>
                  </a:cubicBezTo>
                  <a:lnTo>
                    <a:pt x="0" y="0"/>
                  </a:lnTo>
                  <a:close/>
                </a:path>
              </a:pathLst>
            </a:cu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23"/>
            <p:cNvSpPr/>
            <p:nvPr/>
          </p:nvSpPr>
          <p:spPr>
            <a:xfrm>
              <a:off x="571500" y="142875"/>
              <a:ext cx="95400" cy="162000"/>
            </a:xfrm>
            <a:custGeom>
              <a:rect b="b" l="l" r="r" t="t"/>
              <a:pathLst>
                <a:path extrusionOk="0" h="120000" w="120000">
                  <a:moveTo>
                    <a:pt x="0" y="0"/>
                  </a:moveTo>
                  <a:cubicBezTo>
                    <a:pt x="96007" y="0"/>
                    <a:pt x="120000" y="35296"/>
                    <a:pt x="120000" y="70592"/>
                  </a:cubicBezTo>
                  <a:cubicBezTo>
                    <a:pt x="120000" y="105889"/>
                    <a:pt x="60000" y="120000"/>
                    <a:pt x="0" y="120000"/>
                  </a:cubicBezTo>
                </a:path>
              </a:pathLst>
            </a:custGeom>
            <a:solidFill>
              <a:srgbClr val="000000"/>
            </a:solidFill>
            <a:ln cap="flat" cmpd="sng" w="38100">
              <a:solidFill>
                <a:srgbClr val="2C1E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5" name="Google Shape;445;p23"/>
            <p:cNvSpPr/>
            <p:nvPr/>
          </p:nvSpPr>
          <p:spPr>
            <a:xfrm>
              <a:off x="295275" y="152400"/>
              <a:ext cx="76200" cy="76200"/>
            </a:xfrm>
            <a:prstGeom prst="ellipse">
              <a:avLst/>
            </a:prstGeom>
            <a:solidFill>
              <a:srgbClr val="F9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6" name="Google Shape;446;p23"/>
            <p:cNvSpPr/>
            <p:nvPr/>
          </p:nvSpPr>
          <p:spPr>
            <a:xfrm>
              <a:off x="238125" y="-63450"/>
              <a:ext cx="190500" cy="63600"/>
            </a:xfrm>
            <a:custGeom>
              <a:rect b="b" l="l" r="r" t="t"/>
              <a:pathLst>
                <a:path extrusionOk="0" h="120000" w="120000">
                  <a:moveTo>
                    <a:pt x="0" y="120000"/>
                  </a:moveTo>
                  <a:cubicBezTo>
                    <a:pt x="20000" y="0"/>
                    <a:pt x="40000" y="0"/>
                    <a:pt x="60000" y="120000"/>
                  </a:cubicBezTo>
                  <a:lnTo>
                    <a:pt x="120000" y="120000"/>
                  </a:lnTo>
                </a:path>
              </a:pathLst>
            </a:custGeom>
            <a:solidFill>
              <a:srgbClr val="000000"/>
            </a:solidFill>
            <a:ln cap="flat" cmpd="sng" w="28575">
              <a:solidFill>
                <a:srgbClr val="D4A37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0" name="Shape 450"/>
        <p:cNvGrpSpPr/>
        <p:nvPr/>
      </p:nvGrpSpPr>
      <p:grpSpPr>
        <a:xfrm>
          <a:off x="0" y="0"/>
          <a:ext cx="0" cy="0"/>
          <a:chOff x="0" y="0"/>
          <a:chExt cx="0" cy="0"/>
        </a:xfrm>
      </p:grpSpPr>
      <p:grpSp>
        <p:nvGrpSpPr>
          <p:cNvPr id="451" name="Google Shape;451;p24"/>
          <p:cNvGrpSpPr/>
          <p:nvPr/>
        </p:nvGrpSpPr>
        <p:grpSpPr>
          <a:xfrm>
            <a:off x="476250" y="266700"/>
            <a:ext cx="8191500" cy="419100"/>
            <a:chOff x="0" y="0"/>
            <a:chExt cx="8191500" cy="419100"/>
          </a:xfrm>
        </p:grpSpPr>
        <p:sp>
          <p:nvSpPr>
            <p:cNvPr id="452" name="Google Shape;452;p24"/>
            <p:cNvSpPr txBox="1"/>
            <p:nvPr/>
          </p:nvSpPr>
          <p:spPr>
            <a:xfrm>
              <a:off x="0" y="0"/>
              <a:ext cx="8191500" cy="40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2C1E16"/>
                  </a:solidFill>
                  <a:latin typeface="Playfair Display"/>
                  <a:ea typeface="Playfair Display"/>
                  <a:cs typeface="Playfair Display"/>
                  <a:sym typeface="Playfair Display"/>
                </a:rPr>
                <a:t>Conclusion &amp; Strategic Outlook</a:t>
              </a:r>
              <a:endParaRPr b="1" sz="2400">
                <a:solidFill>
                  <a:srgbClr val="2C1E16"/>
                </a:solidFill>
                <a:latin typeface="Playfair Display"/>
                <a:ea typeface="Playfair Display"/>
                <a:cs typeface="Playfair Display"/>
                <a:sym typeface="Playfair Display"/>
              </a:endParaRPr>
            </a:p>
          </p:txBody>
        </p:sp>
        <p:cxnSp>
          <p:nvCxnSpPr>
            <p:cNvPr id="453" name="Google Shape;453;p24"/>
            <p:cNvCxnSpPr/>
            <p:nvPr/>
          </p:nvCxnSpPr>
          <p:spPr>
            <a:xfrm>
              <a:off x="0" y="419100"/>
              <a:ext cx="8191500" cy="0"/>
            </a:xfrm>
            <a:prstGeom prst="straightConnector1">
              <a:avLst/>
            </a:prstGeom>
            <a:solidFill>
              <a:srgbClr val="FFFFFF"/>
            </a:solidFill>
            <a:ln cap="rnd" cmpd="sng" w="19050">
              <a:solidFill>
                <a:srgbClr val="D4A373"/>
              </a:solidFill>
              <a:prstDash val="solid"/>
              <a:round/>
              <a:headEnd len="sm" w="sm" type="none"/>
              <a:tailEnd len="sm" w="sm" type="none"/>
            </a:ln>
          </p:spPr>
        </p:cxnSp>
      </p:grpSp>
      <p:grpSp>
        <p:nvGrpSpPr>
          <p:cNvPr id="454" name="Google Shape;454;p24"/>
          <p:cNvGrpSpPr/>
          <p:nvPr/>
        </p:nvGrpSpPr>
        <p:grpSpPr>
          <a:xfrm>
            <a:off x="476250" y="800100"/>
            <a:ext cx="8191500" cy="476400"/>
            <a:chOff x="0" y="0"/>
            <a:chExt cx="8191500" cy="476400"/>
          </a:xfrm>
        </p:grpSpPr>
        <p:sp>
          <p:nvSpPr>
            <p:cNvPr id="455" name="Google Shape;455;p24"/>
            <p:cNvSpPr/>
            <p:nvPr/>
          </p:nvSpPr>
          <p:spPr>
            <a:xfrm>
              <a:off x="0" y="0"/>
              <a:ext cx="8191500" cy="476400"/>
            </a:xfrm>
            <a:prstGeom prst="roundRect">
              <a:avLst>
                <a:gd fmla="val 16000" name="adj"/>
              </a:avLst>
            </a:prstGeom>
            <a:solidFill>
              <a:srgbClr val="EADDCD">
                <a:alpha val="4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6" name="Google Shape;456;p24"/>
            <p:cNvSpPr/>
            <p:nvPr/>
          </p:nvSpPr>
          <p:spPr>
            <a:xfrm>
              <a:off x="0" y="0"/>
              <a:ext cx="47700" cy="476400"/>
            </a:xfrm>
            <a:prstGeom prst="roundRect">
              <a:avLst>
                <a:gd fmla="val 40000" name="adj"/>
              </a:avLst>
            </a:prstGeom>
            <a:solidFill>
              <a:srgbClr val="C05A3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p24"/>
            <p:cNvSpPr txBox="1"/>
            <p:nvPr/>
          </p:nvSpPr>
          <p:spPr>
            <a:xfrm>
              <a:off x="190500" y="0"/>
              <a:ext cx="78105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2C1E16"/>
                  </a:solidFill>
                  <a:latin typeface="Lato"/>
                  <a:ea typeface="Lato"/>
                  <a:cs typeface="Lato"/>
                  <a:sym typeface="Lato"/>
                </a:rPr>
                <a:t>By addressing operational vulnerabilities, rationalizing menu offerings, and expanding into high-traffic dayparts and locations, Bright Coffee Shop is positioned to accelerate growth beyond the $698,812 baseline.</a:t>
              </a:r>
              <a:endParaRPr b="0" sz="1050">
                <a:solidFill>
                  <a:srgbClr val="2C1E16"/>
                </a:solidFill>
                <a:latin typeface="Lato"/>
                <a:ea typeface="Lato"/>
                <a:cs typeface="Lato"/>
                <a:sym typeface="Lato"/>
              </a:endParaRPr>
            </a:p>
          </p:txBody>
        </p:sp>
      </p:grpSp>
      <p:grpSp>
        <p:nvGrpSpPr>
          <p:cNvPr id="458" name="Google Shape;458;p24"/>
          <p:cNvGrpSpPr/>
          <p:nvPr/>
        </p:nvGrpSpPr>
        <p:grpSpPr>
          <a:xfrm>
            <a:off x="476250" y="1428750"/>
            <a:ext cx="2571900" cy="3000300"/>
            <a:chOff x="0" y="0"/>
            <a:chExt cx="2571900" cy="3000300"/>
          </a:xfrm>
        </p:grpSpPr>
        <p:sp>
          <p:nvSpPr>
            <p:cNvPr id="459" name="Google Shape;459;p24"/>
            <p:cNvSpPr/>
            <p:nvPr/>
          </p:nvSpPr>
          <p:spPr>
            <a:xfrm>
              <a:off x="0" y="0"/>
              <a:ext cx="2571900" cy="3000300"/>
            </a:xfrm>
            <a:prstGeom prst="roundRect">
              <a:avLst>
                <a:gd fmla="val 4444" name="adj"/>
              </a:avLst>
            </a:prstGeom>
            <a:solidFill>
              <a:srgbClr val="FFFFFF"/>
            </a:solidFill>
            <a:ln cap="flat" cmpd="sng" w="14300">
              <a:solidFill>
                <a:srgbClr val="E3D7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0" name="Google Shape;460;p24"/>
            <p:cNvSpPr/>
            <p:nvPr/>
          </p:nvSpPr>
          <p:spPr>
            <a:xfrm>
              <a:off x="0" y="0"/>
              <a:ext cx="2571900" cy="114300"/>
            </a:xfrm>
            <a:custGeom>
              <a:rect b="b" l="l" r="r" t="t"/>
              <a:pathLst>
                <a:path extrusionOk="0" h="120000" w="120000">
                  <a:moveTo>
                    <a:pt x="0" y="120000"/>
                  </a:moveTo>
                  <a:cubicBezTo>
                    <a:pt x="0" y="53726"/>
                    <a:pt x="2388" y="0"/>
                    <a:pt x="5333" y="0"/>
                  </a:cubicBezTo>
                  <a:lnTo>
                    <a:pt x="114667" y="0"/>
                  </a:lnTo>
                  <a:cubicBezTo>
                    <a:pt x="117612" y="4"/>
                    <a:pt x="120000" y="53729"/>
                    <a:pt x="120000" y="120000"/>
                  </a:cubicBezTo>
                  <a:lnTo>
                    <a:pt x="120000" y="80000"/>
                  </a:lnTo>
                  <a:lnTo>
                    <a:pt x="0" y="80000"/>
                  </a:lnTo>
                  <a:close/>
                </a:path>
              </a:pathLst>
            </a:custGeom>
            <a:solidFill>
              <a:srgbClr val="C05A3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1" name="Google Shape;461;p24"/>
            <p:cNvSpPr/>
            <p:nvPr/>
          </p:nvSpPr>
          <p:spPr>
            <a:xfrm>
              <a:off x="171450" y="190500"/>
              <a:ext cx="1428900" cy="228600"/>
            </a:xfrm>
            <a:prstGeom prst="roundRect">
              <a:avLst>
                <a:gd fmla="val 50000" name="adj"/>
              </a:avLst>
            </a:prstGeom>
            <a:solidFill>
              <a:srgbClr val="FDF2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2" name="Google Shape;462;p24"/>
            <p:cNvSpPr txBox="1"/>
            <p:nvPr/>
          </p:nvSpPr>
          <p:spPr>
            <a:xfrm>
              <a:off x="171450" y="190500"/>
              <a:ext cx="14289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C05A3E"/>
                  </a:solidFill>
                  <a:latin typeface="Lato"/>
                  <a:ea typeface="Lato"/>
                  <a:cs typeface="Lato"/>
                  <a:sym typeface="Lato"/>
                </a:rPr>
                <a:t>PILLAR 01 • PRODUCT MIX</a:t>
              </a:r>
              <a:endParaRPr b="1" sz="800">
                <a:solidFill>
                  <a:srgbClr val="C05A3E"/>
                </a:solidFill>
                <a:latin typeface="Lato"/>
                <a:ea typeface="Lato"/>
                <a:cs typeface="Lato"/>
                <a:sym typeface="Lato"/>
              </a:endParaRPr>
            </a:p>
          </p:txBody>
        </p:sp>
        <p:sp>
          <p:nvSpPr>
            <p:cNvPr id="463" name="Google Shape;463;p24"/>
            <p:cNvSpPr txBox="1"/>
            <p:nvPr/>
          </p:nvSpPr>
          <p:spPr>
            <a:xfrm>
              <a:off x="171450" y="495300"/>
              <a:ext cx="2229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500">
                  <a:solidFill>
                    <a:srgbClr val="2C1E16"/>
                  </a:solidFill>
                  <a:latin typeface="Playfair Display"/>
                  <a:ea typeface="Playfair Display"/>
                  <a:cs typeface="Playfair Display"/>
                  <a:sym typeface="Playfair Display"/>
                </a:rPr>
                <a:t>Menu Optimization</a:t>
              </a:r>
              <a:endParaRPr b="1" sz="1500">
                <a:solidFill>
                  <a:srgbClr val="2C1E16"/>
                </a:solidFill>
                <a:latin typeface="Playfair Display"/>
                <a:ea typeface="Playfair Display"/>
                <a:cs typeface="Playfair Display"/>
                <a:sym typeface="Playfair Display"/>
              </a:endParaRPr>
            </a:p>
          </p:txBody>
        </p:sp>
        <p:sp>
          <p:nvSpPr>
            <p:cNvPr id="464" name="Google Shape;464;p24"/>
            <p:cNvSpPr/>
            <p:nvPr/>
          </p:nvSpPr>
          <p:spPr>
            <a:xfrm>
              <a:off x="171450" y="838200"/>
              <a:ext cx="2229000" cy="533400"/>
            </a:xfrm>
            <a:prstGeom prst="roundRect">
              <a:avLst>
                <a:gd fmla="val 14285" name="adj"/>
              </a:avLst>
            </a:prstGeom>
            <a:solidFill>
              <a:srgbClr val="FDF2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5" name="Google Shape;465;p24"/>
            <p:cNvSpPr txBox="1"/>
            <p:nvPr/>
          </p:nvSpPr>
          <p:spPr>
            <a:xfrm>
              <a:off x="247650" y="838200"/>
              <a:ext cx="20766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700">
                  <a:solidFill>
                    <a:srgbClr val="C05A3E"/>
                  </a:solidFill>
                  <a:latin typeface="Playfair Display"/>
                  <a:ea typeface="Playfair Display"/>
                  <a:cs typeface="Playfair Display"/>
                  <a:sym typeface="Playfair Display"/>
                </a:rPr>
                <a:t>High-Margin Focus</a:t>
              </a:r>
              <a:endParaRPr b="1" sz="1700">
                <a:solidFill>
                  <a:srgbClr val="C05A3E"/>
                </a:solidFill>
                <a:latin typeface="Playfair Display"/>
                <a:ea typeface="Playfair Display"/>
                <a:cs typeface="Playfair Display"/>
                <a:sym typeface="Playfair Display"/>
              </a:endParaRPr>
            </a:p>
          </p:txBody>
        </p:sp>
        <p:sp>
          <p:nvSpPr>
            <p:cNvPr id="466" name="Google Shape;466;p24"/>
            <p:cNvSpPr txBox="1"/>
            <p:nvPr/>
          </p:nvSpPr>
          <p:spPr>
            <a:xfrm>
              <a:off x="171450" y="1466850"/>
              <a:ext cx="22290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5A4634"/>
                  </a:solidFill>
                  <a:latin typeface="Lato"/>
                  <a:ea typeface="Lato"/>
                  <a:cs typeface="Lato"/>
                  <a:sym typeface="Lato"/>
                </a:rPr>
                <a:t>Streamline SKUs &amp; Iced Offerings</a:t>
              </a:r>
              <a:endParaRPr b="1" sz="950">
                <a:solidFill>
                  <a:srgbClr val="5A4634"/>
                </a:solidFill>
                <a:latin typeface="Lato"/>
                <a:ea typeface="Lato"/>
                <a:cs typeface="Lato"/>
                <a:sym typeface="Lato"/>
              </a:endParaRPr>
            </a:p>
          </p:txBody>
        </p:sp>
        <p:cxnSp>
          <p:nvCxnSpPr>
            <p:cNvPr id="467" name="Google Shape;467;p24"/>
            <p:cNvCxnSpPr/>
            <p:nvPr/>
          </p:nvCxnSpPr>
          <p:spPr>
            <a:xfrm>
              <a:off x="171450" y="1752600"/>
              <a:ext cx="2229000" cy="0"/>
            </a:xfrm>
            <a:prstGeom prst="straightConnector1">
              <a:avLst/>
            </a:prstGeom>
            <a:solidFill>
              <a:srgbClr val="FFFFFF"/>
            </a:solidFill>
            <a:ln cap="flat" cmpd="sng" w="9525">
              <a:solidFill>
                <a:srgbClr val="F0E6DD"/>
              </a:solidFill>
              <a:prstDash val="solid"/>
              <a:round/>
              <a:headEnd len="sm" w="sm" type="none"/>
              <a:tailEnd len="sm" w="sm" type="none"/>
            </a:ln>
          </p:spPr>
        </p:cxnSp>
        <p:sp>
          <p:nvSpPr>
            <p:cNvPr id="468" name="Google Shape;468;p24"/>
            <p:cNvSpPr txBox="1"/>
            <p:nvPr/>
          </p:nvSpPr>
          <p:spPr>
            <a:xfrm>
              <a:off x="171450" y="1847850"/>
              <a:ext cx="2229000" cy="1009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2C1E16"/>
                  </a:solidFill>
                  <a:latin typeface="Lato"/>
                  <a:ea typeface="Lato"/>
                  <a:cs typeface="Lato"/>
                  <a:sym typeface="Lato"/>
                </a:rPr>
                <a:t>Eliminate low-performing items like Green Beans ($1,340) and introduce seasonal cold beverages and frozen treats to capture summer demand.</a:t>
              </a:r>
              <a:endParaRPr b="0" sz="1000">
                <a:solidFill>
                  <a:srgbClr val="2C1E16"/>
                </a:solidFill>
                <a:latin typeface="Lato"/>
                <a:ea typeface="Lato"/>
                <a:cs typeface="Lato"/>
                <a:sym typeface="Lato"/>
              </a:endParaRPr>
            </a:p>
          </p:txBody>
        </p:sp>
      </p:grpSp>
      <p:grpSp>
        <p:nvGrpSpPr>
          <p:cNvPr id="469" name="Google Shape;469;p24"/>
          <p:cNvGrpSpPr/>
          <p:nvPr/>
        </p:nvGrpSpPr>
        <p:grpSpPr>
          <a:xfrm>
            <a:off x="3286125" y="1428750"/>
            <a:ext cx="2571900" cy="3000300"/>
            <a:chOff x="0" y="0"/>
            <a:chExt cx="2571900" cy="3000300"/>
          </a:xfrm>
        </p:grpSpPr>
        <p:sp>
          <p:nvSpPr>
            <p:cNvPr id="470" name="Google Shape;470;p24"/>
            <p:cNvSpPr/>
            <p:nvPr/>
          </p:nvSpPr>
          <p:spPr>
            <a:xfrm>
              <a:off x="0" y="0"/>
              <a:ext cx="2571900" cy="3000300"/>
            </a:xfrm>
            <a:prstGeom prst="roundRect">
              <a:avLst>
                <a:gd fmla="val 4444" name="adj"/>
              </a:avLst>
            </a:prstGeom>
            <a:solidFill>
              <a:srgbClr val="FFFFFF"/>
            </a:solidFill>
            <a:ln cap="flat" cmpd="sng" w="14300">
              <a:solidFill>
                <a:srgbClr val="E3D7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24"/>
            <p:cNvSpPr/>
            <p:nvPr/>
          </p:nvSpPr>
          <p:spPr>
            <a:xfrm>
              <a:off x="0" y="0"/>
              <a:ext cx="2571900" cy="114300"/>
            </a:xfrm>
            <a:custGeom>
              <a:rect b="b" l="l" r="r" t="t"/>
              <a:pathLst>
                <a:path extrusionOk="0" h="120000" w="120000">
                  <a:moveTo>
                    <a:pt x="0" y="120000"/>
                  </a:moveTo>
                  <a:cubicBezTo>
                    <a:pt x="0" y="53726"/>
                    <a:pt x="2388" y="0"/>
                    <a:pt x="5333" y="0"/>
                  </a:cubicBezTo>
                  <a:lnTo>
                    <a:pt x="114667" y="0"/>
                  </a:lnTo>
                  <a:cubicBezTo>
                    <a:pt x="117612" y="4"/>
                    <a:pt x="120000" y="53729"/>
                    <a:pt x="120000" y="120000"/>
                  </a:cubicBezTo>
                  <a:lnTo>
                    <a:pt x="120000" y="80000"/>
                  </a:lnTo>
                  <a:lnTo>
                    <a:pt x="0" y="80000"/>
                  </a:lnTo>
                  <a:close/>
                </a:path>
              </a:pathLst>
            </a:custGeom>
            <a:solidFill>
              <a:srgbClr val="D4A37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2" name="Google Shape;472;p24"/>
            <p:cNvSpPr/>
            <p:nvPr/>
          </p:nvSpPr>
          <p:spPr>
            <a:xfrm>
              <a:off x="171450" y="190500"/>
              <a:ext cx="1428900" cy="228600"/>
            </a:xfrm>
            <a:prstGeom prst="roundRect">
              <a:avLst>
                <a:gd fmla="val 50000" name="adj"/>
              </a:avLst>
            </a:prstGeom>
            <a:solidFill>
              <a:srgbClr val="F7F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3" name="Google Shape;473;p24"/>
            <p:cNvSpPr txBox="1"/>
            <p:nvPr/>
          </p:nvSpPr>
          <p:spPr>
            <a:xfrm>
              <a:off x="171450" y="190500"/>
              <a:ext cx="14289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5A4634"/>
                  </a:solidFill>
                  <a:latin typeface="Lato"/>
                  <a:ea typeface="Lato"/>
                  <a:cs typeface="Lato"/>
                  <a:sym typeface="Lato"/>
                </a:rPr>
                <a:t>PILLAR 02 • DAYPARTS</a:t>
              </a:r>
              <a:endParaRPr b="1" sz="800">
                <a:solidFill>
                  <a:srgbClr val="5A4634"/>
                </a:solidFill>
                <a:latin typeface="Lato"/>
                <a:ea typeface="Lato"/>
                <a:cs typeface="Lato"/>
                <a:sym typeface="Lato"/>
              </a:endParaRPr>
            </a:p>
          </p:txBody>
        </p:sp>
        <p:sp>
          <p:nvSpPr>
            <p:cNvPr id="474" name="Google Shape;474;p24"/>
            <p:cNvSpPr txBox="1"/>
            <p:nvPr/>
          </p:nvSpPr>
          <p:spPr>
            <a:xfrm>
              <a:off x="171450" y="495300"/>
              <a:ext cx="2229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500">
                  <a:solidFill>
                    <a:srgbClr val="2C1E16"/>
                  </a:solidFill>
                  <a:latin typeface="Playfair Display"/>
                  <a:ea typeface="Playfair Display"/>
                  <a:cs typeface="Playfair Display"/>
                  <a:sym typeface="Playfair Display"/>
                </a:rPr>
                <a:t>Evening Daypart Growth</a:t>
              </a:r>
              <a:endParaRPr b="1" sz="1500">
                <a:solidFill>
                  <a:srgbClr val="2C1E16"/>
                </a:solidFill>
                <a:latin typeface="Playfair Display"/>
                <a:ea typeface="Playfair Display"/>
                <a:cs typeface="Playfair Display"/>
                <a:sym typeface="Playfair Display"/>
              </a:endParaRPr>
            </a:p>
          </p:txBody>
        </p:sp>
        <p:sp>
          <p:nvSpPr>
            <p:cNvPr id="475" name="Google Shape;475;p24"/>
            <p:cNvSpPr/>
            <p:nvPr/>
          </p:nvSpPr>
          <p:spPr>
            <a:xfrm>
              <a:off x="171450" y="838200"/>
              <a:ext cx="2229000" cy="533400"/>
            </a:xfrm>
            <a:prstGeom prst="roundRect">
              <a:avLst>
                <a:gd fmla="val 14285" name="adj"/>
              </a:avLst>
            </a:prstGeom>
            <a:solidFill>
              <a:srgbClr val="F7F3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6" name="Google Shape;476;p24"/>
            <p:cNvSpPr txBox="1"/>
            <p:nvPr/>
          </p:nvSpPr>
          <p:spPr>
            <a:xfrm>
              <a:off x="247650" y="838200"/>
              <a:ext cx="20766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700">
                  <a:solidFill>
                    <a:srgbClr val="2C1E16"/>
                  </a:solidFill>
                  <a:latin typeface="Playfair Display"/>
                  <a:ea typeface="Playfair Display"/>
                  <a:cs typeface="Playfair Display"/>
                  <a:sym typeface="Playfair Display"/>
                </a:rPr>
                <a:t>+$65.7K Opportunity</a:t>
              </a:r>
              <a:endParaRPr b="1" sz="1700">
                <a:solidFill>
                  <a:srgbClr val="2C1E16"/>
                </a:solidFill>
                <a:latin typeface="Playfair Display"/>
                <a:ea typeface="Playfair Display"/>
                <a:cs typeface="Playfair Display"/>
                <a:sym typeface="Playfair Display"/>
              </a:endParaRPr>
            </a:p>
          </p:txBody>
        </p:sp>
        <p:sp>
          <p:nvSpPr>
            <p:cNvPr id="477" name="Google Shape;477;p24"/>
            <p:cNvSpPr txBox="1"/>
            <p:nvPr/>
          </p:nvSpPr>
          <p:spPr>
            <a:xfrm>
              <a:off x="171450" y="1466850"/>
              <a:ext cx="22290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5A4634"/>
                  </a:solidFill>
                  <a:latin typeface="Lato"/>
                  <a:ea typeface="Lato"/>
                  <a:cs typeface="Lato"/>
                  <a:sym typeface="Lato"/>
                </a:rPr>
                <a:t>Late-Day Activation</a:t>
              </a:r>
              <a:endParaRPr b="1" sz="950">
                <a:solidFill>
                  <a:srgbClr val="5A4634"/>
                </a:solidFill>
                <a:latin typeface="Lato"/>
                <a:ea typeface="Lato"/>
                <a:cs typeface="Lato"/>
                <a:sym typeface="Lato"/>
              </a:endParaRPr>
            </a:p>
          </p:txBody>
        </p:sp>
        <p:cxnSp>
          <p:nvCxnSpPr>
            <p:cNvPr id="478" name="Google Shape;478;p24"/>
            <p:cNvCxnSpPr/>
            <p:nvPr/>
          </p:nvCxnSpPr>
          <p:spPr>
            <a:xfrm>
              <a:off x="171450" y="1752600"/>
              <a:ext cx="2229000" cy="0"/>
            </a:xfrm>
            <a:prstGeom prst="straightConnector1">
              <a:avLst/>
            </a:prstGeom>
            <a:solidFill>
              <a:srgbClr val="FFFFFF"/>
            </a:solidFill>
            <a:ln cap="flat" cmpd="sng" w="9525">
              <a:solidFill>
                <a:srgbClr val="F0E6DD"/>
              </a:solidFill>
              <a:prstDash val="solid"/>
              <a:round/>
              <a:headEnd len="sm" w="sm" type="none"/>
              <a:tailEnd len="sm" w="sm" type="none"/>
            </a:ln>
          </p:spPr>
        </p:cxnSp>
        <p:sp>
          <p:nvSpPr>
            <p:cNvPr id="479" name="Google Shape;479;p24"/>
            <p:cNvSpPr txBox="1"/>
            <p:nvPr/>
          </p:nvSpPr>
          <p:spPr>
            <a:xfrm>
              <a:off x="171450" y="1847850"/>
              <a:ext cx="2229000" cy="1009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2C1E16"/>
                  </a:solidFill>
                  <a:latin typeface="Lato"/>
                  <a:ea typeface="Lato"/>
                  <a:cs typeface="Lato"/>
                  <a:sym typeface="Lato"/>
                </a:rPr>
                <a:t>Reactivate currently underutilized evening store hours with targeted promotions, combos, and tailored evening menu options.</a:t>
              </a:r>
              <a:endParaRPr b="0" sz="1000">
                <a:solidFill>
                  <a:srgbClr val="2C1E16"/>
                </a:solidFill>
                <a:latin typeface="Lato"/>
                <a:ea typeface="Lato"/>
                <a:cs typeface="Lato"/>
                <a:sym typeface="Lato"/>
              </a:endParaRPr>
            </a:p>
          </p:txBody>
        </p:sp>
      </p:grpSp>
      <p:grpSp>
        <p:nvGrpSpPr>
          <p:cNvPr id="480" name="Google Shape;480;p24"/>
          <p:cNvGrpSpPr/>
          <p:nvPr/>
        </p:nvGrpSpPr>
        <p:grpSpPr>
          <a:xfrm>
            <a:off x="6096000" y="1428750"/>
            <a:ext cx="2571900" cy="3000300"/>
            <a:chOff x="0" y="0"/>
            <a:chExt cx="2571900" cy="3000300"/>
          </a:xfrm>
        </p:grpSpPr>
        <p:sp>
          <p:nvSpPr>
            <p:cNvPr id="481" name="Google Shape;481;p24"/>
            <p:cNvSpPr/>
            <p:nvPr/>
          </p:nvSpPr>
          <p:spPr>
            <a:xfrm>
              <a:off x="0" y="0"/>
              <a:ext cx="2571900" cy="3000300"/>
            </a:xfrm>
            <a:prstGeom prst="roundRect">
              <a:avLst>
                <a:gd fmla="val 4444" name="adj"/>
              </a:avLst>
            </a:prstGeom>
            <a:solidFill>
              <a:srgbClr val="FFFFFF"/>
            </a:solidFill>
            <a:ln cap="flat" cmpd="sng" w="14300">
              <a:solidFill>
                <a:srgbClr val="E3D7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24"/>
            <p:cNvSpPr/>
            <p:nvPr/>
          </p:nvSpPr>
          <p:spPr>
            <a:xfrm>
              <a:off x="0" y="0"/>
              <a:ext cx="2571900" cy="114300"/>
            </a:xfrm>
            <a:custGeom>
              <a:rect b="b" l="l" r="r" t="t"/>
              <a:pathLst>
                <a:path extrusionOk="0" h="120000" w="120000">
                  <a:moveTo>
                    <a:pt x="0" y="120000"/>
                  </a:moveTo>
                  <a:cubicBezTo>
                    <a:pt x="0" y="53726"/>
                    <a:pt x="2388" y="0"/>
                    <a:pt x="5333" y="0"/>
                  </a:cubicBezTo>
                  <a:lnTo>
                    <a:pt x="114667" y="0"/>
                  </a:lnTo>
                  <a:cubicBezTo>
                    <a:pt x="117612" y="4"/>
                    <a:pt x="120000" y="53729"/>
                    <a:pt x="120000" y="120000"/>
                  </a:cubicBezTo>
                  <a:lnTo>
                    <a:pt x="120000" y="80000"/>
                  </a:lnTo>
                  <a:lnTo>
                    <a:pt x="0" y="80000"/>
                  </a:lnTo>
                  <a:close/>
                </a:path>
              </a:pathLst>
            </a:cu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3" name="Google Shape;483;p24"/>
            <p:cNvSpPr/>
            <p:nvPr/>
          </p:nvSpPr>
          <p:spPr>
            <a:xfrm>
              <a:off x="171450" y="190500"/>
              <a:ext cx="1428900" cy="228600"/>
            </a:xfrm>
            <a:prstGeom prst="roundRect">
              <a:avLst>
                <a:gd fmla="val 50000" name="adj"/>
              </a:avLst>
            </a:prstGeom>
            <a:solidFill>
              <a:srgbClr val="F2EFE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4" name="Google Shape;484;p24"/>
            <p:cNvSpPr txBox="1"/>
            <p:nvPr/>
          </p:nvSpPr>
          <p:spPr>
            <a:xfrm>
              <a:off x="171450" y="190500"/>
              <a:ext cx="14289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2C1E16"/>
                  </a:solidFill>
                  <a:latin typeface="Lato"/>
                  <a:ea typeface="Lato"/>
                  <a:cs typeface="Lato"/>
                  <a:sym typeface="Lato"/>
                </a:rPr>
                <a:t>PILLAR 03 • FOOTPRINT</a:t>
              </a:r>
              <a:endParaRPr b="1" sz="800">
                <a:solidFill>
                  <a:srgbClr val="2C1E16"/>
                </a:solidFill>
                <a:latin typeface="Lato"/>
                <a:ea typeface="Lato"/>
                <a:cs typeface="Lato"/>
                <a:sym typeface="Lato"/>
              </a:endParaRPr>
            </a:p>
          </p:txBody>
        </p:sp>
        <p:sp>
          <p:nvSpPr>
            <p:cNvPr id="485" name="Google Shape;485;p24"/>
            <p:cNvSpPr txBox="1"/>
            <p:nvPr/>
          </p:nvSpPr>
          <p:spPr>
            <a:xfrm>
              <a:off x="171450" y="495300"/>
              <a:ext cx="2229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500">
                  <a:solidFill>
                    <a:srgbClr val="2C1E16"/>
                  </a:solidFill>
                  <a:latin typeface="Playfair Display"/>
                  <a:ea typeface="Playfair Display"/>
                  <a:cs typeface="Playfair Display"/>
                  <a:sym typeface="Playfair Display"/>
                </a:rPr>
                <a:t>Network Expansion</a:t>
              </a:r>
              <a:endParaRPr b="1" sz="1500">
                <a:solidFill>
                  <a:srgbClr val="2C1E16"/>
                </a:solidFill>
                <a:latin typeface="Playfair Display"/>
                <a:ea typeface="Playfair Display"/>
                <a:cs typeface="Playfair Display"/>
                <a:sym typeface="Playfair Display"/>
              </a:endParaRPr>
            </a:p>
          </p:txBody>
        </p:sp>
        <p:sp>
          <p:nvSpPr>
            <p:cNvPr id="486" name="Google Shape;486;p24"/>
            <p:cNvSpPr/>
            <p:nvPr/>
          </p:nvSpPr>
          <p:spPr>
            <a:xfrm>
              <a:off x="171450" y="838200"/>
              <a:ext cx="2229000" cy="533400"/>
            </a:xfrm>
            <a:prstGeom prst="roundRect">
              <a:avLst>
                <a:gd fmla="val 14285" name="adj"/>
              </a:avLst>
            </a:prstGeom>
            <a:solidFill>
              <a:srgbClr val="F2EFE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7" name="Google Shape;487;p24"/>
            <p:cNvSpPr txBox="1"/>
            <p:nvPr/>
          </p:nvSpPr>
          <p:spPr>
            <a:xfrm>
              <a:off x="247650" y="838200"/>
              <a:ext cx="20766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700">
                  <a:solidFill>
                    <a:srgbClr val="2C1E16"/>
                  </a:solidFill>
                  <a:latin typeface="Playfair Display"/>
                  <a:ea typeface="Playfair Display"/>
                  <a:cs typeface="Playfair Display"/>
                  <a:sym typeface="Playfair Display"/>
                </a:rPr>
                <a:t>Open 1–2 Stores</a:t>
              </a:r>
              <a:endParaRPr b="1" sz="1700">
                <a:solidFill>
                  <a:srgbClr val="2C1E16"/>
                </a:solidFill>
                <a:latin typeface="Playfair Display"/>
                <a:ea typeface="Playfair Display"/>
                <a:cs typeface="Playfair Display"/>
                <a:sym typeface="Playfair Display"/>
              </a:endParaRPr>
            </a:p>
          </p:txBody>
        </p:sp>
        <p:sp>
          <p:nvSpPr>
            <p:cNvPr id="488" name="Google Shape;488;p24"/>
            <p:cNvSpPr txBox="1"/>
            <p:nvPr/>
          </p:nvSpPr>
          <p:spPr>
            <a:xfrm>
              <a:off x="171450" y="1466850"/>
              <a:ext cx="22290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5A4634"/>
                  </a:solidFill>
                  <a:latin typeface="Lato"/>
                  <a:ea typeface="Lato"/>
                  <a:cs typeface="Lato"/>
                  <a:sym typeface="Lato"/>
                </a:rPr>
                <a:t>Commuter Transit Hubs</a:t>
              </a:r>
              <a:endParaRPr b="1" sz="950">
                <a:solidFill>
                  <a:srgbClr val="5A4634"/>
                </a:solidFill>
                <a:latin typeface="Lato"/>
                <a:ea typeface="Lato"/>
                <a:cs typeface="Lato"/>
                <a:sym typeface="Lato"/>
              </a:endParaRPr>
            </a:p>
          </p:txBody>
        </p:sp>
        <p:cxnSp>
          <p:nvCxnSpPr>
            <p:cNvPr id="489" name="Google Shape;489;p24"/>
            <p:cNvCxnSpPr/>
            <p:nvPr/>
          </p:nvCxnSpPr>
          <p:spPr>
            <a:xfrm>
              <a:off x="171450" y="1752600"/>
              <a:ext cx="2229000" cy="0"/>
            </a:xfrm>
            <a:prstGeom prst="straightConnector1">
              <a:avLst/>
            </a:prstGeom>
            <a:solidFill>
              <a:srgbClr val="FFFFFF"/>
            </a:solidFill>
            <a:ln cap="flat" cmpd="sng" w="9525">
              <a:solidFill>
                <a:srgbClr val="F0E6DD"/>
              </a:solidFill>
              <a:prstDash val="solid"/>
              <a:round/>
              <a:headEnd len="sm" w="sm" type="none"/>
              <a:tailEnd len="sm" w="sm" type="none"/>
            </a:ln>
          </p:spPr>
        </p:cxnSp>
        <p:sp>
          <p:nvSpPr>
            <p:cNvPr id="490" name="Google Shape;490;p24"/>
            <p:cNvSpPr txBox="1"/>
            <p:nvPr/>
          </p:nvSpPr>
          <p:spPr>
            <a:xfrm>
              <a:off x="171450" y="1847850"/>
              <a:ext cx="2229000" cy="1009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2C1E16"/>
                  </a:solidFill>
                  <a:latin typeface="Lato"/>
                  <a:ea typeface="Lato"/>
                  <a:cs typeface="Lato"/>
                  <a:sym typeface="Lato"/>
                </a:rPr>
                <a:t>Capitalize on proven $503,588 weekday commuter revenue by expanding store footprint in high-density transit corridors.</a:t>
              </a:r>
              <a:endParaRPr b="0" sz="1000">
                <a:solidFill>
                  <a:srgbClr val="2C1E16"/>
                </a:solidFill>
                <a:latin typeface="Lato"/>
                <a:ea typeface="Lato"/>
                <a:cs typeface="Lato"/>
                <a:sym typeface="Lato"/>
              </a:endParaRPr>
            </a:p>
          </p:txBody>
        </p:sp>
      </p:grpSp>
      <p:grpSp>
        <p:nvGrpSpPr>
          <p:cNvPr id="491" name="Google Shape;491;p24"/>
          <p:cNvGrpSpPr/>
          <p:nvPr/>
        </p:nvGrpSpPr>
        <p:grpSpPr>
          <a:xfrm>
            <a:off x="8429625" y="4527594"/>
            <a:ext cx="400155" cy="277821"/>
            <a:chOff x="95250" y="-63436"/>
            <a:chExt cx="571650" cy="396887"/>
          </a:xfrm>
        </p:grpSpPr>
        <p:sp>
          <p:nvSpPr>
            <p:cNvPr id="492" name="Google Shape;492;p24"/>
            <p:cNvSpPr/>
            <p:nvPr/>
          </p:nvSpPr>
          <p:spPr>
            <a:xfrm>
              <a:off x="95250" y="95250"/>
              <a:ext cx="476400" cy="238200"/>
            </a:xfrm>
            <a:custGeom>
              <a:rect b="b" l="l" r="r" t="t"/>
              <a:pathLst>
                <a:path extrusionOk="0" h="120000" w="120000">
                  <a:moveTo>
                    <a:pt x="0" y="0"/>
                  </a:moveTo>
                  <a:cubicBezTo>
                    <a:pt x="0" y="72002"/>
                    <a:pt x="23999" y="120000"/>
                    <a:pt x="60000" y="120000"/>
                  </a:cubicBezTo>
                  <a:cubicBezTo>
                    <a:pt x="96001" y="120000"/>
                    <a:pt x="120000" y="72002"/>
                    <a:pt x="120000" y="0"/>
                  </a:cubicBezTo>
                  <a:lnTo>
                    <a:pt x="0" y="0"/>
                  </a:lnTo>
                  <a:close/>
                </a:path>
              </a:pathLst>
            </a:custGeom>
            <a:solidFill>
              <a:srgbClr val="2C1E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3" name="Google Shape;493;p24"/>
            <p:cNvSpPr/>
            <p:nvPr/>
          </p:nvSpPr>
          <p:spPr>
            <a:xfrm>
              <a:off x="571500" y="142875"/>
              <a:ext cx="95400" cy="162000"/>
            </a:xfrm>
            <a:custGeom>
              <a:rect b="b" l="l" r="r" t="t"/>
              <a:pathLst>
                <a:path extrusionOk="0" h="120000" w="120000">
                  <a:moveTo>
                    <a:pt x="0" y="0"/>
                  </a:moveTo>
                  <a:cubicBezTo>
                    <a:pt x="96007" y="0"/>
                    <a:pt x="120000" y="35296"/>
                    <a:pt x="120000" y="70592"/>
                  </a:cubicBezTo>
                  <a:cubicBezTo>
                    <a:pt x="120000" y="105889"/>
                    <a:pt x="60000" y="120000"/>
                    <a:pt x="0" y="120000"/>
                  </a:cubicBezTo>
                </a:path>
              </a:pathLst>
            </a:custGeom>
            <a:solidFill>
              <a:srgbClr val="000000">
                <a:alpha val="0"/>
              </a:srgbClr>
            </a:solidFill>
            <a:ln cap="flat" cmpd="sng" w="38100">
              <a:solidFill>
                <a:srgbClr val="2C1E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4" name="Google Shape;494;p24"/>
            <p:cNvSpPr/>
            <p:nvPr/>
          </p:nvSpPr>
          <p:spPr>
            <a:xfrm>
              <a:off x="295275" y="152400"/>
              <a:ext cx="76200" cy="76200"/>
            </a:xfrm>
            <a:prstGeom prst="ellipse">
              <a:avLst/>
            </a:prstGeom>
            <a:solidFill>
              <a:srgbClr val="F9F6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5" name="Google Shape;495;p24"/>
            <p:cNvSpPr/>
            <p:nvPr/>
          </p:nvSpPr>
          <p:spPr>
            <a:xfrm>
              <a:off x="238125" y="-63436"/>
              <a:ext cx="190500" cy="63600"/>
            </a:xfrm>
            <a:custGeom>
              <a:rect b="b" l="l" r="r" t="t"/>
              <a:pathLst>
                <a:path extrusionOk="0" h="120000" w="120000">
                  <a:moveTo>
                    <a:pt x="0" y="120000"/>
                  </a:moveTo>
                  <a:cubicBezTo>
                    <a:pt x="20000" y="0"/>
                    <a:pt x="40000" y="0"/>
                    <a:pt x="60000" y="120000"/>
                  </a:cubicBezTo>
                  <a:lnTo>
                    <a:pt x="120000" y="120000"/>
                  </a:lnTo>
                </a:path>
              </a:pathLst>
            </a:custGeom>
            <a:solidFill>
              <a:srgbClr val="000000">
                <a:alpha val="0"/>
              </a:srgbClr>
            </a:solidFill>
            <a:ln cap="flat" cmpd="sng" w="28575">
              <a:solidFill>
                <a:srgbClr val="D4A37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